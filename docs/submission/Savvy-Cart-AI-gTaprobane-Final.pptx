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 val="0.04"/>
          <c:y val="0.04"/>
          <c:w val="0.9"/>
          <c:h val="0.82"/>
        </c:manualLayout>
      </c:layout>
      <c:barChart>
        <c:barDir val="bar"/>
        <c:grouping val="clustered"/>
        <c:varyColors val="0"/>
        <c:ser>
          <c:idx val="0"/>
          <c:order val="0"/>
          <c:tx>
            <c:v>Shopping cost (LKR)</c:v>
          </c:tx>
          <c:spPr>
            <a:solidFill>
              <a:srgbClr val="0B6E4F"/>
            </a:solidFill>
            <a:ln>
              <a:noFill/>
            </a:ln>
          </c:spPr>
          <c:invertIfNegative val="0"/>
          <c:dPt>
            <c:idx val="0"/>
            <c:invertIfNegative val="1"/>
            <c:bubble3D val="0"/>
            <c:spPr>
              <a:solidFill>
                <a:srgbClr val="D9D9D3"/>
              </a:solidFill>
              <a:ln>
                <a:noFill/>
              </a:ln>
            </c:spPr>
            <c:extLst>
              <c:ext xmlns:c16="http://schemas.microsoft.com/office/drawing/2014/chart" uri="{C3380CC4-5D6E-409C-BE32-E72D297353CC}">
                <c16:uniqueId val="{00000001-376B-4548-8853-FD58B3E2FB43}"/>
              </c:ext>
            </c:extLst>
          </c:dPt>
          <c:dPt>
            <c:idx val="1"/>
            <c:invertIfNegative val="1"/>
            <c:bubble3D val="0"/>
            <c:spPr>
              <a:solidFill>
                <a:srgbClr val="5C5C57"/>
              </a:solidFill>
              <a:ln>
                <a:noFill/>
              </a:ln>
            </c:spPr>
            <c:extLst>
              <c:ext xmlns:c16="http://schemas.microsoft.com/office/drawing/2014/chart" uri="{C3380CC4-5D6E-409C-BE32-E72D297353CC}">
                <c16:uniqueId val="{00000003-376B-4548-8853-FD58B3E2FB43}"/>
              </c:ext>
            </c:extLst>
          </c:dPt>
          <c:dPt>
            <c:idx val="2"/>
            <c:invertIfNegative val="1"/>
            <c:bubble3D val="0"/>
            <c:extLst>
              <c:ext xmlns:c16="http://schemas.microsoft.com/office/drawing/2014/chart" uri="{C3380CC4-5D6E-409C-BE32-E72D297353CC}">
                <c16:uniqueId val="{00000005-376B-4548-8853-FD58B3E2FB43}"/>
              </c:ext>
            </c:extLst>
          </c:dPt>
          <c:dLbls>
            <c:dLbl>
              <c:idx val="0"/>
              <c:numFmt formatCode="&quot;LKR &quot;#,##0" sourceLinked="0"/>
              <c:spPr/>
              <c:txPr>
                <a:bodyPr/>
                <a:lstStyle/>
                <a:p>
                  <a:pPr algn="ctr">
                    <a:defRPr sz="1450">
                      <a:solidFill>
                        <a:srgbClr val="243A2E"/>
                      </a:solidFill>
                      <a:latin typeface="Segoe UI"/>
                    </a:defRPr>
                  </a:pPr>
                  <a:endParaRPr lang="en-US"/>
                </a:p>
              </c:txPr>
              <c:dLblPos val="ctr"/>
              <c:showLegendKey val="0"/>
              <c:showVal val="1"/>
              <c:showCatName val="1"/>
              <c:showSerName val="0"/>
              <c:showPercent val="0"/>
              <c:showBubbleSize val="0"/>
              <c:extLst>
                <c:ext xmlns:c16="http://schemas.microsoft.com/office/drawing/2014/chart" uri="{C3380CC4-5D6E-409C-BE32-E72D297353CC}">
                  <c16:uniqueId val="{00000001-376B-4548-8853-FD58B3E2FB43}"/>
                </c:ext>
              </c:extLst>
            </c:dLbl>
            <c:dLbl>
              <c:idx val="1"/>
              <c:numFmt formatCode="&quot;LKR &quot;#,##0" sourceLinked="0"/>
              <c:spPr/>
              <c:txPr>
                <a:bodyPr/>
                <a:lstStyle/>
                <a:p>
                  <a:pPr algn="ctr">
                    <a:defRPr sz="1450">
                      <a:solidFill>
                        <a:srgbClr val="FFFFFF"/>
                      </a:solidFill>
                      <a:latin typeface="Segoe UI"/>
                    </a:defRPr>
                  </a:pPr>
                  <a:endParaRPr lang="en-US"/>
                </a:p>
              </c:txPr>
              <c:dLblPos val="ctr"/>
              <c:showLegendKey val="0"/>
              <c:showVal val="1"/>
              <c:showCatName val="1"/>
              <c:showSerName val="0"/>
              <c:showPercent val="0"/>
              <c:showBubbleSize val="0"/>
              <c:extLst>
                <c:ext xmlns:c16="http://schemas.microsoft.com/office/drawing/2014/chart" uri="{C3380CC4-5D6E-409C-BE32-E72D297353CC}">
                  <c16:uniqueId val="{00000003-376B-4548-8853-FD58B3E2FB43}"/>
                </c:ext>
              </c:extLst>
            </c:dLbl>
            <c:dLbl>
              <c:idx val="2"/>
              <c:numFmt formatCode="&quot;LKR &quot;#,##0" sourceLinked="0"/>
              <c:spPr/>
              <c:txPr>
                <a:bodyPr/>
                <a:lstStyle/>
                <a:p>
                  <a:pPr algn="ctr">
                    <a:defRPr sz="1450">
                      <a:solidFill>
                        <a:srgbClr val="FFFFFF"/>
                      </a:solidFill>
                      <a:latin typeface="Segoe UI"/>
                    </a:defRPr>
                  </a:pPr>
                  <a:endParaRPr lang="en-US"/>
                </a:p>
              </c:txPr>
              <c:dLblPos val="ctr"/>
              <c:showLegendKey val="0"/>
              <c:showVal val="1"/>
              <c:showCatName val="1"/>
              <c:showSerName val="0"/>
              <c:showPercent val="0"/>
              <c:showBubbleSize val="0"/>
              <c:extLst>
                <c:ext xmlns:c16="http://schemas.microsoft.com/office/drawing/2014/chart" uri="{C3380CC4-5D6E-409C-BE32-E72D297353CC}">
                  <c16:uniqueId val="{00000005-376B-4548-8853-FD58B3E2FB43}"/>
                </c:ext>
              </c:extLst>
            </c:dLbl>
            <c:numFmt formatCode="&quot;LKR &quot;#,##0" sourceLinked="0"/>
            <c:spPr>
              <a:noFill/>
              <a:ln>
                <a:noFill/>
              </a:ln>
              <a:effectLst/>
            </c:spPr>
            <c:txPr>
              <a:bodyPr/>
              <a:lstStyle/>
              <a:p>
                <a:pPr algn="ctr">
                  <a:defRPr sz="1450">
                    <a:solidFill>
                      <a:srgbClr val="243A2E"/>
                    </a:solidFill>
                    <a:latin typeface="Segoe UI"/>
                  </a:defRPr>
                </a:pPr>
                <a:endParaRPr lang="en-US"/>
              </a:p>
            </c:txPr>
            <c:dLblPos val="ctr"/>
            <c:showLegendKey val="0"/>
            <c:showVal val="1"/>
            <c:showCatName val="1"/>
            <c:showSerName val="0"/>
            <c:showPercent val="0"/>
            <c:showBubbleSize val="0"/>
            <c:separator>
</c:separator>
            <c:showLeaderLines val="0"/>
            <c:extLst>
              <c:ext xmlns:c15="http://schemas.microsoft.com/office/drawing/2012/chart" uri="{CE6537A1-D6FC-4f65-9D91-7224C49458BB}">
                <c15:showLeaderLines val="0"/>
              </c:ext>
            </c:extLst>
          </c:dLbls>
          <c:cat>
            <c:strRef>
              <c:f>Sheet1!$A$2:$A$4</c:f>
              <c:strCache>
                <c:ptCount val="3"/>
                <c:pt idx="0">
                  <c:v>Keells shelf</c:v>
                </c:pt>
                <c:pt idx="1">
                  <c:v>Best single store</c:v>
                </c:pt>
                <c:pt idx="2">
                  <c:v>Two-store plan</c:v>
                </c:pt>
              </c:strCache>
            </c:strRef>
          </c:cat>
          <c:val>
            <c:numRef>
              <c:f>Sheet1!$B$2:$B$4</c:f>
              <c:numCache>
                <c:formatCode>#,##0</c:formatCode>
                <c:ptCount val="3"/>
                <c:pt idx="0">
                  <c:v>5932</c:v>
                </c:pt>
                <c:pt idx="1">
                  <c:v>4667</c:v>
                </c:pt>
                <c:pt idx="2">
                  <c:v>4604</c:v>
                </c:pt>
              </c:numCache>
            </c:numRef>
          </c:val>
          <c:extLst>
            <c:ext xmlns:c16="http://schemas.microsoft.com/office/drawing/2014/chart" uri="{C3380CC4-5D6E-409C-BE32-E72D297353CC}">
              <c16:uniqueId val="{00000006-376B-4548-8853-FD58B3E2FB43}"/>
            </c:ext>
          </c:extLst>
        </c:ser>
        <c:dLbls>
          <c:dLblPos val="ctr"/>
          <c:showLegendKey val="0"/>
          <c:showVal val="1"/>
          <c:showCatName val="1"/>
          <c:showSerName val="0"/>
          <c:showPercent val="0"/>
          <c:showBubbleSize val="0"/>
          <c:separator>
</c:separator>
        </c:dLbls>
        <c:gapWidth val="85"/>
        <c:axId val="48650112"/>
        <c:axId val="48672768"/>
      </c:barChart>
      <c:catAx>
        <c:axId val="48650112"/>
        <c:scaling>
          <c:orientation val="maxMin"/>
        </c:scaling>
        <c:delete val="1"/>
        <c:axPos val="l"/>
        <c:numFmt formatCode="General" sourceLinked="0"/>
        <c:majorTickMark val="none"/>
        <c:minorTickMark val="none"/>
        <c:tickLblPos val="none"/>
        <c:crossAx val="48672768"/>
        <c:crosses val="autoZero"/>
        <c:auto val="1"/>
        <c:lblAlgn val="r"/>
        <c:lblOffset val="100"/>
        <c:noMultiLvlLbl val="1"/>
      </c:catAx>
      <c:valAx>
        <c:axId val="48672768"/>
        <c:scaling>
          <c:orientation val="minMax"/>
          <c:max val="6800"/>
          <c:min val="0"/>
        </c:scaling>
        <c:delete val="0"/>
        <c:axPos val="b"/>
        <c:majorGridlines>
          <c:spPr>
            <a:ln w="6350">
              <a:solidFill>
                <a:srgbClr val="E3E8E4"/>
              </a:solidFill>
            </a:ln>
          </c:spPr>
        </c:majorGridlines>
        <c:numFmt formatCode="#,##0" sourceLinked="0"/>
        <c:majorTickMark val="none"/>
        <c:minorTickMark val="none"/>
        <c:tickLblPos val="low"/>
        <c:spPr>
          <a:noFill/>
          <a:ln>
            <a:noFill/>
          </a:ln>
        </c:spPr>
        <c:txPr>
          <a:bodyPr/>
          <a:lstStyle/>
          <a:p>
            <a:pPr>
              <a:defRPr sz="1100">
                <a:solidFill>
                  <a:srgbClr val="243A2E"/>
                </a:solidFill>
                <a:latin typeface="Segoe UI"/>
              </a:defRPr>
            </a:pPr>
            <a:endParaRPr lang="en-US"/>
          </a:p>
        </c:txPr>
        <c:crossAx val="48650112"/>
        <c:crosses val="max"/>
        <c:crossBetween val="between"/>
        <c:majorUnit val="2000"/>
      </c:valAx>
      <c:spPr>
        <a:noFill/>
        <a:ln>
          <a:noFill/>
        </a:ln>
      </c:spPr>
    </c:plotArea>
    <c:plotVisOnly val="1"/>
    <c:dispBlanksAs val="gap"/>
    <c:showDLblsOverMax val="0"/>
  </c:chart>
  <c:spPr>
    <a:noFill/>
    <a:ln>
      <a:noFill/>
    </a:ln>
  </c:spPr>
  <c:txPr>
    <a:bodyPr/>
    <a:lstStyle/>
    <a:p>
      <a:pPr>
        <a:defRPr sz="1350">
          <a:solidFill>
            <a:srgbClr val="243A2E"/>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A98F7F-A112-440B-88A4-61A900297C68}"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270810-1991-4E34-ADEF-3F52EDDEF834}" type="slidenum">
              <a:rPr lang="en-US" smtClean="0"/>
              <a:t>‹#›</a:t>
            </a:fld>
            <a:endParaRPr lang="en-US"/>
          </a:p>
        </p:txBody>
      </p:sp>
    </p:spTree>
    <p:extLst>
      <p:ext uri="{BB962C8B-B14F-4D97-AF65-F5344CB8AC3E}">
        <p14:creationId xmlns:p14="http://schemas.microsoft.com/office/powerpoint/2010/main" val="3864271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Savvy Cart AI helps a Colombo household choose what to buy, when to shop, where to go and which card to use. We submit under Retail &amp; Commerce, with a working local prototype and a Google Cloud deployment path.
Sources: https://aibuildercup.com/themes.html ; README.md. Cover: original AI-generated illustrative artwork, not a record of a real shopping event. Team supplied by the user.</a:t>
            </a:r>
          </a:p>
        </p:txBody>
      </p:sp>
      <p:sp>
        <p:nvSpPr>
          <p:cNvPr id="4" name="Slide Number Placeholder 3"/>
          <p:cNvSpPr>
            <a:spLocks noGrp="1"/>
          </p:cNvSpPr>
          <p:nvPr>
            <p:ph type="sldNum" sz="quarter" idx="5"/>
          </p:nvPr>
        </p:nvSpPr>
        <p:spPr/>
        <p:txBody>
          <a:bodyPr/>
          <a:lstStyle/>
          <a:p>
            <a:fld id="{ED270810-1991-4E34-ADEF-3F52EDDEF834}" type="slidenum">
              <a:rPr lang="en-US" smtClean="0"/>
              <a:t>1</a:t>
            </a:fld>
            <a:endParaRPr lang="en-US"/>
          </a:p>
        </p:txBody>
      </p:sp>
    </p:spTree>
    <p:extLst>
      <p:ext uri="{BB962C8B-B14F-4D97-AF65-F5344CB8AC3E}">
        <p14:creationId xmlns:p14="http://schemas.microsoft.com/office/powerpoint/2010/main" val="166939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household must combine purchase history with store prices and card rules. The same basket can cost differently by day, card and number of stores. Savvy Cart brings those decisions into one reviewable plan.
Sources: README.md; .adlc/specs/SC-014-v2-wallet-pantry-multistore.md; fixtures/v2/offers.json. Persona is fictional. This is a product problem hypothesis, not a quantified market study.</a:t>
            </a:r>
          </a:p>
        </p:txBody>
      </p:sp>
      <p:sp>
        <p:nvSpPr>
          <p:cNvPr id="4" name="Slide Number Placeholder 3"/>
          <p:cNvSpPr>
            <a:spLocks noGrp="1"/>
          </p:cNvSpPr>
          <p:nvPr>
            <p:ph type="sldNum" sz="quarter" idx="5"/>
          </p:nvPr>
        </p:nvSpPr>
        <p:spPr/>
        <p:txBody>
          <a:bodyPr/>
          <a:lstStyle/>
          <a:p>
            <a:fld id="{ED270810-1991-4E34-ADEF-3F52EDDEF834}" type="slidenum">
              <a:rPr lang="en-US" smtClean="0"/>
              <a:t>2</a:t>
            </a:fld>
            <a:endParaRPr lang="en-US"/>
          </a:p>
        </p:txBody>
      </p:sp>
    </p:spTree>
    <p:extLst>
      <p:ext uri="{BB962C8B-B14F-4D97-AF65-F5344CB8AC3E}">
        <p14:creationId xmlns:p14="http://schemas.microsoft.com/office/powerpoint/2010/main" val="1489361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began with 26 de-identified bills from one shopper, spread over 21 dates. That gives us real receipt formats and item promotions. We label the additional fictional history and sample prices, and we do not claim measured household savings.
Sources: samples/purchase-history.json; samples/receipts/keells-2026-10-17-redacted.jpg; fixtures/v2/history-fictional.json. Four dates contain multiple receipts, which alone does not establish separate store visits. The receipt photograph is original supplied project evidence.</a:t>
            </a:r>
          </a:p>
        </p:txBody>
      </p:sp>
      <p:sp>
        <p:nvSpPr>
          <p:cNvPr id="4" name="Slide Number Placeholder 3"/>
          <p:cNvSpPr>
            <a:spLocks noGrp="1"/>
          </p:cNvSpPr>
          <p:nvPr>
            <p:ph type="sldNum" sz="quarter" idx="5"/>
          </p:nvPr>
        </p:nvSpPr>
        <p:spPr/>
        <p:txBody>
          <a:bodyPr/>
          <a:lstStyle/>
          <a:p>
            <a:fld id="{ED270810-1991-4E34-ADEF-3F52EDDEF834}" type="slidenum">
              <a:rPr lang="en-US" smtClean="0"/>
              <a:t>3</a:t>
            </a:fld>
            <a:endParaRPr lang="en-US"/>
          </a:p>
        </p:txBody>
      </p:sp>
    </p:spTree>
    <p:extLst>
      <p:ext uri="{BB962C8B-B14F-4D97-AF65-F5344CB8AC3E}">
        <p14:creationId xmlns:p14="http://schemas.microsoft.com/office/powerpoint/2010/main" val="1330449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guest journey starts with the household's estimated needs and ends with its own decision. Offer Reality Check is available as an optional branch. Every figure remains inspectable, and the prototype sends no orders.
Sources: src/savvycart/http.py; .adlc/specs/SC-023-offer-reality-check.md; .adlc/specs/SC-027-v24-ux-hierarchy-profile.md; .adlc/specs/SC-030-v25-ui-polish.md. The diagram describes implemented screens and is not a screenshot.</a:t>
            </a:r>
          </a:p>
        </p:txBody>
      </p:sp>
      <p:sp>
        <p:nvSpPr>
          <p:cNvPr id="4" name="Slide Number Placeholder 3"/>
          <p:cNvSpPr>
            <a:spLocks noGrp="1"/>
          </p:cNvSpPr>
          <p:nvPr>
            <p:ph type="sldNum" sz="quarter" idx="5"/>
          </p:nvPr>
        </p:nvSpPr>
        <p:spPr/>
        <p:txBody>
          <a:bodyPr/>
          <a:lstStyle/>
          <a:p>
            <a:fld id="{ED270810-1991-4E34-ADEF-3F52EDDEF834}" type="slidenum">
              <a:rPr lang="en-US" smtClean="0"/>
              <a:t>4</a:t>
            </a:fld>
            <a:endParaRPr lang="en-US"/>
          </a:p>
        </p:txBody>
      </p:sp>
    </p:spTree>
    <p:extLst>
      <p:ext uri="{BB962C8B-B14F-4D97-AF65-F5344CB8AC3E}">
        <p14:creationId xmlns:p14="http://schemas.microsoft.com/office/powerpoint/2010/main" val="762575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ten-percent headline suggests 593 rupees on the default sample basket. Published Seylan terms require an 8,000-rupee minimum. The modeled bill is 2,475 short, so the card payout is zero. The page shows the conditions behind that result.
Primary source, rechecked 18 October 2026: https://www.seylan.lk/promotions/cards/supermarket/keells . Model source: fixtures/v2/offer-sample-seylan.json; src/savvycart/offercheck.py; tests/test_v22_page.py. Basket shelf total 5,932, promoted bill 5,525, minimum 8,000. Only 3 of 4 UHT milk units count; six store-promotion lines do not combine. Milk powder and dhal are NOT in this default basket and do not cause the zero. Cardholder eligibility and channel restrictions still apply. Values are modeled on sample prices, not a bank quote.</a:t>
            </a:r>
          </a:p>
        </p:txBody>
      </p:sp>
      <p:sp>
        <p:nvSpPr>
          <p:cNvPr id="4" name="Slide Number Placeholder 3"/>
          <p:cNvSpPr>
            <a:spLocks noGrp="1"/>
          </p:cNvSpPr>
          <p:nvPr>
            <p:ph type="sldNum" sz="quarter" idx="5"/>
          </p:nvPr>
        </p:nvSpPr>
        <p:spPr/>
        <p:txBody>
          <a:bodyPr/>
          <a:lstStyle/>
          <a:p>
            <a:fld id="{ED270810-1991-4E34-ADEF-3F52EDDEF834}" type="slidenum">
              <a:rPr lang="en-US" smtClean="0"/>
              <a:t>5</a:t>
            </a:fld>
            <a:endParaRPr lang="en-US"/>
          </a:p>
        </p:txBody>
      </p:sp>
    </p:spTree>
    <p:extLst>
      <p:ext uri="{BB962C8B-B14F-4D97-AF65-F5344CB8AC3E}">
        <p14:creationId xmlns:p14="http://schemas.microsoft.com/office/powerpoint/2010/main" val="149188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default two-store plan costs 4,604 rupees including travel. Its advantage over the best single store is just 63 rupees. Raise the extra-trip cost to 320, and one store wins. This demonstrates the decision logic on labeled sample data.
Sources: README.md; src/savvycart/planner.py; fixtures/v2/catalog.json; fixtures/v2/offers.json; tests/test_v25_page.py. Fresh default planning date 22 Oct, recommended Friday 23 Oct. Keells bill 1,294 plus Cargills bill 3,060 plus extra trip 250 = 4,604. Shelf baseline 5,932. Best single store Cargills 4,667. Six published default card headlines have assumed terms, HNB and all store promotions are fictional. No claim of realized household savings. Native chart workbook retains all three values.</a:t>
            </a:r>
          </a:p>
        </p:txBody>
      </p:sp>
      <p:sp>
        <p:nvSpPr>
          <p:cNvPr id="4" name="Slide Number Placeholder 3"/>
          <p:cNvSpPr>
            <a:spLocks noGrp="1"/>
          </p:cNvSpPr>
          <p:nvPr>
            <p:ph type="sldNum" sz="quarter" idx="5"/>
          </p:nvPr>
        </p:nvSpPr>
        <p:spPr/>
        <p:txBody>
          <a:bodyPr/>
          <a:lstStyle/>
          <a:p>
            <a:fld id="{ED270810-1991-4E34-ADEF-3F52EDDEF834}" type="slidenum">
              <a:rPr lang="en-US" smtClean="0"/>
              <a:t>6</a:t>
            </a:fld>
            <a:endParaRPr lang="en-US"/>
          </a:p>
        </p:txBody>
      </p:sp>
    </p:spTree>
    <p:extLst>
      <p:ext uri="{BB962C8B-B14F-4D97-AF65-F5344CB8AC3E}">
        <p14:creationId xmlns:p14="http://schemas.microsoft.com/office/powerpoint/2010/main" val="674074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Gemini reads receipts and bank offers, and turns shopper questions into tool calls. Structured fields remain reviewable. The pantry and exact optimizer compute dates and money, so the model does not supply a shelf price or calculate the basket total.
Sources: src/savvycart/gemini.py; src/savvycart/offercheck.py; src/savvycart/agent.py; src/savvycart/pantry.py; src/savvycart/planner.py. The initial offer preview computes immediately; the app does not require a separate confirmation click before the first calculation. The shopper can correct and recheck terms. Tests use fake or scripted model outputs.</a:t>
            </a:r>
          </a:p>
        </p:txBody>
      </p:sp>
      <p:sp>
        <p:nvSpPr>
          <p:cNvPr id="4" name="Slide Number Placeholder 3"/>
          <p:cNvSpPr>
            <a:spLocks noGrp="1"/>
          </p:cNvSpPr>
          <p:nvPr>
            <p:ph type="sldNum" sz="quarter" idx="5"/>
          </p:nvPr>
        </p:nvSpPr>
        <p:spPr/>
        <p:txBody>
          <a:bodyPr/>
          <a:lstStyle/>
          <a:p>
            <a:fld id="{ED270810-1991-4E34-ADEF-3F52EDDEF834}" type="slidenum">
              <a:rPr lang="en-US" smtClean="0"/>
              <a:t>7</a:t>
            </a:fld>
            <a:endParaRPr lang="en-US"/>
          </a:p>
        </p:txBody>
      </p:sp>
    </p:spTree>
    <p:extLst>
      <p:ext uri="{BB962C8B-B14F-4D97-AF65-F5344CB8AC3E}">
        <p14:creationId xmlns:p14="http://schemas.microsoft.com/office/powerpoint/2010/main" val="3339892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Cloud Run hosts the guest interface, ADK agent and deterministic engines in one container. Gemini is a managed API. The runtime service account authenticates calls, while Secret Manager supplies model configuration. The service is deployed and live on Cloud Run.</a:t>
            </a:r>
          </a:p>
          <a:p/>
          <a:p>
            <a:r>
              <a:t>Sources: Dockerfile; docs/deploy.md; src/savvycart/http.py; src/savvycart/agent.py. Configured Cloud Run region asia-southeast1; Gemini model location global; min instances 0, max instances 3, timeout 120 seconds. There is no deployed database, Cloud Storage dependency, separate Agent Engine service or live partner feed in this prototype. Default deployment uses ADC, not a committed API key. This diagram describes the deployed architecture, serving at a public Cloud Run URL.</a:t>
            </a:r>
          </a:p>
        </p:txBody>
      </p:sp>
      <p:sp>
        <p:nvSpPr>
          <p:cNvPr id="4" name="Slide Number Placeholder 3"/>
          <p:cNvSpPr>
            <a:spLocks noGrp="1"/>
          </p:cNvSpPr>
          <p:nvPr>
            <p:ph type="sldNum" sz="quarter" idx="5"/>
          </p:nvPr>
        </p:nvSpPr>
        <p:spPr/>
        <p:txBody>
          <a:bodyPr/>
          <a:lstStyle/>
          <a:p>
            <a:fld id="{ED270810-1991-4E34-ADEF-3F52EDDEF834}" type="slidenum">
              <a:rPr lang="en-US" smtClean="0"/>
              <a:t>8</a:t>
            </a:fld>
            <a:endParaRPr lang="en-US"/>
          </a:p>
        </p:txBody>
      </p:sp>
    </p:spTree>
    <p:extLst>
      <p:ext uri="{BB962C8B-B14F-4D97-AF65-F5344CB8AC3E}">
        <p14:creationId xmlns:p14="http://schemas.microsoft.com/office/powerpoint/2010/main" val="3500839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fresh local run passes 120 tests. They cover deterministic pricing and integration contracts, including scripted ADK behavior. Users can inspect tool calls and compare results. Guardrails reduce known failures, but they do not guarantee semantic correctness of every answer.</a:t>
            </a:r>
          </a:p>
          <a:p/>
          <a:p>
            <a:r>
              <a:t>Sources: python -m pytest -q, observed 18 Oct 2026, 120 passed; tests/test_guardrails.py; tests/test_offer_check.py; tests/test_planner_promotions.py; src/savvycart/guardrails.py. Tests intentionally remove live model credentials. Receipt images are processed in memory and are not persisted to storage or logs. No durable receipt database exists.</a:t>
            </a:r>
          </a:p>
        </p:txBody>
      </p:sp>
      <p:sp>
        <p:nvSpPr>
          <p:cNvPr id="4" name="Slide Number Placeholder 3"/>
          <p:cNvSpPr>
            <a:spLocks noGrp="1"/>
          </p:cNvSpPr>
          <p:nvPr>
            <p:ph type="sldNum" sz="quarter" idx="5"/>
          </p:nvPr>
        </p:nvSpPr>
        <p:spPr/>
        <p:txBody>
          <a:bodyPr/>
          <a:lstStyle/>
          <a:p>
            <a:fld id="{ED270810-1991-4E34-ADEF-3F52EDDEF834}" type="slidenum">
              <a:rPr lang="en-US" smtClean="0"/>
              <a:t>9</a:t>
            </a:fld>
            <a:endParaRPr lang="en-US"/>
          </a:p>
        </p:txBody>
      </p:sp>
    </p:spTree>
    <p:extLst>
      <p:ext uri="{BB962C8B-B14F-4D97-AF65-F5344CB8AC3E}">
        <p14:creationId xmlns:p14="http://schemas.microsoft.com/office/powerpoint/2010/main" val="1430195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business step is a free household pilot. We will measure repeat use and compare planned costs with purchases. Issuer or retailer distribution and consented referrals are hypotheses to test, dependent on trustworthy data access and disclosed commercial terms.</a:t>
            </a:r>
          </a:p>
          <a:p/>
          <a:p>
            <a:r>
              <a:t>Sources: README.md, prototype limits and business-model notes. This slide proposes a business model and validation plan. No partner, pricing, revenue, conversion, market-size or savings-adoption claim is established by the repository.</a:t>
            </a:r>
          </a:p>
        </p:txBody>
      </p:sp>
      <p:sp>
        <p:nvSpPr>
          <p:cNvPr id="4" name="Slide Number Placeholder 3"/>
          <p:cNvSpPr>
            <a:spLocks noGrp="1"/>
          </p:cNvSpPr>
          <p:nvPr>
            <p:ph type="sldNum" sz="quarter" idx="5"/>
          </p:nvPr>
        </p:nvSpPr>
        <p:spPr/>
        <p:txBody>
          <a:bodyPr/>
          <a:lstStyle/>
          <a:p>
            <a:fld id="{ED270810-1991-4E34-ADEF-3F52EDDEF834}" type="slidenum">
              <a:rPr lang="en-US" smtClean="0"/>
              <a:t>10</a:t>
            </a:fld>
            <a:endParaRPr lang="en-US"/>
          </a:p>
        </p:txBody>
      </p:sp>
    </p:spTree>
    <p:extLst>
      <p:ext uri="{BB962C8B-B14F-4D97-AF65-F5344CB8AC3E}">
        <p14:creationId xmlns:p14="http://schemas.microsoft.com/office/powerpoint/2010/main" val="3361696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start with a Colombo household workflow. A pilot should establish extraction quality and real purchase outcomes. Authorized price and offer feeds are the next scaling dependency. The catalog adapters and rule engine can then extend to another market with local currency and eligibility rules.</a:t>
            </a:r>
          </a:p>
          <a:p/>
          <a:p>
            <a:r>
              <a:t>Sources: README.md; src/savvycart/planner.py; fixtures/v2. Roadmap only. Household persistence, partner-feed operations, broader eligibility matching and multi-market support require further implementation. Current fixtures cover 17 SKUs and four store chains.</a:t>
            </a:r>
          </a:p>
        </p:txBody>
      </p:sp>
      <p:sp>
        <p:nvSpPr>
          <p:cNvPr id="4" name="Slide Number Placeholder 3"/>
          <p:cNvSpPr>
            <a:spLocks noGrp="1"/>
          </p:cNvSpPr>
          <p:nvPr>
            <p:ph type="sldNum" sz="quarter" idx="5"/>
          </p:nvPr>
        </p:nvSpPr>
        <p:spPr/>
        <p:txBody>
          <a:bodyPr/>
          <a:lstStyle/>
          <a:p>
            <a:fld id="{ED270810-1991-4E34-ADEF-3F52EDDEF834}" type="slidenum">
              <a:rPr lang="en-US" smtClean="0"/>
              <a:t>11</a:t>
            </a:fld>
            <a:endParaRPr lang="en-US"/>
          </a:p>
        </p:txBody>
      </p:sp>
    </p:spTree>
    <p:extLst>
      <p:ext uri="{BB962C8B-B14F-4D97-AF65-F5344CB8AC3E}">
        <p14:creationId xmlns:p14="http://schemas.microsoft.com/office/powerpoint/2010/main" val="577233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appendix distinguishes the built prototype from future work. The demo video must be finalized and uploaded before submission; the public repository is live. Realized savings, broad user adoption and live partner integrations have not been demonstrated.</a:t>
            </a:r>
          </a:p>
          <a:p/>
          <a:p>
            <a:r>
              <a:t>Official requirements: https://aibuildercup.com/Faqs.html and https://aibuildercup.com/themes.html . FAQ calls for a deployed prototype link, public GitHub repository, detailed deck, and a video under three minutes. Theme page calls for a PDF deck. The theme page contains inconsistent legacy category wording; Retail &amp; Commerce is one of its six explicit themes. The service is deployed and live on Cloud Run.</a:t>
            </a:r>
          </a:p>
        </p:txBody>
      </p:sp>
      <p:sp>
        <p:nvSpPr>
          <p:cNvPr id="4" name="Slide Number Placeholder 3"/>
          <p:cNvSpPr>
            <a:spLocks noGrp="1"/>
          </p:cNvSpPr>
          <p:nvPr>
            <p:ph type="sldNum" sz="quarter" idx="5"/>
          </p:nvPr>
        </p:nvSpPr>
        <p:spPr/>
        <p:txBody>
          <a:bodyPr/>
          <a:lstStyle/>
          <a:p>
            <a:fld id="{ED270810-1991-4E34-ADEF-3F52EDDEF834}" type="slidenum">
              <a:rPr lang="en-US" smtClean="0"/>
              <a:t>12</a:t>
            </a:fld>
            <a:endParaRPr lang="en-US"/>
          </a:p>
        </p:txBody>
      </p:sp>
    </p:spTree>
    <p:extLst>
      <p:ext uri="{BB962C8B-B14F-4D97-AF65-F5344CB8AC3E}">
        <p14:creationId xmlns:p14="http://schemas.microsoft.com/office/powerpoint/2010/main" val="2724778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https://aibuildercup.com/themes.html</a:t>
            </a:r>
          </a:p>
          <a:p>
            <a:r>
              <a:t>https://aibuildercup.com/Faqs.html</a:t>
            </a:r>
          </a:p>
          <a:p>
            <a:r>
              <a:t>https://aibuildercup.com/</a:t>
            </a:r>
          </a:p>
          <a:p>
            <a:r>
              <a:t>https://www.seylan.lk/promotions/cards/supermarket/keells</a:t>
            </a:r>
          </a:p>
          <a:p>
            <a:r>
              <a:t>https://github.com/nyogendran/savvy-cart-ai (public repository)</a:t>
            </a:r>
          </a:p>
          <a:p/>
          <a:p>
            <a:r>
              <a:t>Repository evidence: README.md; pyproject.toml; Dockerfile; docs/deploy.md; src/savvycart/gemini.py; agent.py; guardrails.py; planner.py; offercheck.py; pantry.py; http.py; fixtures/v2/catalog.json; offers.json; history-fictional.json; offer-sample-seylan.json; samples/purchase-history.json; tests/test_v25_page.py; tests/test_offer_check.py; tests/test_guardrails.py. Artwork: original generated illustration saved at .pitch-build/assets/cover-illustration.png.</a:t>
            </a:r>
          </a:p>
        </p:txBody>
      </p:sp>
      <p:sp>
        <p:nvSpPr>
          <p:cNvPr id="4" name="Slide Number Placeholder 3"/>
          <p:cNvSpPr>
            <a:spLocks noGrp="1"/>
          </p:cNvSpPr>
          <p:nvPr>
            <p:ph type="sldNum" sz="quarter" idx="5"/>
          </p:nvPr>
        </p:nvSpPr>
        <p:spPr/>
        <p:txBody>
          <a:bodyPr/>
          <a:lstStyle/>
          <a:p>
            <a:fld id="{ED270810-1991-4E34-ADEF-3F52EDDEF834}" type="slidenum">
              <a:rPr lang="en-US" smtClean="0"/>
              <a:t>13</a:t>
            </a:fld>
            <a:endParaRPr lang="en-US"/>
          </a:p>
        </p:txBody>
      </p:sp>
    </p:spTree>
    <p:extLst>
      <p:ext uri="{BB962C8B-B14F-4D97-AF65-F5344CB8AC3E}">
        <p14:creationId xmlns:p14="http://schemas.microsoft.com/office/powerpoint/2010/main" val="1104594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9456F-D8E9-FDE0-5B6A-70562DB037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EAAE81-558A-6521-6DCB-C56DCFA0E7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C56939-B1DD-6CCA-070D-E499C80AA561}"/>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5" name="Footer Placeholder 4">
            <a:extLst>
              <a:ext uri="{FF2B5EF4-FFF2-40B4-BE49-F238E27FC236}">
                <a16:creationId xmlns:a16="http://schemas.microsoft.com/office/drawing/2014/main" id="{2755D9DE-1118-3488-A5CA-8394AE786F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CFBD3D-11E3-4751-4D07-A743FEA094EC}"/>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793333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A39A-59AE-639C-68D5-5C19E8E801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F17423-2355-9E63-857B-5661641988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CB4BB-D385-FA2E-8A79-D15D4A092709}"/>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5" name="Footer Placeholder 4">
            <a:extLst>
              <a:ext uri="{FF2B5EF4-FFF2-40B4-BE49-F238E27FC236}">
                <a16:creationId xmlns:a16="http://schemas.microsoft.com/office/drawing/2014/main" id="{D4E34B3E-3AEB-90E3-2A8C-023AA39E24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6C42CD-BF40-6224-3332-2A05F23A4EC7}"/>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2138482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98D17-7F1E-EDA5-355A-574B54EB3C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5F3585-68A5-3AC1-D59A-77E814922B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309187-69B6-4F52-0C80-E209B734A421}"/>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5" name="Footer Placeholder 4">
            <a:extLst>
              <a:ext uri="{FF2B5EF4-FFF2-40B4-BE49-F238E27FC236}">
                <a16:creationId xmlns:a16="http://schemas.microsoft.com/office/drawing/2014/main" id="{F1D1BF95-FAFE-5E5A-B68D-FBBCB1B869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9751C8-29FA-4AE1-2F5C-AA30B7F39638}"/>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1485679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9BE7-AFEF-BCBE-69B3-E5331B494C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BD9A4D-489C-0D18-53E8-216D1CD830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135198-201A-F7CA-778A-60A8590A4C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B78F25-F9E9-7220-0F60-25FA55F79F57}"/>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6" name="Footer Placeholder 5">
            <a:extLst>
              <a:ext uri="{FF2B5EF4-FFF2-40B4-BE49-F238E27FC236}">
                <a16:creationId xmlns:a16="http://schemas.microsoft.com/office/drawing/2014/main" id="{7AF911E9-1889-6C50-F2B6-04E4648BB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5F79C1-1E07-4ADB-054C-E2879EA68363}"/>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3334451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BC90-B84A-9692-24DE-3EFBCD22BF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FA887D-C8C1-10D2-862C-C8296A1685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3C380-C9DE-D21E-782C-A3A8940B53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3E5419-7CE8-62B0-848E-07DC8A99F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DA461F-CFDA-7E64-2761-1005663A28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A1DE37-760F-5A05-E5CB-CDEFA0EBF75C}"/>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8" name="Footer Placeholder 7">
            <a:extLst>
              <a:ext uri="{FF2B5EF4-FFF2-40B4-BE49-F238E27FC236}">
                <a16:creationId xmlns:a16="http://schemas.microsoft.com/office/drawing/2014/main" id="{002662A0-01D5-B772-7CB6-9FF9A4590C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F9E052-735F-CEE9-0E33-273B60555DCB}"/>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3654406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C4FC7-6B73-ED7D-9F4A-96B810FBEA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2E650A-F70B-7635-B731-261A94C108D9}"/>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4" name="Footer Placeholder 3">
            <a:extLst>
              <a:ext uri="{FF2B5EF4-FFF2-40B4-BE49-F238E27FC236}">
                <a16:creationId xmlns:a16="http://schemas.microsoft.com/office/drawing/2014/main" id="{B02A8305-F534-0FB9-3F3E-D3478E737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E3E4F7-06DD-E443-E93C-4CCD0795097D}"/>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198506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955B50-DD84-F1F5-9666-9DD1BB0D53B4}"/>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3" name="Footer Placeholder 2">
            <a:extLst>
              <a:ext uri="{FF2B5EF4-FFF2-40B4-BE49-F238E27FC236}">
                <a16:creationId xmlns:a16="http://schemas.microsoft.com/office/drawing/2014/main" id="{FBF7C695-C84C-3534-86DE-D2DBFBF5D4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B5428E-DD9F-6063-502A-4B8CD7B1F743}"/>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4121937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5415-F448-864E-FF5D-4E072B103A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59D391-A02E-5969-1F58-7F9D48F3F3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AF7494-C978-1228-F99A-588687D15C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BF26B9-FCE9-0B63-DC7C-56A6391560E9}"/>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6" name="Footer Placeholder 5">
            <a:extLst>
              <a:ext uri="{FF2B5EF4-FFF2-40B4-BE49-F238E27FC236}">
                <a16:creationId xmlns:a16="http://schemas.microsoft.com/office/drawing/2014/main" id="{1328B962-4EB7-B85E-405D-FF5986F34F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9373AF-A2F1-2210-EFD2-D4445B22BF0B}"/>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2245877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DB16-96D4-FC0E-DA18-C2067D6A91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AA516F-CC4F-B7AA-880D-382F29A76BD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4434FD-D641-EC09-F080-35ABC8E5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85828E-FCF6-8BA5-403C-FD759F0A6446}"/>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6" name="Footer Placeholder 5">
            <a:extLst>
              <a:ext uri="{FF2B5EF4-FFF2-40B4-BE49-F238E27FC236}">
                <a16:creationId xmlns:a16="http://schemas.microsoft.com/office/drawing/2014/main" id="{6FE32518-A001-E3FE-694F-8539B7CC49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8066E8-7AC5-F98C-05C4-0F7415E40995}"/>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3033918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1EC9-9534-B009-569B-DA1ED21FF1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974A41-73E1-97BF-774E-22E84A9AF0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58D3D-4F59-D03F-CB08-37901D593E51}"/>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5" name="Footer Placeholder 4">
            <a:extLst>
              <a:ext uri="{FF2B5EF4-FFF2-40B4-BE49-F238E27FC236}">
                <a16:creationId xmlns:a16="http://schemas.microsoft.com/office/drawing/2014/main" id="{EF7192C4-0018-2DEC-57A8-CF270B306D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7E643A-4750-19FA-7E45-4195A965A8F1}"/>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1989518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24524F-5C63-403B-072E-AAC7CA1E09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8D2471-F522-61A7-FA81-A513D09322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EAE6B3-5630-AFFD-CC98-67185B9AFECB}"/>
              </a:ext>
            </a:extLst>
          </p:cNvPr>
          <p:cNvSpPr>
            <a:spLocks noGrp="1"/>
          </p:cNvSpPr>
          <p:nvPr>
            <p:ph type="dt" sz="half" idx="10"/>
          </p:nvPr>
        </p:nvSpPr>
        <p:spPr/>
        <p:txBody>
          <a:bodyPr/>
          <a:lstStyle/>
          <a:p>
            <a:fld id="{A89890A3-A49F-4156-BA3A-C3799E9CEC7C}" type="datetimeFigureOut">
              <a:rPr lang="en-US" smtClean="0"/>
              <a:t>10/18/2026</a:t>
            </a:fld>
            <a:endParaRPr lang="en-US"/>
          </a:p>
        </p:txBody>
      </p:sp>
      <p:sp>
        <p:nvSpPr>
          <p:cNvPr id="5" name="Footer Placeholder 4">
            <a:extLst>
              <a:ext uri="{FF2B5EF4-FFF2-40B4-BE49-F238E27FC236}">
                <a16:creationId xmlns:a16="http://schemas.microsoft.com/office/drawing/2014/main" id="{4D20497C-6A42-3A8E-304F-38D0EAD0D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AD54FE-EB40-67DA-0BEF-59EF7EC75157}"/>
              </a:ext>
            </a:extLst>
          </p:cNvPr>
          <p:cNvSpPr>
            <a:spLocks noGrp="1"/>
          </p:cNvSpPr>
          <p:nvPr>
            <p:ph type="sldNum" sz="quarter" idx="12"/>
          </p:nvPr>
        </p:nvSpPr>
        <p:spPr/>
        <p:txBody>
          <a:bodyPr/>
          <a:lstStyle/>
          <a:p>
            <a:fld id="{5B7EF785-746F-4F9B-AA7F-1B7A5D5497E5}" type="slidenum">
              <a:rPr lang="en-US" smtClean="0"/>
              <a:t>‹#›</a:t>
            </a:fld>
            <a:endParaRPr lang="en-US"/>
          </a:p>
        </p:txBody>
      </p:sp>
    </p:spTree>
    <p:extLst>
      <p:ext uri="{BB962C8B-B14F-4D97-AF65-F5344CB8AC3E}">
        <p14:creationId xmlns:p14="http://schemas.microsoft.com/office/powerpoint/2010/main" val="246395334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374300-83A3-BA09-142D-4484B5DEA1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5E71F1-DFDA-278F-ABA5-46419B769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C4F595-C34F-D507-27AE-7A71CE18C0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9890A3-A49F-4156-BA3A-C3799E9CEC7C}" type="datetimeFigureOut">
              <a:rPr lang="en-US" smtClean="0"/>
              <a:t>10/18/2026</a:t>
            </a:fld>
            <a:endParaRPr lang="en-US"/>
          </a:p>
        </p:txBody>
      </p:sp>
      <p:sp>
        <p:nvSpPr>
          <p:cNvPr id="5" name="Footer Placeholder 4">
            <a:extLst>
              <a:ext uri="{FF2B5EF4-FFF2-40B4-BE49-F238E27FC236}">
                <a16:creationId xmlns:a16="http://schemas.microsoft.com/office/drawing/2014/main" id="{C79B70E8-691B-A0E6-EE6F-3FF872D8B8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157C7C-BF46-7422-7165-F0A4DDAE3F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7EF785-746F-4F9B-AA7F-1B7A5D5497E5}" type="slidenum">
              <a:rPr lang="en-US" smtClean="0"/>
              <a:t>‹#›</a:t>
            </a:fld>
            <a:endParaRPr lang="en-US"/>
          </a:p>
        </p:txBody>
      </p:sp>
    </p:spTree>
    <p:extLst>
      <p:ext uri="{BB962C8B-B14F-4D97-AF65-F5344CB8AC3E}">
        <p14:creationId xmlns:p14="http://schemas.microsoft.com/office/powerpoint/2010/main" val="4183554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ibuildercup.com/themes.html" TargetMode="External"/><Relationship Id="rId4" Type="http://schemas.openxmlformats.org/officeDocument/2006/relationships/hyperlink" Target="https://aibuildercup.com/Faqs.html" TargetMode="External"/><Relationship Id="rId5" Type="http://schemas.openxmlformats.org/officeDocument/2006/relationships/hyperlink" Target="https://www.seylan.lk/promotions/cards/supermarket/keells" TargetMode="External"/><Relationship Id="rId6" Type="http://schemas.openxmlformats.org/officeDocument/2006/relationships/hyperlink" Target="https://github.com/nyogendran/savvy-cart-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pic>
        <p:nvPicPr>
          <p:cNvPr id="3" name="Picture 2" descr="Illustration of groceries, blank cards, a phone and a receipt. This is illustrative artwork.">
            <a:extLst>
              <a:ext uri="{FF2B5EF4-FFF2-40B4-BE49-F238E27FC236}">
                <a16:creationId xmlns:a16="http://schemas.microsoft.com/office/drawing/2014/main" id="{2A6BE346-D052-3B04-5C4D-A5863CE8E6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ompetition theme">
            <a:extLst>
              <a:ext uri="{FF2B5EF4-FFF2-40B4-BE49-F238E27FC236}">
                <a16:creationId xmlns:a16="http://schemas.microsoft.com/office/drawing/2014/main" id="{1259F43C-0B12-47A2-DCF6-FE9D90E1C072}"/>
              </a:ext>
            </a:extLst>
          </p:cNvPr>
          <p:cNvSpPr txBox="1"/>
          <p:nvPr/>
        </p:nvSpPr>
        <p:spPr>
          <a:xfrm>
            <a:off x="609600" y="584199"/>
            <a:ext cx="5080000" cy="330200"/>
          </a:xfrm>
          <a:prstGeom prst="rect">
            <a:avLst/>
          </a:prstGeom>
          <a:noFill/>
        </p:spPr>
        <p:txBody>
          <a:bodyPr vert="horz" wrap="square" lIns="0" tIns="0" rIns="0" bIns="0" rtlCol="0">
            <a:noAutofit/>
          </a:bodyPr>
          <a:lstStyle/>
          <a:p>
            <a:r>
              <a:rPr lang="en-US" sz="1300" b="1">
                <a:solidFill>
                  <a:srgbClr val="0B6E4F"/>
                </a:solidFill>
                <a:latin typeface="Segoe UI" panose="020B0502040204020203" pitchFamily="34" charset="0"/>
              </a:rPr>
              <a:t>AI BUILDER CUP 2026</a:t>
            </a:r>
          </a:p>
        </p:txBody>
      </p:sp>
      <p:sp>
        <p:nvSpPr>
          <p:cNvPr id="5" name="Product name">
            <a:extLst>
              <a:ext uri="{FF2B5EF4-FFF2-40B4-BE49-F238E27FC236}">
                <a16:creationId xmlns:a16="http://schemas.microsoft.com/office/drawing/2014/main" id="{C33E5D48-2EA7-71A6-71DE-18129164EE3A}"/>
              </a:ext>
            </a:extLst>
          </p:cNvPr>
          <p:cNvSpPr txBox="1"/>
          <p:nvPr/>
        </p:nvSpPr>
        <p:spPr>
          <a:xfrm>
            <a:off x="609600" y="1435099"/>
            <a:ext cx="5397500" cy="1778000"/>
          </a:xfrm>
          <a:prstGeom prst="rect">
            <a:avLst/>
          </a:prstGeom>
          <a:noFill/>
        </p:spPr>
        <p:txBody>
          <a:bodyPr vert="horz" wrap="square" lIns="0" tIns="0" rIns="0" bIns="0" rtlCol="0">
            <a:noAutofit/>
          </a:bodyPr>
          <a:lstStyle/>
          <a:p>
            <a:r>
              <a:rPr lang="en-US" sz="5500" b="1">
                <a:solidFill>
                  <a:srgbClr val="0B6E4F"/>
                </a:solidFill>
                <a:latin typeface="Segoe UI" panose="020B0502040204020203" pitchFamily="34" charset="0"/>
              </a:rPr>
              <a:t>Savvy Cart
AI</a:t>
            </a:r>
          </a:p>
        </p:txBody>
      </p:sp>
      <p:sp>
        <p:nvSpPr>
          <p:cNvPr id="6" name="Product proposition">
            <a:extLst>
              <a:ext uri="{FF2B5EF4-FFF2-40B4-BE49-F238E27FC236}">
                <a16:creationId xmlns:a16="http://schemas.microsoft.com/office/drawing/2014/main" id="{137AE4A9-B8D6-601F-A6E9-2BEA725F7912}"/>
              </a:ext>
            </a:extLst>
          </p:cNvPr>
          <p:cNvSpPr txBox="1"/>
          <p:nvPr/>
        </p:nvSpPr>
        <p:spPr>
          <a:xfrm>
            <a:off x="609600" y="3543299"/>
            <a:ext cx="5207000" cy="1168400"/>
          </a:xfrm>
          <a:prstGeom prst="rect">
            <a:avLst/>
          </a:prstGeom>
          <a:noFill/>
        </p:spPr>
        <p:txBody>
          <a:bodyPr vert="horz" wrap="square" lIns="0" tIns="0" rIns="0" bIns="0" rtlCol="0">
            <a:noAutofit/>
          </a:bodyPr>
          <a:lstStyle/>
          <a:p>
            <a:r>
              <a:rPr lang="en-US" sz="2400">
                <a:solidFill>
                  <a:srgbClr val="1D1D1B"/>
                </a:solidFill>
                <a:latin typeface="Segoe UI" panose="020B0502040204020203" pitchFamily="34" charset="0"/>
              </a:rPr>
              <a:t>A grocery plan that accounts for
your cards and every extra trip.</a:t>
            </a:r>
          </a:p>
        </p:txBody>
      </p:sp>
      <p:sp>
        <p:nvSpPr>
          <p:cNvPr id="7" name="Theme">
            <a:extLst>
              <a:ext uri="{FF2B5EF4-FFF2-40B4-BE49-F238E27FC236}">
                <a16:creationId xmlns:a16="http://schemas.microsoft.com/office/drawing/2014/main" id="{9962021A-F5E1-7BAC-CDC8-466A2FEB99B1}"/>
              </a:ext>
            </a:extLst>
          </p:cNvPr>
          <p:cNvSpPr txBox="1"/>
          <p:nvPr/>
        </p:nvSpPr>
        <p:spPr>
          <a:xfrm>
            <a:off x="609600" y="4927599"/>
            <a:ext cx="4953000" cy="3556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Retail &amp; Commerce</a:t>
            </a:r>
          </a:p>
        </p:txBody>
      </p:sp>
      <p:sp>
        <p:nvSpPr>
          <p:cNvPr id="8" name="Team">
            <a:extLst>
              <a:ext uri="{FF2B5EF4-FFF2-40B4-BE49-F238E27FC236}">
                <a16:creationId xmlns:a16="http://schemas.microsoft.com/office/drawing/2014/main" id="{1F1ED60C-2200-B362-85E7-9C9F220A5E7D}"/>
              </a:ext>
            </a:extLst>
          </p:cNvPr>
          <p:cNvSpPr txBox="1"/>
          <p:nvPr/>
        </p:nvSpPr>
        <p:spPr>
          <a:xfrm>
            <a:off x="609600" y="5626099"/>
            <a:ext cx="5461000" cy="698500"/>
          </a:xfrm>
          <a:prstGeom prst="rect">
            <a:avLst/>
          </a:prstGeom>
          <a:noFill/>
        </p:spPr>
        <p:txBody>
          <a:bodyPr vert="horz" wrap="square" lIns="0" tIns="0" rIns="0" bIns="0" rtlCol="0">
            <a:noAutofit/>
          </a:bodyPr>
          <a:lstStyle/>
          <a:p>
            <a:r>
              <a:rPr lang="en-US" sz="1600">
                <a:solidFill>
                  <a:srgbClr val="1D1D1B"/>
                </a:solidFill>
                <a:latin typeface="Segoe UI" panose="020B0502040204020203" pitchFamily="34" charset="0"/>
              </a:rPr>
              <a:t>gTaprobane
Yogendran Nadaraja and Tharindu N. Madhusankha</a:t>
            </a:r>
          </a:p>
        </p:txBody>
      </p:sp>
    </p:spTree>
    <p:extLst>
      <p:ext uri="{BB962C8B-B14F-4D97-AF65-F5344CB8AC3E}">
        <p14:creationId xmlns:p14="http://schemas.microsoft.com/office/powerpoint/2010/main" val="402948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7E4B0A8E-D0AE-0BAF-33CB-F0D459353FBF}"/>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The weekly shopping decision</a:t>
            </a:r>
          </a:p>
        </p:txBody>
      </p:sp>
      <p:sp>
        <p:nvSpPr>
          <p:cNvPr id="3" name="Source and disclosure">
            <a:extLst>
              <a:ext uri="{FF2B5EF4-FFF2-40B4-BE49-F238E27FC236}">
                <a16:creationId xmlns:a16="http://schemas.microsoft.com/office/drawing/2014/main" id="{00D419B8-1CEE-6147-2E11-5296AF148FD4}"/>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Karuppan is a fictional Colombo demo persona. Budget and wallet are sample preferences.</a:t>
            </a:r>
          </a:p>
        </p:txBody>
      </p:sp>
      <p:sp>
        <p:nvSpPr>
          <p:cNvPr id="4" name="Slide number">
            <a:extLst>
              <a:ext uri="{FF2B5EF4-FFF2-40B4-BE49-F238E27FC236}">
                <a16:creationId xmlns:a16="http://schemas.microsoft.com/office/drawing/2014/main" id="{F7833952-BFEF-45A5-BB8A-D8553FB124A3}"/>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2</a:t>
            </a:r>
          </a:p>
        </p:txBody>
      </p:sp>
      <p:sp>
        <p:nvSpPr>
          <p:cNvPr id="5" name="Persona">
            <a:extLst>
              <a:ext uri="{FF2B5EF4-FFF2-40B4-BE49-F238E27FC236}">
                <a16:creationId xmlns:a16="http://schemas.microsoft.com/office/drawing/2014/main" id="{E5B63740-6418-8E93-1207-C8EF1CB8E787}"/>
              </a:ext>
            </a:extLst>
          </p:cNvPr>
          <p:cNvSpPr txBox="1"/>
          <p:nvPr/>
        </p:nvSpPr>
        <p:spPr>
          <a:xfrm>
            <a:off x="609600" y="1777999"/>
            <a:ext cx="6985000" cy="482600"/>
          </a:xfrm>
          <a:prstGeom prst="rect">
            <a:avLst/>
          </a:prstGeom>
          <a:noFill/>
        </p:spPr>
        <p:txBody>
          <a:bodyPr vert="horz" wrap="square" lIns="0" tIns="0" rIns="0" bIns="0" rtlCol="0">
            <a:noAutofit/>
          </a:bodyPr>
          <a:lstStyle/>
          <a:p>
            <a:r>
              <a:rPr lang="en-US" sz="2400" b="1">
                <a:solidFill>
                  <a:srgbClr val="0B6E4F"/>
                </a:solidFill>
                <a:latin typeface="Segoe UI" panose="020B0502040204020203" pitchFamily="34" charset="0"/>
              </a:rPr>
              <a:t>Karuppan's household</a:t>
            </a:r>
          </a:p>
        </p:txBody>
      </p:sp>
      <p:sp>
        <p:nvSpPr>
          <p:cNvPr id="6" name="Persona context">
            <a:extLst>
              <a:ext uri="{FF2B5EF4-FFF2-40B4-BE49-F238E27FC236}">
                <a16:creationId xmlns:a16="http://schemas.microsoft.com/office/drawing/2014/main" id="{2F9BD714-5464-6059-7194-C8D7E5E30101}"/>
              </a:ext>
            </a:extLst>
          </p:cNvPr>
          <p:cNvSpPr txBox="1"/>
          <p:nvPr/>
        </p:nvSpPr>
        <p:spPr>
          <a:xfrm>
            <a:off x="609600" y="2387599"/>
            <a:ext cx="9652000" cy="723900"/>
          </a:xfrm>
          <a:prstGeom prst="rect">
            <a:avLst/>
          </a:prstGeom>
          <a:noFill/>
        </p:spPr>
        <p:txBody>
          <a:bodyPr vert="horz" wrap="square" lIns="0" tIns="0" rIns="0" bIns="0" rtlCol="0">
            <a:noAutofit/>
          </a:bodyPr>
          <a:lstStyle/>
          <a:p>
            <a:r>
              <a:rPr lang="en-US" sz="2200">
                <a:solidFill>
                  <a:srgbClr val="1D1D1B"/>
                </a:solidFill>
                <a:latin typeface="Segoe UI" panose="020B0502040204020203" pitchFamily="34" charset="0"/>
              </a:rPr>
              <a:t>A budget of LKR 12,000, three credit cards and four supermarket chains.</a:t>
            </a:r>
          </a:p>
        </p:txBody>
      </p:sp>
      <p:graphicFrame>
        <p:nvGraphicFramePr>
          <p:cNvPr id="7" name="Editable evidence table">
            <a:extLst>
              <a:ext uri="{FF2B5EF4-FFF2-40B4-BE49-F238E27FC236}">
                <a16:creationId xmlns:a16="http://schemas.microsoft.com/office/drawing/2014/main" id="{9496CA5F-4A8F-1AC4-BBF4-82D2B7C4900D}"/>
              </a:ext>
            </a:extLst>
          </p:cNvPr>
          <p:cNvGraphicFramePr>
            <a:graphicFrameLocks noGrp="1"/>
          </p:cNvGraphicFramePr>
          <p:nvPr>
            <p:extLst>
              <p:ext uri="{D42A27DB-BD31-4B8C-83A1-F6EECF244321}">
                <p14:modId xmlns:p14="http://schemas.microsoft.com/office/powerpoint/2010/main" val="3853420028"/>
              </p:ext>
            </p:extLst>
          </p:nvPr>
        </p:nvGraphicFramePr>
        <p:xfrm>
          <a:off x="609600" y="3352800"/>
          <a:ext cx="10972800" cy="26797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3127157451"/>
                    </a:ext>
                  </a:extLst>
                </a:gridCol>
                <a:gridCol w="8242300">
                  <a:extLst>
                    <a:ext uri="{9D8B030D-6E8A-4147-A177-3AD203B41FA5}">
                      <a16:colId xmlns:a16="http://schemas.microsoft.com/office/drawing/2014/main" val="3313207144"/>
                    </a:ext>
                  </a:extLst>
                </a:gridCol>
              </a:tblGrid>
              <a:tr h="535940">
                <a:tc>
                  <a:txBody>
                    <a:bodyPr/>
                    <a:lstStyle/>
                    <a:p>
                      <a:r>
                        <a:rPr lang="en-US" sz="1700" b="1">
                          <a:solidFill>
                            <a:srgbClr val="1D1D1B"/>
                          </a:solidFill>
                          <a:latin typeface="Segoe UI" panose="020B0502040204020203" pitchFamily="34" charset="0"/>
                        </a:rPr>
                        <a:t>Decision</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E3F1EC"/>
                    </a:solidFill>
                  </a:tcPr>
                </a:tc>
                <a:tc>
                  <a:txBody>
                    <a:bodyPr/>
                    <a:lstStyle/>
                    <a:p>
                      <a:r>
                        <a:rPr lang="en-US" sz="1700" b="1">
                          <a:solidFill>
                            <a:srgbClr val="1D1D1B"/>
                          </a:solidFill>
                          <a:latin typeface="Segoe UI" panose="020B0502040204020203" pitchFamily="34" charset="0"/>
                        </a:rPr>
                        <a:t>What changes the answer</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E3F1EC"/>
                    </a:solidFill>
                  </a:tcPr>
                </a:tc>
                <a:extLst>
                  <a:ext uri="{0D108BD9-81ED-4DB2-BD59-A6C34878D82A}">
                    <a16:rowId xmlns:a16="http://schemas.microsoft.com/office/drawing/2014/main" val="4194067942"/>
                  </a:ext>
                </a:extLst>
              </a:tr>
              <a:tr h="535940">
                <a:tc>
                  <a:txBody>
                    <a:bodyPr/>
                    <a:lstStyle/>
                    <a:p>
                      <a:r>
                        <a:rPr lang="en-US" sz="1700" b="0">
                          <a:solidFill>
                            <a:srgbClr val="1D1D1B"/>
                          </a:solidFill>
                          <a:latin typeface="Segoe UI" panose="020B0502040204020203" pitchFamily="34" charset="0"/>
                        </a:rPr>
                        <a:t>What to buy</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Purchase history and the next estimated purchase date</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3131866142"/>
                  </a:ext>
                </a:extLst>
              </a:tr>
              <a:tr h="535940">
                <a:tc>
                  <a:txBody>
                    <a:bodyPr/>
                    <a:lstStyle/>
                    <a:p>
                      <a:r>
                        <a:rPr lang="en-US" sz="1700" b="0">
                          <a:solidFill>
                            <a:srgbClr val="1D1D1B"/>
                          </a:solidFill>
                          <a:latin typeface="Segoe UI" panose="020B0502040204020203" pitchFamily="34" charset="0"/>
                        </a:rPr>
                        <a:t>Where and when</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Shelf prices, store promotions and offer weekdays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3384065466"/>
                  </a:ext>
                </a:extLst>
              </a:tr>
              <a:tr h="535940">
                <a:tc>
                  <a:txBody>
                    <a:bodyPr/>
                    <a:lstStyle/>
                    <a:p>
                      <a:r>
                        <a:rPr lang="en-US" sz="1700" b="0">
                          <a:solidFill>
                            <a:srgbClr val="1D1D1B"/>
                          </a:solidFill>
                          <a:latin typeface="Segoe UI" panose="020B0502040204020203" pitchFamily="34" charset="0"/>
                        </a:rPr>
                        <a:t>Which card</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Exclusions, minimum spend, caps and combining rules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2011231735"/>
                  </a:ext>
                </a:extLst>
              </a:tr>
              <a:tr h="535940">
                <a:tc>
                  <a:txBody>
                    <a:bodyPr/>
                    <a:lstStyle/>
                    <a:p>
                      <a:r>
                        <a:rPr lang="en-US" sz="1700" b="0">
                          <a:solidFill>
                            <a:srgbClr val="1D1D1B"/>
                          </a:solidFill>
                          <a:latin typeface="Segoe UI" panose="020B0502040204020203" pitchFamily="34" charset="0"/>
                        </a:rPr>
                        <a:t>One store or several</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The saving after the cost of another trip</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2400680662"/>
                  </a:ext>
                </a:extLst>
              </a:tr>
            </a:tbl>
          </a:graphicData>
        </a:graphic>
      </p:graphicFrame>
    </p:spTree>
    <p:extLst>
      <p:ext uri="{BB962C8B-B14F-4D97-AF65-F5344CB8AC3E}">
        <p14:creationId xmlns:p14="http://schemas.microsoft.com/office/powerpoint/2010/main" val="3846550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69201825-6D2C-7683-FC30-15CDE57489F4}"/>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Evidence from a household's receipts</a:t>
            </a:r>
          </a:p>
        </p:txBody>
      </p:sp>
      <p:sp>
        <p:nvSpPr>
          <p:cNvPr id="3" name="Source and disclosure">
            <a:extLst>
              <a:ext uri="{FF2B5EF4-FFF2-40B4-BE49-F238E27FC236}">
                <a16:creationId xmlns:a16="http://schemas.microsoft.com/office/drawing/2014/main" id="{E148B733-4967-9911-43FF-8CEFB1A9C620}"/>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Source: samples/purchase-history.json and the redacted receipt. One household, not market validation.</a:t>
            </a:r>
          </a:p>
        </p:txBody>
      </p:sp>
      <p:sp>
        <p:nvSpPr>
          <p:cNvPr id="4" name="Slide number">
            <a:extLst>
              <a:ext uri="{FF2B5EF4-FFF2-40B4-BE49-F238E27FC236}">
                <a16:creationId xmlns:a16="http://schemas.microsoft.com/office/drawing/2014/main" id="{05CB1EBB-5C56-1487-D5AD-DAC162285AFA}"/>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3</a:t>
            </a:r>
          </a:p>
        </p:txBody>
      </p:sp>
      <p:sp>
        <p:nvSpPr>
          <p:cNvPr id="5" name="Receipt count">
            <a:extLst>
              <a:ext uri="{FF2B5EF4-FFF2-40B4-BE49-F238E27FC236}">
                <a16:creationId xmlns:a16="http://schemas.microsoft.com/office/drawing/2014/main" id="{2EA57E3A-B2C8-FA77-4409-45CA38CC714D}"/>
              </a:ext>
            </a:extLst>
          </p:cNvPr>
          <p:cNvSpPr txBox="1"/>
          <p:nvPr/>
        </p:nvSpPr>
        <p:spPr>
          <a:xfrm>
            <a:off x="609600" y="1650999"/>
            <a:ext cx="3175000" cy="1206500"/>
          </a:xfrm>
          <a:prstGeom prst="rect">
            <a:avLst/>
          </a:prstGeom>
          <a:noFill/>
        </p:spPr>
        <p:txBody>
          <a:bodyPr vert="horz" wrap="square" lIns="0" tIns="0" rIns="0" bIns="0" rtlCol="0">
            <a:noAutofit/>
          </a:bodyPr>
          <a:lstStyle/>
          <a:p>
            <a:r>
              <a:rPr lang="en-US" sz="7200" b="1">
                <a:solidFill>
                  <a:srgbClr val="0B6E4F"/>
                </a:solidFill>
                <a:latin typeface="Segoe UI" panose="020B0502040204020203" pitchFamily="34" charset="0"/>
              </a:rPr>
              <a:t>26</a:t>
            </a:r>
          </a:p>
        </p:txBody>
      </p:sp>
      <p:sp>
        <p:nvSpPr>
          <p:cNvPr id="6" name="Receipt label">
            <a:extLst>
              <a:ext uri="{FF2B5EF4-FFF2-40B4-BE49-F238E27FC236}">
                <a16:creationId xmlns:a16="http://schemas.microsoft.com/office/drawing/2014/main" id="{1E068D0C-12A2-C282-AF46-107892C70849}"/>
              </a:ext>
            </a:extLst>
          </p:cNvPr>
          <p:cNvSpPr txBox="1"/>
          <p:nvPr/>
        </p:nvSpPr>
        <p:spPr>
          <a:xfrm>
            <a:off x="609600" y="2806699"/>
            <a:ext cx="6096000" cy="431800"/>
          </a:xfrm>
          <a:prstGeom prst="rect">
            <a:avLst/>
          </a:prstGeom>
          <a:noFill/>
        </p:spPr>
        <p:txBody>
          <a:bodyPr vert="horz" wrap="square" lIns="0" tIns="0" rIns="0" bIns="0" rtlCol="0">
            <a:noAutofit/>
          </a:bodyPr>
          <a:lstStyle/>
          <a:p>
            <a:r>
              <a:rPr lang="en-US" sz="2300" b="1">
                <a:solidFill>
                  <a:srgbClr val="1D1D1B"/>
                </a:solidFill>
                <a:latin typeface="Segoe UI" panose="020B0502040204020203" pitchFamily="34" charset="0"/>
              </a:rPr>
              <a:t>de-identified Keells bills</a:t>
            </a:r>
          </a:p>
        </p:txBody>
      </p:sp>
      <p:sp>
        <p:nvSpPr>
          <p:cNvPr id="7" name="History span">
            <a:extLst>
              <a:ext uri="{FF2B5EF4-FFF2-40B4-BE49-F238E27FC236}">
                <a16:creationId xmlns:a16="http://schemas.microsoft.com/office/drawing/2014/main" id="{EE38F675-7718-2781-A7E6-B4E329E782C6}"/>
              </a:ext>
            </a:extLst>
          </p:cNvPr>
          <p:cNvSpPr txBox="1"/>
          <p:nvPr/>
        </p:nvSpPr>
        <p:spPr>
          <a:xfrm>
            <a:off x="609600" y="3428999"/>
            <a:ext cx="6096000" cy="965200"/>
          </a:xfrm>
          <a:prstGeom prst="rect">
            <a:avLst/>
          </a:prstGeom>
          <a:noFill/>
        </p:spPr>
        <p:txBody>
          <a:bodyPr vert="horz" wrap="square" lIns="0" tIns="0" rIns="0" bIns="0" rtlCol="0">
            <a:noAutofit/>
          </a:bodyPr>
          <a:lstStyle/>
          <a:p>
            <a:r>
              <a:rPr lang="en-US" sz="2100">
                <a:solidFill>
                  <a:srgbClr val="1D1D1B"/>
                </a:solidFill>
                <a:latin typeface="Segoe UI" panose="020B0502040204020203" pitchFamily="34" charset="0"/>
              </a:rPr>
              <a:t>21 purchase dates
5 May to 17 October 2026</a:t>
            </a:r>
          </a:p>
        </p:txBody>
      </p:sp>
      <p:sp>
        <p:nvSpPr>
          <p:cNvPr id="8" name="Observed problem">
            <a:extLst>
              <a:ext uri="{FF2B5EF4-FFF2-40B4-BE49-F238E27FC236}">
                <a16:creationId xmlns:a16="http://schemas.microsoft.com/office/drawing/2014/main" id="{0ED8A80C-0112-5637-4D01-259E1C57A89D}"/>
              </a:ext>
            </a:extLst>
          </p:cNvPr>
          <p:cNvSpPr txBox="1"/>
          <p:nvPr/>
        </p:nvSpPr>
        <p:spPr>
          <a:xfrm>
            <a:off x="609600" y="4546599"/>
            <a:ext cx="5905500" cy="838200"/>
          </a:xfrm>
          <a:prstGeom prst="rect">
            <a:avLst/>
          </a:prstGeom>
          <a:noFill/>
        </p:spPr>
        <p:txBody>
          <a:bodyPr vert="horz" wrap="square" lIns="0" tIns="0" rIns="0" bIns="0" rtlCol="0">
            <a:noAutofit/>
          </a:bodyPr>
          <a:lstStyle/>
          <a:p>
            <a:r>
              <a:rPr lang="en-US" sz="2000">
                <a:solidFill>
                  <a:srgbClr val="1D1D1B"/>
                </a:solidFill>
                <a:latin typeface="Segoe UI" panose="020B0502040204020203" pitchFamily="34" charset="0"/>
              </a:rPr>
              <a:t>Receipts show item-level promotions. Four dates contain multiple receipts.</a:t>
            </a:r>
          </a:p>
        </p:txBody>
      </p:sp>
      <p:sp>
        <p:nvSpPr>
          <p:cNvPr id="9" name="Synthetic history disclosure">
            <a:extLst>
              <a:ext uri="{FF2B5EF4-FFF2-40B4-BE49-F238E27FC236}">
                <a16:creationId xmlns:a16="http://schemas.microsoft.com/office/drawing/2014/main" id="{9AF5746D-80D7-526A-EED5-5461A2240552}"/>
              </a:ext>
            </a:extLst>
          </p:cNvPr>
          <p:cNvSpPr txBox="1"/>
          <p:nvPr/>
        </p:nvSpPr>
        <p:spPr>
          <a:xfrm>
            <a:off x="609600" y="5575299"/>
            <a:ext cx="6858000" cy="596900"/>
          </a:xfrm>
          <a:prstGeom prst="rect">
            <a:avLst/>
          </a:prstGeom>
          <a:noFill/>
        </p:spPr>
        <p:txBody>
          <a:bodyPr vert="horz" wrap="square" lIns="0" tIns="0" rIns="0" bIns="0" rtlCol="0">
            <a:noAutofit/>
          </a:bodyPr>
          <a:lstStyle/>
          <a:p>
            <a:r>
              <a:rPr lang="en-US" sz="1500">
                <a:solidFill>
                  <a:srgbClr val="8A4B00"/>
                </a:solidFill>
                <a:latin typeface="Segoe UI" panose="020B0502040204020203" pitchFamily="34" charset="0"/>
              </a:rPr>
              <a:t>The demo adds 17 fictional bills. Competitor prices and store promotions remain simulated.</a:t>
            </a:r>
          </a:p>
        </p:txBody>
      </p:sp>
      <p:pic>
        <p:nvPicPr>
          <p:cNvPr id="11" name="Picture 10" descr="Real redacted Keells receipt from 17 October 2026. Shopper name and loyalty information are obscured.">
            <a:extLst>
              <a:ext uri="{FF2B5EF4-FFF2-40B4-BE49-F238E27FC236}">
                <a16:creationId xmlns:a16="http://schemas.microsoft.com/office/drawing/2014/main" id="{438C6C90-AF00-87FB-7FE1-B015ACCE44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128000" y="1638300"/>
            <a:ext cx="3276600" cy="4368800"/>
          </a:xfrm>
          <a:prstGeom prst="rect">
            <a:avLst/>
          </a:prstGeom>
        </p:spPr>
      </p:pic>
    </p:spTree>
    <p:extLst>
      <p:ext uri="{BB962C8B-B14F-4D97-AF65-F5344CB8AC3E}">
        <p14:creationId xmlns:p14="http://schemas.microsoft.com/office/powerpoint/2010/main" val="3473051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D53A6DFD-67A7-8AB5-ACB0-9E01D24146C6}"/>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A shopping plan the household can review</a:t>
            </a:r>
          </a:p>
        </p:txBody>
      </p:sp>
      <p:sp>
        <p:nvSpPr>
          <p:cNvPr id="3" name="Source and disclosure">
            <a:extLst>
              <a:ext uri="{FF2B5EF4-FFF2-40B4-BE49-F238E27FC236}">
                <a16:creationId xmlns:a16="http://schemas.microsoft.com/office/drawing/2014/main" id="{139AD99C-19DC-6C6B-00A0-FAFCAFE18884}"/>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Implemented guest workflow. The final approval creates a MOCK preview. No order is sent.</a:t>
            </a:r>
          </a:p>
        </p:txBody>
      </p:sp>
      <p:sp>
        <p:nvSpPr>
          <p:cNvPr id="4" name="Slide number">
            <a:extLst>
              <a:ext uri="{FF2B5EF4-FFF2-40B4-BE49-F238E27FC236}">
                <a16:creationId xmlns:a16="http://schemas.microsoft.com/office/drawing/2014/main" id="{5D188B86-3F2F-167D-953F-AA99C3CDAE5B}"/>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4</a:t>
            </a:r>
          </a:p>
        </p:txBody>
      </p:sp>
      <p:sp>
        <p:nvSpPr>
          <p:cNvPr id="5" name="Step number 0">
            <a:extLst>
              <a:ext uri="{FF2B5EF4-FFF2-40B4-BE49-F238E27FC236}">
                <a16:creationId xmlns:a16="http://schemas.microsoft.com/office/drawing/2014/main" id="{0D04C2BB-E094-B6A6-D3E6-C9F7D37B9559}"/>
              </a:ext>
            </a:extLst>
          </p:cNvPr>
          <p:cNvSpPr txBox="1"/>
          <p:nvPr/>
        </p:nvSpPr>
        <p:spPr>
          <a:xfrm>
            <a:off x="609600" y="1841499"/>
            <a:ext cx="184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1</a:t>
            </a:r>
          </a:p>
        </p:txBody>
      </p:sp>
      <p:sp>
        <p:nvSpPr>
          <p:cNvPr id="6" name="Step name 0">
            <a:extLst>
              <a:ext uri="{FF2B5EF4-FFF2-40B4-BE49-F238E27FC236}">
                <a16:creationId xmlns:a16="http://schemas.microsoft.com/office/drawing/2014/main" id="{7F7C5096-16E5-C6F8-37EF-561B2C9341AE}"/>
              </a:ext>
            </a:extLst>
          </p:cNvPr>
          <p:cNvSpPr txBox="1"/>
          <p:nvPr/>
        </p:nvSpPr>
        <p:spPr>
          <a:xfrm>
            <a:off x="609600" y="2768599"/>
            <a:ext cx="1905000" cy="444500"/>
          </a:xfrm>
          <a:prstGeom prst="rect">
            <a:avLst/>
          </a:prstGeom>
          <a:noFill/>
        </p:spPr>
        <p:txBody>
          <a:bodyPr vert="horz" wrap="square" lIns="0" tIns="0" rIns="0" bIns="0" rtlCol="0">
            <a:noAutofit/>
          </a:bodyPr>
          <a:lstStyle/>
          <a:p>
            <a:r>
              <a:rPr lang="en-US" sz="2200" b="1">
                <a:solidFill>
                  <a:srgbClr val="1D1D1B"/>
                </a:solidFill>
                <a:latin typeface="Segoe UI" panose="020B0502040204020203" pitchFamily="34" charset="0"/>
              </a:rPr>
              <a:t>Pantry</a:t>
            </a:r>
          </a:p>
        </p:txBody>
      </p:sp>
      <p:sp>
        <p:nvSpPr>
          <p:cNvPr id="7" name="Step description 0">
            <a:extLst>
              <a:ext uri="{FF2B5EF4-FFF2-40B4-BE49-F238E27FC236}">
                <a16:creationId xmlns:a16="http://schemas.microsoft.com/office/drawing/2014/main" id="{C2AE0C16-EBE6-931B-1BC9-159A934167DA}"/>
              </a:ext>
            </a:extLst>
          </p:cNvPr>
          <p:cNvSpPr txBox="1"/>
          <p:nvPr/>
        </p:nvSpPr>
        <p:spPr>
          <a:xfrm>
            <a:off x="609600" y="3403599"/>
            <a:ext cx="1905000" cy="14224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Review items
and quantities.</a:t>
            </a:r>
          </a:p>
        </p:txBody>
      </p:sp>
      <p:cxnSp>
        <p:nvCxnSpPr>
          <p:cNvPr id="8" name="Flow 0">
            <a:extLst>
              <a:ext uri="{FF2B5EF4-FFF2-40B4-BE49-F238E27FC236}">
                <a16:creationId xmlns:a16="http://schemas.microsoft.com/office/drawing/2014/main" id="{E0C06392-FD7C-A041-6D38-CE60079B025D}"/>
              </a:ext>
            </a:extLst>
          </p:cNvPr>
          <p:cNvCxnSpPr/>
          <p:nvPr/>
        </p:nvCxnSpPr>
        <p:spPr>
          <a:xfrm>
            <a:off x="1320800" y="2260600"/>
            <a:ext cx="1358900" cy="0"/>
          </a:xfrm>
          <a:prstGeom prst="line">
            <a:avLst/>
          </a:prstGeom>
          <a:ln w="19050">
            <a:solidFill>
              <a:srgbClr val="D9D9D3"/>
            </a:solidFill>
            <a:tailEnd type="arrow"/>
          </a:ln>
        </p:spPr>
        <p:style>
          <a:lnRef idx="2">
            <a:schemeClr val="accent1"/>
          </a:lnRef>
          <a:fillRef idx="0">
            <a:schemeClr val="accent1"/>
          </a:fillRef>
          <a:effectRef idx="1">
            <a:schemeClr val="accent1"/>
          </a:effectRef>
          <a:fontRef idx="minor">
            <a:schemeClr val="tx1"/>
          </a:fontRef>
        </p:style>
      </p:cxnSp>
      <p:sp>
        <p:nvSpPr>
          <p:cNvPr id="9" name="Step number 1">
            <a:extLst>
              <a:ext uri="{FF2B5EF4-FFF2-40B4-BE49-F238E27FC236}">
                <a16:creationId xmlns:a16="http://schemas.microsoft.com/office/drawing/2014/main" id="{5178D3B0-B71C-64B9-C686-CB67D8EF3275}"/>
              </a:ext>
            </a:extLst>
          </p:cNvPr>
          <p:cNvSpPr txBox="1"/>
          <p:nvPr/>
        </p:nvSpPr>
        <p:spPr>
          <a:xfrm>
            <a:off x="2844800" y="1841499"/>
            <a:ext cx="184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2</a:t>
            </a:r>
          </a:p>
        </p:txBody>
      </p:sp>
      <p:sp>
        <p:nvSpPr>
          <p:cNvPr id="10" name="Step name 1">
            <a:extLst>
              <a:ext uri="{FF2B5EF4-FFF2-40B4-BE49-F238E27FC236}">
                <a16:creationId xmlns:a16="http://schemas.microsoft.com/office/drawing/2014/main" id="{733D9519-42C1-5CA2-30AA-E17EB115D283}"/>
              </a:ext>
            </a:extLst>
          </p:cNvPr>
          <p:cNvSpPr txBox="1"/>
          <p:nvPr/>
        </p:nvSpPr>
        <p:spPr>
          <a:xfrm>
            <a:off x="2844800" y="2768599"/>
            <a:ext cx="1905000" cy="444500"/>
          </a:xfrm>
          <a:prstGeom prst="rect">
            <a:avLst/>
          </a:prstGeom>
          <a:noFill/>
        </p:spPr>
        <p:txBody>
          <a:bodyPr vert="horz" wrap="square" lIns="0" tIns="0" rIns="0" bIns="0" rtlCol="0">
            <a:noAutofit/>
          </a:bodyPr>
          <a:lstStyle/>
          <a:p>
            <a:r>
              <a:rPr lang="en-US" sz="2200" b="1">
                <a:solidFill>
                  <a:srgbClr val="1D1D1B"/>
                </a:solidFill>
                <a:latin typeface="Segoe UI" panose="020B0502040204020203" pitchFamily="34" charset="0"/>
              </a:rPr>
              <a:t>Wallet</a:t>
            </a:r>
          </a:p>
        </p:txBody>
      </p:sp>
      <p:sp>
        <p:nvSpPr>
          <p:cNvPr id="11" name="Step description 1">
            <a:extLst>
              <a:ext uri="{FF2B5EF4-FFF2-40B4-BE49-F238E27FC236}">
                <a16:creationId xmlns:a16="http://schemas.microsoft.com/office/drawing/2014/main" id="{32656516-D851-A56E-D71C-0F0C5746EA44}"/>
              </a:ext>
            </a:extLst>
          </p:cNvPr>
          <p:cNvSpPr txBox="1"/>
          <p:nvPr/>
        </p:nvSpPr>
        <p:spPr>
          <a:xfrm>
            <a:off x="2844800" y="3403599"/>
            <a:ext cx="1905000" cy="14224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Choose cards.
Set the cost of
another trip.</a:t>
            </a:r>
          </a:p>
        </p:txBody>
      </p:sp>
      <p:cxnSp>
        <p:nvCxnSpPr>
          <p:cNvPr id="12" name="Flow 1">
            <a:extLst>
              <a:ext uri="{FF2B5EF4-FFF2-40B4-BE49-F238E27FC236}">
                <a16:creationId xmlns:a16="http://schemas.microsoft.com/office/drawing/2014/main" id="{369E87AC-0B1F-1CEC-AF59-876349EC51D5}"/>
              </a:ext>
            </a:extLst>
          </p:cNvPr>
          <p:cNvCxnSpPr/>
          <p:nvPr/>
        </p:nvCxnSpPr>
        <p:spPr>
          <a:xfrm>
            <a:off x="3556000" y="2260600"/>
            <a:ext cx="1358900" cy="0"/>
          </a:xfrm>
          <a:prstGeom prst="line">
            <a:avLst/>
          </a:prstGeom>
          <a:ln w="19050">
            <a:solidFill>
              <a:srgbClr val="D9D9D3"/>
            </a:solidFill>
            <a:tailEnd type="arrow"/>
          </a:ln>
        </p:spPr>
        <p:style>
          <a:lnRef idx="2">
            <a:schemeClr val="accent1"/>
          </a:lnRef>
          <a:fillRef idx="0">
            <a:schemeClr val="accent1"/>
          </a:fillRef>
          <a:effectRef idx="1">
            <a:schemeClr val="accent1"/>
          </a:effectRef>
          <a:fontRef idx="minor">
            <a:schemeClr val="tx1"/>
          </a:fontRef>
        </p:style>
      </p:cxnSp>
      <p:sp>
        <p:nvSpPr>
          <p:cNvPr id="13" name="Step number 2">
            <a:extLst>
              <a:ext uri="{FF2B5EF4-FFF2-40B4-BE49-F238E27FC236}">
                <a16:creationId xmlns:a16="http://schemas.microsoft.com/office/drawing/2014/main" id="{58B71A8E-1BF1-B767-778F-0E9BAB8CD222}"/>
              </a:ext>
            </a:extLst>
          </p:cNvPr>
          <p:cNvSpPr txBox="1"/>
          <p:nvPr/>
        </p:nvSpPr>
        <p:spPr>
          <a:xfrm>
            <a:off x="5080000" y="1841499"/>
            <a:ext cx="184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3</a:t>
            </a:r>
          </a:p>
        </p:txBody>
      </p:sp>
      <p:sp>
        <p:nvSpPr>
          <p:cNvPr id="14" name="Step name 2">
            <a:extLst>
              <a:ext uri="{FF2B5EF4-FFF2-40B4-BE49-F238E27FC236}">
                <a16:creationId xmlns:a16="http://schemas.microsoft.com/office/drawing/2014/main" id="{CB4A9564-D08C-1806-E691-A92A29FB5910}"/>
              </a:ext>
            </a:extLst>
          </p:cNvPr>
          <p:cNvSpPr txBox="1"/>
          <p:nvPr/>
        </p:nvSpPr>
        <p:spPr>
          <a:xfrm>
            <a:off x="5080000" y="2768599"/>
            <a:ext cx="1905000" cy="444500"/>
          </a:xfrm>
          <a:prstGeom prst="rect">
            <a:avLst/>
          </a:prstGeom>
          <a:noFill/>
        </p:spPr>
        <p:txBody>
          <a:bodyPr vert="horz" wrap="square" lIns="0" tIns="0" rIns="0" bIns="0" rtlCol="0">
            <a:noAutofit/>
          </a:bodyPr>
          <a:lstStyle/>
          <a:p>
            <a:r>
              <a:rPr lang="en-US" sz="2200" b="1">
                <a:solidFill>
                  <a:srgbClr val="1D1D1B"/>
                </a:solidFill>
                <a:latin typeface="Segoe UI" panose="020B0502040204020203" pitchFamily="34" charset="0"/>
              </a:rPr>
              <a:t>Plan</a:t>
            </a:r>
          </a:p>
        </p:txBody>
      </p:sp>
      <p:sp>
        <p:nvSpPr>
          <p:cNvPr id="15" name="Step description 2">
            <a:extLst>
              <a:ext uri="{FF2B5EF4-FFF2-40B4-BE49-F238E27FC236}">
                <a16:creationId xmlns:a16="http://schemas.microsoft.com/office/drawing/2014/main" id="{4BA1E30B-AB20-B4A1-BEA7-611AD5E56E78}"/>
              </a:ext>
            </a:extLst>
          </p:cNvPr>
          <p:cNvSpPr txBox="1"/>
          <p:nvPr/>
        </p:nvSpPr>
        <p:spPr>
          <a:xfrm>
            <a:off x="5080000" y="3403599"/>
            <a:ext cx="1905000" cy="14224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Compare days,
stores and
baselines.</a:t>
            </a:r>
          </a:p>
        </p:txBody>
      </p:sp>
      <p:cxnSp>
        <p:nvCxnSpPr>
          <p:cNvPr id="16" name="Flow 2">
            <a:extLst>
              <a:ext uri="{FF2B5EF4-FFF2-40B4-BE49-F238E27FC236}">
                <a16:creationId xmlns:a16="http://schemas.microsoft.com/office/drawing/2014/main" id="{DE12B93A-CA45-5B4D-E7DC-E9377BC8F2E1}"/>
              </a:ext>
            </a:extLst>
          </p:cNvPr>
          <p:cNvCxnSpPr/>
          <p:nvPr/>
        </p:nvCxnSpPr>
        <p:spPr>
          <a:xfrm>
            <a:off x="5791200" y="2260600"/>
            <a:ext cx="1358900" cy="0"/>
          </a:xfrm>
          <a:prstGeom prst="line">
            <a:avLst/>
          </a:prstGeom>
          <a:ln w="19050">
            <a:solidFill>
              <a:srgbClr val="D9D9D3"/>
            </a:solidFill>
            <a:tailEnd type="arrow"/>
          </a:ln>
        </p:spPr>
        <p:style>
          <a:lnRef idx="2">
            <a:schemeClr val="accent1"/>
          </a:lnRef>
          <a:fillRef idx="0">
            <a:schemeClr val="accent1"/>
          </a:fillRef>
          <a:effectRef idx="1">
            <a:schemeClr val="accent1"/>
          </a:effectRef>
          <a:fontRef idx="minor">
            <a:schemeClr val="tx1"/>
          </a:fontRef>
        </p:style>
      </p:cxnSp>
      <p:sp>
        <p:nvSpPr>
          <p:cNvPr id="17" name="Step number 3">
            <a:extLst>
              <a:ext uri="{FF2B5EF4-FFF2-40B4-BE49-F238E27FC236}">
                <a16:creationId xmlns:a16="http://schemas.microsoft.com/office/drawing/2014/main" id="{5424C2DB-4B5A-8C9C-4654-167A938AEECB}"/>
              </a:ext>
            </a:extLst>
          </p:cNvPr>
          <p:cNvSpPr txBox="1"/>
          <p:nvPr/>
        </p:nvSpPr>
        <p:spPr>
          <a:xfrm>
            <a:off x="7315200" y="1841499"/>
            <a:ext cx="184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4</a:t>
            </a:r>
          </a:p>
        </p:txBody>
      </p:sp>
      <p:sp>
        <p:nvSpPr>
          <p:cNvPr id="18" name="Step name 3">
            <a:extLst>
              <a:ext uri="{FF2B5EF4-FFF2-40B4-BE49-F238E27FC236}">
                <a16:creationId xmlns:a16="http://schemas.microsoft.com/office/drawing/2014/main" id="{5DA077DF-3CE9-7E37-0413-3FDA09C96C3B}"/>
              </a:ext>
            </a:extLst>
          </p:cNvPr>
          <p:cNvSpPr txBox="1"/>
          <p:nvPr/>
        </p:nvSpPr>
        <p:spPr>
          <a:xfrm>
            <a:off x="7315200" y="2768599"/>
            <a:ext cx="1905000" cy="444500"/>
          </a:xfrm>
          <a:prstGeom prst="rect">
            <a:avLst/>
          </a:prstGeom>
          <a:noFill/>
        </p:spPr>
        <p:txBody>
          <a:bodyPr vert="horz" wrap="square" lIns="0" tIns="0" rIns="0" bIns="0" rtlCol="0">
            <a:noAutofit/>
          </a:bodyPr>
          <a:lstStyle/>
          <a:p>
            <a:r>
              <a:rPr lang="en-US" sz="2200" b="1">
                <a:solidFill>
                  <a:srgbClr val="1D1D1B"/>
                </a:solidFill>
                <a:latin typeface="Segoe UI" panose="020B0502040204020203" pitchFamily="34" charset="0"/>
              </a:rPr>
              <a:t>Why</a:t>
            </a:r>
          </a:p>
        </p:txBody>
      </p:sp>
      <p:sp>
        <p:nvSpPr>
          <p:cNvPr id="19" name="Step description 3">
            <a:extLst>
              <a:ext uri="{FF2B5EF4-FFF2-40B4-BE49-F238E27FC236}">
                <a16:creationId xmlns:a16="http://schemas.microsoft.com/office/drawing/2014/main" id="{E8ADE61C-B8C6-1B87-D4AB-38C082F3362F}"/>
              </a:ext>
            </a:extLst>
          </p:cNvPr>
          <p:cNvSpPr txBox="1"/>
          <p:nvPr/>
        </p:nvSpPr>
        <p:spPr>
          <a:xfrm>
            <a:off x="7315200" y="3403599"/>
            <a:ext cx="1905000" cy="14224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Ask questions.
Review the tool
comparisons.</a:t>
            </a:r>
          </a:p>
        </p:txBody>
      </p:sp>
      <p:cxnSp>
        <p:nvCxnSpPr>
          <p:cNvPr id="20" name="Flow 3">
            <a:extLst>
              <a:ext uri="{FF2B5EF4-FFF2-40B4-BE49-F238E27FC236}">
                <a16:creationId xmlns:a16="http://schemas.microsoft.com/office/drawing/2014/main" id="{E5E0CAA6-F430-0C54-E952-2FF944E8BE53}"/>
              </a:ext>
            </a:extLst>
          </p:cNvPr>
          <p:cNvCxnSpPr/>
          <p:nvPr/>
        </p:nvCxnSpPr>
        <p:spPr>
          <a:xfrm>
            <a:off x="8026400" y="2260600"/>
            <a:ext cx="1358900" cy="0"/>
          </a:xfrm>
          <a:prstGeom prst="line">
            <a:avLst/>
          </a:prstGeom>
          <a:ln w="19050">
            <a:solidFill>
              <a:srgbClr val="D9D9D3"/>
            </a:solidFill>
            <a:tailEnd type="arrow"/>
          </a:ln>
        </p:spPr>
        <p:style>
          <a:lnRef idx="2">
            <a:schemeClr val="accent1"/>
          </a:lnRef>
          <a:fillRef idx="0">
            <a:schemeClr val="accent1"/>
          </a:fillRef>
          <a:effectRef idx="1">
            <a:schemeClr val="accent1"/>
          </a:effectRef>
          <a:fontRef idx="minor">
            <a:schemeClr val="tx1"/>
          </a:fontRef>
        </p:style>
      </p:cxnSp>
      <p:sp>
        <p:nvSpPr>
          <p:cNvPr id="21" name="Step number 4">
            <a:extLst>
              <a:ext uri="{FF2B5EF4-FFF2-40B4-BE49-F238E27FC236}">
                <a16:creationId xmlns:a16="http://schemas.microsoft.com/office/drawing/2014/main" id="{F4095AE8-9F2D-4BB2-ED86-942EF954C581}"/>
              </a:ext>
            </a:extLst>
          </p:cNvPr>
          <p:cNvSpPr txBox="1"/>
          <p:nvPr/>
        </p:nvSpPr>
        <p:spPr>
          <a:xfrm>
            <a:off x="9550400" y="1841499"/>
            <a:ext cx="184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5</a:t>
            </a:r>
          </a:p>
        </p:txBody>
      </p:sp>
      <p:sp>
        <p:nvSpPr>
          <p:cNvPr id="22" name="Step name 4">
            <a:extLst>
              <a:ext uri="{FF2B5EF4-FFF2-40B4-BE49-F238E27FC236}">
                <a16:creationId xmlns:a16="http://schemas.microsoft.com/office/drawing/2014/main" id="{DFB2B967-E7F0-096E-0AAB-529A6D471D1F}"/>
              </a:ext>
            </a:extLst>
          </p:cNvPr>
          <p:cNvSpPr txBox="1"/>
          <p:nvPr/>
        </p:nvSpPr>
        <p:spPr>
          <a:xfrm>
            <a:off x="9550400" y="2768599"/>
            <a:ext cx="1905000" cy="444500"/>
          </a:xfrm>
          <a:prstGeom prst="rect">
            <a:avLst/>
          </a:prstGeom>
          <a:noFill/>
        </p:spPr>
        <p:txBody>
          <a:bodyPr vert="horz" wrap="square" lIns="0" tIns="0" rIns="0" bIns="0" rtlCol="0">
            <a:noAutofit/>
          </a:bodyPr>
          <a:lstStyle/>
          <a:p>
            <a:r>
              <a:rPr lang="en-US" sz="2200" b="1">
                <a:solidFill>
                  <a:srgbClr val="1D1D1B"/>
                </a:solidFill>
                <a:latin typeface="Segoe UI" panose="020B0502040204020203" pitchFamily="34" charset="0"/>
              </a:rPr>
              <a:t>Approve</a:t>
            </a:r>
          </a:p>
        </p:txBody>
      </p:sp>
      <p:sp>
        <p:nvSpPr>
          <p:cNvPr id="23" name="Step description 4">
            <a:extLst>
              <a:ext uri="{FF2B5EF4-FFF2-40B4-BE49-F238E27FC236}">
                <a16:creationId xmlns:a16="http://schemas.microsoft.com/office/drawing/2014/main" id="{A8BE7C05-8537-7760-0D8E-ABA32509B6FB}"/>
              </a:ext>
            </a:extLst>
          </p:cNvPr>
          <p:cNvSpPr txBox="1"/>
          <p:nvPr/>
        </p:nvSpPr>
        <p:spPr>
          <a:xfrm>
            <a:off x="9550400" y="3403599"/>
            <a:ext cx="1905000" cy="14224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Review the plan
and mock
fulfilment.</a:t>
            </a:r>
          </a:p>
        </p:txBody>
      </p:sp>
      <p:sp>
        <p:nvSpPr>
          <p:cNvPr id="24" name="Optional branch title">
            <a:extLst>
              <a:ext uri="{FF2B5EF4-FFF2-40B4-BE49-F238E27FC236}">
                <a16:creationId xmlns:a16="http://schemas.microsoft.com/office/drawing/2014/main" id="{1B16E7C4-174A-3641-2687-5B4909D1A266}"/>
              </a:ext>
            </a:extLst>
          </p:cNvPr>
          <p:cNvSpPr txBox="1"/>
          <p:nvPr/>
        </p:nvSpPr>
        <p:spPr>
          <a:xfrm>
            <a:off x="609600" y="5181599"/>
            <a:ext cx="4254500" cy="393700"/>
          </a:xfrm>
          <a:prstGeom prst="rect">
            <a:avLst/>
          </a:prstGeom>
          <a:noFill/>
        </p:spPr>
        <p:txBody>
          <a:bodyPr vert="horz" wrap="square" lIns="0" tIns="0" rIns="0" bIns="0" rtlCol="0">
            <a:noAutofit/>
          </a:bodyPr>
          <a:lstStyle/>
          <a:p>
            <a:r>
              <a:rPr lang="en-US" sz="2200" b="1">
                <a:solidFill>
                  <a:srgbClr val="0B6E4F"/>
                </a:solidFill>
                <a:latin typeface="Segoe UI" panose="020B0502040204020203" pitchFamily="34" charset="0"/>
              </a:rPr>
              <a:t>Offer Reality Check</a:t>
            </a:r>
          </a:p>
        </p:txBody>
      </p:sp>
      <p:sp>
        <p:nvSpPr>
          <p:cNvPr id="25" name="Optional branch">
            <a:extLst>
              <a:ext uri="{FF2B5EF4-FFF2-40B4-BE49-F238E27FC236}">
                <a16:creationId xmlns:a16="http://schemas.microsoft.com/office/drawing/2014/main" id="{70228EC9-3F56-8044-E40C-7DF328093671}"/>
              </a:ext>
            </a:extLst>
          </p:cNvPr>
          <p:cNvSpPr txBox="1"/>
          <p:nvPr/>
        </p:nvSpPr>
        <p:spPr>
          <a:xfrm>
            <a:off x="4914900" y="5156199"/>
            <a:ext cx="6667500" cy="9271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Paste bank terms or upload a screenshot to see what the offer pays on this basket.</a:t>
            </a:r>
          </a:p>
        </p:txBody>
      </p:sp>
    </p:spTree>
    <p:extLst>
      <p:ext uri="{BB962C8B-B14F-4D97-AF65-F5344CB8AC3E}">
        <p14:creationId xmlns:p14="http://schemas.microsoft.com/office/powerpoint/2010/main" val="2535512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836D41BC-DC4E-1816-837F-605A13F59F73}"/>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Offer Reality Check</a:t>
            </a:r>
          </a:p>
        </p:txBody>
      </p:sp>
      <p:sp>
        <p:nvSpPr>
          <p:cNvPr id="3" name="Source and disclosure">
            <a:extLst>
              <a:ext uri="{FF2B5EF4-FFF2-40B4-BE49-F238E27FC236}">
                <a16:creationId xmlns:a16="http://schemas.microsoft.com/office/drawing/2014/main" id="{8E7DF473-B536-9B86-65CD-627CC0981361}"/>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Seylan Keells terms checked 18 Oct 2026. Sample basket and promotions. No bank affiliation.</a:t>
            </a:r>
          </a:p>
        </p:txBody>
      </p:sp>
      <p:sp>
        <p:nvSpPr>
          <p:cNvPr id="4" name="Slide number">
            <a:extLst>
              <a:ext uri="{FF2B5EF4-FFF2-40B4-BE49-F238E27FC236}">
                <a16:creationId xmlns:a16="http://schemas.microsoft.com/office/drawing/2014/main" id="{E5B56356-DDE4-0D30-7556-D11EEBD129D3}"/>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5</a:t>
            </a:r>
          </a:p>
        </p:txBody>
      </p:sp>
      <p:sp>
        <p:nvSpPr>
          <p:cNvPr id="5" name="Offer subtitle">
            <a:extLst>
              <a:ext uri="{FF2B5EF4-FFF2-40B4-BE49-F238E27FC236}">
                <a16:creationId xmlns:a16="http://schemas.microsoft.com/office/drawing/2014/main" id="{DA159A01-C34E-D3D5-E688-E6F810117385}"/>
              </a:ext>
            </a:extLst>
          </p:cNvPr>
          <p:cNvSpPr txBox="1"/>
          <p:nvPr/>
        </p:nvSpPr>
        <p:spPr>
          <a:xfrm>
            <a:off x="609600" y="1638299"/>
            <a:ext cx="10972800" cy="457200"/>
          </a:xfrm>
          <a:prstGeom prst="rect">
            <a:avLst/>
          </a:prstGeom>
          <a:noFill/>
        </p:spPr>
        <p:txBody>
          <a:bodyPr vert="horz" wrap="square" lIns="0" tIns="0" rIns="0" bIns="0" rtlCol="0">
            <a:noAutofit/>
          </a:bodyPr>
          <a:lstStyle/>
          <a:p>
            <a:r>
              <a:rPr lang="en-US" sz="2100">
                <a:solidFill>
                  <a:srgbClr val="1D1D1B"/>
                </a:solidFill>
                <a:latin typeface="Segoe UI" panose="020B0502040204020203" pitchFamily="34" charset="0"/>
              </a:rPr>
              <a:t>Published offer: 10% off on Total Bill every Saturday</a:t>
            </a:r>
          </a:p>
        </p:txBody>
      </p:sp>
      <p:sp>
        <p:nvSpPr>
          <p:cNvPr id="6" name="Headline payout label">
            <a:extLst>
              <a:ext uri="{FF2B5EF4-FFF2-40B4-BE49-F238E27FC236}">
                <a16:creationId xmlns:a16="http://schemas.microsoft.com/office/drawing/2014/main" id="{00EBFE2F-51A3-1C37-EAC3-A3B58EC6D635}"/>
              </a:ext>
            </a:extLst>
          </p:cNvPr>
          <p:cNvSpPr txBox="1"/>
          <p:nvPr/>
        </p:nvSpPr>
        <p:spPr>
          <a:xfrm>
            <a:off x="609600" y="2438399"/>
            <a:ext cx="5080000" cy="406400"/>
          </a:xfrm>
          <a:prstGeom prst="rect">
            <a:avLst/>
          </a:prstGeom>
          <a:noFill/>
        </p:spPr>
        <p:txBody>
          <a:bodyPr vert="horz" wrap="square" lIns="0" tIns="0" rIns="0" bIns="0" rtlCol="0">
            <a:noAutofit/>
          </a:bodyPr>
          <a:lstStyle/>
          <a:p>
            <a:r>
              <a:rPr lang="en-US" sz="2000">
                <a:solidFill>
                  <a:srgbClr val="5C5C57"/>
                </a:solidFill>
                <a:latin typeface="Segoe UI" panose="020B0502040204020203" pitchFamily="34" charset="0"/>
              </a:rPr>
              <a:t>Headline arithmetic</a:t>
            </a:r>
          </a:p>
        </p:txBody>
      </p:sp>
      <p:sp>
        <p:nvSpPr>
          <p:cNvPr id="7" name="Headline payout">
            <a:extLst>
              <a:ext uri="{FF2B5EF4-FFF2-40B4-BE49-F238E27FC236}">
                <a16:creationId xmlns:a16="http://schemas.microsoft.com/office/drawing/2014/main" id="{D2196B0B-A334-5AB7-306E-A7CA2984AB75}"/>
              </a:ext>
            </a:extLst>
          </p:cNvPr>
          <p:cNvSpPr txBox="1"/>
          <p:nvPr/>
        </p:nvSpPr>
        <p:spPr>
          <a:xfrm>
            <a:off x="609600" y="2971799"/>
            <a:ext cx="5207000" cy="1054100"/>
          </a:xfrm>
          <a:prstGeom prst="rect">
            <a:avLst/>
          </a:prstGeom>
          <a:noFill/>
        </p:spPr>
        <p:txBody>
          <a:bodyPr vert="horz" wrap="square" lIns="0" tIns="0" rIns="0" bIns="0" rtlCol="0">
            <a:noAutofit/>
          </a:bodyPr>
          <a:lstStyle/>
          <a:p>
            <a:r>
              <a:rPr lang="en-US" sz="5700" b="1">
                <a:solidFill>
                  <a:srgbClr val="5C5C57"/>
                </a:solidFill>
                <a:latin typeface="Segoe UI" panose="020B0502040204020203" pitchFamily="34" charset="0"/>
              </a:rPr>
              <a:t>LKR 593</a:t>
            </a:r>
          </a:p>
        </p:txBody>
      </p:sp>
      <p:sp>
        <p:nvSpPr>
          <p:cNvPr id="8" name="Actual payout label">
            <a:extLst>
              <a:ext uri="{FF2B5EF4-FFF2-40B4-BE49-F238E27FC236}">
                <a16:creationId xmlns:a16="http://schemas.microsoft.com/office/drawing/2014/main" id="{654E2518-41B5-5CA5-F115-57DCE5D7A5A9}"/>
              </a:ext>
            </a:extLst>
          </p:cNvPr>
          <p:cNvSpPr txBox="1"/>
          <p:nvPr/>
        </p:nvSpPr>
        <p:spPr>
          <a:xfrm>
            <a:off x="6731000" y="2438399"/>
            <a:ext cx="4851400" cy="406400"/>
          </a:xfrm>
          <a:prstGeom prst="rect">
            <a:avLst/>
          </a:prstGeom>
          <a:noFill/>
        </p:spPr>
        <p:txBody>
          <a:bodyPr vert="horz" wrap="square" lIns="0" tIns="0" rIns="0" bIns="0" rtlCol="0">
            <a:noAutofit/>
          </a:bodyPr>
          <a:lstStyle/>
          <a:p>
            <a:r>
              <a:rPr lang="en-US" sz="2000">
                <a:solidFill>
                  <a:srgbClr val="8A4B00"/>
                </a:solidFill>
                <a:latin typeface="Segoe UI" panose="020B0502040204020203" pitchFamily="34" charset="0"/>
              </a:rPr>
              <a:t>Modeled card payout</a:t>
            </a:r>
          </a:p>
        </p:txBody>
      </p:sp>
      <p:sp>
        <p:nvSpPr>
          <p:cNvPr id="9" name="Actual payout">
            <a:extLst>
              <a:ext uri="{FF2B5EF4-FFF2-40B4-BE49-F238E27FC236}">
                <a16:creationId xmlns:a16="http://schemas.microsoft.com/office/drawing/2014/main" id="{A69E78EC-395B-5EE3-B12B-E1F7EFEF5C06}"/>
              </a:ext>
            </a:extLst>
          </p:cNvPr>
          <p:cNvSpPr txBox="1"/>
          <p:nvPr/>
        </p:nvSpPr>
        <p:spPr>
          <a:xfrm>
            <a:off x="6731000" y="2971799"/>
            <a:ext cx="4851400" cy="1054100"/>
          </a:xfrm>
          <a:prstGeom prst="rect">
            <a:avLst/>
          </a:prstGeom>
          <a:noFill/>
        </p:spPr>
        <p:txBody>
          <a:bodyPr vert="horz" wrap="square" lIns="0" tIns="0" rIns="0" bIns="0" rtlCol="0">
            <a:noAutofit/>
          </a:bodyPr>
          <a:lstStyle/>
          <a:p>
            <a:r>
              <a:rPr lang="en-US" sz="5700" b="1">
                <a:solidFill>
                  <a:srgbClr val="8A4B00"/>
                </a:solidFill>
                <a:latin typeface="Segoe UI" panose="020B0502040204020203" pitchFamily="34" charset="0"/>
              </a:rPr>
              <a:t>LKR 0</a:t>
            </a:r>
          </a:p>
        </p:txBody>
      </p:sp>
      <p:cxnSp>
        <p:nvCxnSpPr>
          <p:cNvPr id="10" name="Comparison divider">
            <a:extLst>
              <a:ext uri="{FF2B5EF4-FFF2-40B4-BE49-F238E27FC236}">
                <a16:creationId xmlns:a16="http://schemas.microsoft.com/office/drawing/2014/main" id="{C1962A40-E2F3-115F-4F7A-8D7F64E34E4E}"/>
              </a:ext>
            </a:extLst>
          </p:cNvPr>
          <p:cNvCxnSpPr/>
          <p:nvPr/>
        </p:nvCxnSpPr>
        <p:spPr>
          <a:xfrm>
            <a:off x="6134100" y="2374900"/>
            <a:ext cx="0" cy="1714500"/>
          </a:xfrm>
          <a:prstGeom prst="line">
            <a:avLst/>
          </a:prstGeom>
          <a:ln w="19050">
            <a:solidFill>
              <a:srgbClr val="D9D9D3"/>
            </a:solidFill>
          </a:ln>
        </p:spPr>
        <p:style>
          <a:lnRef idx="2">
            <a:schemeClr val="accent1"/>
          </a:lnRef>
          <a:fillRef idx="0">
            <a:schemeClr val="accent1"/>
          </a:fillRef>
          <a:effectRef idx="1">
            <a:schemeClr val="accent1"/>
          </a:effectRef>
          <a:fontRef idx="minor">
            <a:schemeClr val="tx1"/>
          </a:fontRef>
        </p:style>
      </p:cxnSp>
      <p:sp>
        <p:nvSpPr>
          <p:cNvPr id="11" name="Offer verdict">
            <a:extLst>
              <a:ext uri="{FF2B5EF4-FFF2-40B4-BE49-F238E27FC236}">
                <a16:creationId xmlns:a16="http://schemas.microsoft.com/office/drawing/2014/main" id="{8E7E1ABC-2AFD-23B0-3759-55A5729B7167}"/>
              </a:ext>
            </a:extLst>
          </p:cNvPr>
          <p:cNvSpPr txBox="1"/>
          <p:nvPr/>
        </p:nvSpPr>
        <p:spPr>
          <a:xfrm>
            <a:off x="609600" y="4444999"/>
            <a:ext cx="10972800" cy="533400"/>
          </a:xfrm>
          <a:prstGeom prst="rect">
            <a:avLst/>
          </a:prstGeom>
          <a:noFill/>
        </p:spPr>
        <p:txBody>
          <a:bodyPr vert="horz" wrap="square" lIns="0" tIns="0" rIns="0" bIns="0" rtlCol="0">
            <a:noAutofit/>
          </a:bodyPr>
          <a:lstStyle/>
          <a:p>
            <a:r>
              <a:rPr lang="en-US" sz="2600" b="1">
                <a:solidFill>
                  <a:srgbClr val="1D1D1B"/>
                </a:solidFill>
                <a:latin typeface="Segoe UI" panose="020B0502040204020203" pitchFamily="34" charset="0"/>
              </a:rPr>
              <a:t>The basket misses the minimum by LKR 2,475</a:t>
            </a:r>
          </a:p>
        </p:txBody>
      </p:sp>
      <p:sp>
        <p:nvSpPr>
          <p:cNvPr id="12" name="Offer supporting facts">
            <a:extLst>
              <a:ext uri="{FF2B5EF4-FFF2-40B4-BE49-F238E27FC236}">
                <a16:creationId xmlns:a16="http://schemas.microsoft.com/office/drawing/2014/main" id="{78FF7394-EDC3-BE22-B4A8-105DE3BBFB87}"/>
              </a:ext>
            </a:extLst>
          </p:cNvPr>
          <p:cNvSpPr txBox="1"/>
          <p:nvPr/>
        </p:nvSpPr>
        <p:spPr>
          <a:xfrm>
            <a:off x="609600" y="5194299"/>
            <a:ext cx="10972800" cy="8382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LKR 5,525 bill after store promotions, against an LKR 8,000 minimum.
Six promoted lines cannot combine with this offer.</a:t>
            </a:r>
          </a:p>
        </p:txBody>
      </p:sp>
    </p:spTree>
    <p:extLst>
      <p:ext uri="{BB962C8B-B14F-4D97-AF65-F5344CB8AC3E}">
        <p14:creationId xmlns:p14="http://schemas.microsoft.com/office/powerpoint/2010/main" val="43069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FC7ABCB2-0A94-1CA5-A789-50C555FDDB76}"/>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The extra trip must earn its cost</a:t>
            </a:r>
          </a:p>
        </p:txBody>
      </p:sp>
      <p:sp>
        <p:nvSpPr>
          <p:cNvPr id="3" name="Source and disclosure">
            <a:extLst>
              <a:ext uri="{FF2B5EF4-FFF2-40B4-BE49-F238E27FC236}">
                <a16:creationId xmlns:a16="http://schemas.microsoft.com/office/drawing/2014/main" id="{522BDD86-AAEC-E4ED-ADEF-59ED9E1B61D1}"/>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Simulated default basket, before adding the sample receipt. Trip estimate LKR 250. Whole-rupee amounts.</a:t>
            </a:r>
          </a:p>
        </p:txBody>
      </p:sp>
      <p:sp>
        <p:nvSpPr>
          <p:cNvPr id="4" name="Slide number">
            <a:extLst>
              <a:ext uri="{FF2B5EF4-FFF2-40B4-BE49-F238E27FC236}">
                <a16:creationId xmlns:a16="http://schemas.microsoft.com/office/drawing/2014/main" id="{9851EFC5-E8E1-B6B0-8926-84C157F0C70D}"/>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6</a:t>
            </a:r>
          </a:p>
        </p:txBody>
      </p:sp>
      <p:graphicFrame>
        <p:nvGraphicFramePr>
          <p:cNvPr id="5" name="Editable shopping-cost chart"/>
          <p:cNvGraphicFramePr>
            <a:graphicFrameLocks noGrp="1"/>
          </p:cNvGraphicFramePr>
          <p:nvPr/>
        </p:nvGraphicFramePr>
        <p:xfrm>
          <a:off x="381000" y="1752600"/>
          <a:ext cx="781050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6" name="Incremental split saving">
            <a:extLst>
              <a:ext uri="{FF2B5EF4-FFF2-40B4-BE49-F238E27FC236}">
                <a16:creationId xmlns:a16="http://schemas.microsoft.com/office/drawing/2014/main" id="{E4519FA7-FE9F-B365-7483-5FFA262A1AEB}"/>
              </a:ext>
            </a:extLst>
          </p:cNvPr>
          <p:cNvSpPr txBox="1"/>
          <p:nvPr/>
        </p:nvSpPr>
        <p:spPr>
          <a:xfrm>
            <a:off x="8585200" y="2031999"/>
            <a:ext cx="2997200" cy="825500"/>
          </a:xfrm>
          <a:prstGeom prst="rect">
            <a:avLst/>
          </a:prstGeom>
          <a:noFill/>
        </p:spPr>
        <p:txBody>
          <a:bodyPr vert="horz" wrap="square" lIns="0" tIns="0" rIns="0" bIns="0" rtlCol="0">
            <a:noAutofit/>
          </a:bodyPr>
          <a:lstStyle/>
          <a:p>
            <a:r>
              <a:rPr lang="en-US" sz="4300" b="1">
                <a:solidFill>
                  <a:srgbClr val="0B6E4F"/>
                </a:solidFill>
                <a:latin typeface="Segoe UI" panose="020B0502040204020203" pitchFamily="34" charset="0"/>
              </a:rPr>
              <a:t>LKR 63</a:t>
            </a:r>
          </a:p>
        </p:txBody>
      </p:sp>
      <p:sp>
        <p:nvSpPr>
          <p:cNvPr id="7" name="Incremental split caption">
            <a:extLst>
              <a:ext uri="{FF2B5EF4-FFF2-40B4-BE49-F238E27FC236}">
                <a16:creationId xmlns:a16="http://schemas.microsoft.com/office/drawing/2014/main" id="{19E4A1B9-9491-517F-73BF-E212A7720F9C}"/>
              </a:ext>
            </a:extLst>
          </p:cNvPr>
          <p:cNvSpPr txBox="1"/>
          <p:nvPr/>
        </p:nvSpPr>
        <p:spPr>
          <a:xfrm>
            <a:off x="8585200" y="2920999"/>
            <a:ext cx="2997200" cy="812800"/>
          </a:xfrm>
          <a:prstGeom prst="rect">
            <a:avLst/>
          </a:prstGeom>
          <a:noFill/>
        </p:spPr>
        <p:txBody>
          <a:bodyPr vert="horz" wrap="square" lIns="0" tIns="0" rIns="0" bIns="0" rtlCol="0">
            <a:noAutofit/>
          </a:bodyPr>
          <a:lstStyle/>
          <a:p>
            <a:r>
              <a:rPr lang="en-US" sz="2000">
                <a:solidFill>
                  <a:srgbClr val="1D1D1B"/>
                </a:solidFill>
                <a:latin typeface="Segoe UI" panose="020B0502040204020203" pitchFamily="34" charset="0"/>
              </a:rPr>
              <a:t>extra saving over the best single store</a:t>
            </a:r>
          </a:p>
        </p:txBody>
      </p:sp>
      <p:sp>
        <p:nvSpPr>
          <p:cNvPr id="8" name="Trip sensitivity">
            <a:extLst>
              <a:ext uri="{FF2B5EF4-FFF2-40B4-BE49-F238E27FC236}">
                <a16:creationId xmlns:a16="http://schemas.microsoft.com/office/drawing/2014/main" id="{442692BB-A62C-1FDD-F0F6-7388FCD8B92C}"/>
              </a:ext>
            </a:extLst>
          </p:cNvPr>
          <p:cNvSpPr txBox="1"/>
          <p:nvPr/>
        </p:nvSpPr>
        <p:spPr>
          <a:xfrm>
            <a:off x="8585200" y="4279899"/>
            <a:ext cx="2997200" cy="1270000"/>
          </a:xfrm>
          <a:prstGeom prst="rect">
            <a:avLst/>
          </a:prstGeom>
          <a:noFill/>
        </p:spPr>
        <p:txBody>
          <a:bodyPr vert="horz" wrap="square" lIns="0" tIns="0" rIns="0" bIns="0" rtlCol="0">
            <a:noAutofit/>
          </a:bodyPr>
          <a:lstStyle/>
          <a:p>
            <a:r>
              <a:rPr lang="en-US" sz="2000">
                <a:solidFill>
                  <a:srgbClr val="1D1D1B"/>
                </a:solidFill>
                <a:latin typeface="Segoe UI" panose="020B0502040204020203" pitchFamily="34" charset="0"/>
              </a:rPr>
              <a:t>At LKR 320 per extra trip, Cargills alone wins at LKR 4,667.</a:t>
            </a:r>
          </a:p>
        </p:txBody>
      </p:sp>
      <p:sp>
        <p:nvSpPr>
          <p:cNvPr id="9" name="Headline comparison">
            <a:extLst>
              <a:ext uri="{FF2B5EF4-FFF2-40B4-BE49-F238E27FC236}">
                <a16:creationId xmlns:a16="http://schemas.microsoft.com/office/drawing/2014/main" id="{98764B1B-9871-60F5-4716-B8365346C477}"/>
              </a:ext>
            </a:extLst>
          </p:cNvPr>
          <p:cNvSpPr txBox="1"/>
          <p:nvPr/>
        </p:nvSpPr>
        <p:spPr>
          <a:xfrm>
            <a:off x="609600" y="5867399"/>
            <a:ext cx="10972800" cy="381000"/>
          </a:xfrm>
          <a:prstGeom prst="rect">
            <a:avLst/>
          </a:prstGeom>
          <a:noFill/>
        </p:spPr>
        <p:txBody>
          <a:bodyPr vert="horz" wrap="square" lIns="0" tIns="0" rIns="0" bIns="0" rtlCol="0">
            <a:noAutofit/>
          </a:bodyPr>
          <a:lstStyle/>
          <a:p>
            <a:r>
              <a:rPr lang="en-US" sz="1700">
                <a:solidFill>
                  <a:srgbClr val="8A4B00"/>
                </a:solidFill>
                <a:latin typeface="Segoe UI" panose="020B0502040204020203" pitchFamily="34" charset="0"/>
              </a:rPr>
              <a:t>LKR 1,328 below the shelf baseline. Every saving here is simulated.</a:t>
            </a:r>
          </a:p>
        </p:txBody>
      </p:sp>
    </p:spTree>
    <p:extLst>
      <p:ext uri="{BB962C8B-B14F-4D97-AF65-F5344CB8AC3E}">
        <p14:creationId xmlns:p14="http://schemas.microsoft.com/office/powerpoint/2010/main" val="2239100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02E3A04C-C911-D120-3CA4-E676B2EE170C}"/>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Gemini reads the inputs. Code prices the basket.</a:t>
            </a:r>
          </a:p>
        </p:txBody>
      </p:sp>
      <p:sp>
        <p:nvSpPr>
          <p:cNvPr id="3" name="Source and disclosure">
            <a:extLst>
              <a:ext uri="{FF2B5EF4-FFF2-40B4-BE49-F238E27FC236}">
                <a16:creationId xmlns:a16="http://schemas.microsoft.com/office/drawing/2014/main" id="{1A5A03EE-FAE4-8F24-3DD0-42481B45329E}"/>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Implemented integration paths. Live Gemini checked 18 Oct 2026: the Why answer about 30 seconds, offer reading about 7 seconds; accuracy sampling is ongoing.</a:t>
            </a:r>
          </a:p>
        </p:txBody>
      </p:sp>
      <p:sp>
        <p:nvSpPr>
          <p:cNvPr id="4" name="Slide number">
            <a:extLst>
              <a:ext uri="{FF2B5EF4-FFF2-40B4-BE49-F238E27FC236}">
                <a16:creationId xmlns:a16="http://schemas.microsoft.com/office/drawing/2014/main" id="{400CD40F-F20A-7CE7-BCF9-12D8E3A9B91F}"/>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7</a:t>
            </a:r>
          </a:p>
        </p:txBody>
      </p:sp>
      <p:graphicFrame>
        <p:nvGraphicFramePr>
          <p:cNvPr id="5" name="Editable evidence table">
            <a:extLst>
              <a:ext uri="{FF2B5EF4-FFF2-40B4-BE49-F238E27FC236}">
                <a16:creationId xmlns:a16="http://schemas.microsoft.com/office/drawing/2014/main" id="{ECB33FE4-02B2-4C15-328A-209C5E9A72E0}"/>
              </a:ext>
            </a:extLst>
          </p:cNvPr>
          <p:cNvGraphicFramePr>
            <a:graphicFrameLocks noGrp="1"/>
          </p:cNvGraphicFramePr>
          <p:nvPr>
            <p:extLst>
              <p:ext uri="{D42A27DB-BD31-4B8C-83A1-F6EECF244321}">
                <p14:modId xmlns:p14="http://schemas.microsoft.com/office/powerpoint/2010/main" val="2725927154"/>
              </p:ext>
            </p:extLst>
          </p:nvPr>
        </p:nvGraphicFramePr>
        <p:xfrm>
          <a:off x="609600" y="1816100"/>
          <a:ext cx="10972800" cy="2938780"/>
        </p:xfrm>
        <a:graphic>
          <a:graphicData uri="http://schemas.openxmlformats.org/drawingml/2006/table">
            <a:tbl>
              <a:tblPr firstRow="1" bandRow="1">
                <a:tableStyleId>{5C22544A-7EE6-4342-B048-85BDC9FD1C3A}</a:tableStyleId>
              </a:tblPr>
              <a:tblGrid>
                <a:gridCol w="3937000">
                  <a:extLst>
                    <a:ext uri="{9D8B030D-6E8A-4147-A177-3AD203B41FA5}">
                      <a16:colId xmlns:a16="http://schemas.microsoft.com/office/drawing/2014/main" val="334195398"/>
                    </a:ext>
                  </a:extLst>
                </a:gridCol>
                <a:gridCol w="7035800">
                  <a:extLst>
                    <a:ext uri="{9D8B030D-6E8A-4147-A177-3AD203B41FA5}">
                      <a16:colId xmlns:a16="http://schemas.microsoft.com/office/drawing/2014/main" val="1412182220"/>
                    </a:ext>
                  </a:extLst>
                </a:gridCol>
              </a:tblGrid>
              <a:tr h="730250">
                <a:tc>
                  <a:txBody>
                    <a:bodyPr/>
                    <a:lstStyle/>
                    <a:p>
                      <a:r>
                        <a:rPr lang="en-US" sz="1800" b="1">
                          <a:solidFill>
                            <a:srgbClr val="1D1D1B"/>
                          </a:solidFill>
                          <a:latin typeface="Segoe UI" panose="020B0502040204020203" pitchFamily="34" charset="0"/>
                        </a:rPr>
                        <a:t>Gemini understands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E3F1EC"/>
                    </a:solidFill>
                  </a:tcPr>
                </a:tc>
                <a:tc>
                  <a:txBody>
                    <a:bodyPr/>
                    <a:lstStyle/>
                    <a:p>
                      <a:r>
                        <a:rPr lang="en-US" sz="1800" b="1">
                          <a:solidFill>
                            <a:srgbClr val="1D1D1B"/>
                          </a:solidFill>
                          <a:latin typeface="Segoe UI" panose="020B0502040204020203" pitchFamily="34" charset="0"/>
                        </a:rPr>
                        <a:t>The application checks and acts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E3F1EC"/>
                    </a:solidFill>
                  </a:tcPr>
                </a:tc>
                <a:extLst>
                  <a:ext uri="{0D108BD9-81ED-4DB2-BD59-A6C34878D82A}">
                    <a16:rowId xmlns:a16="http://schemas.microsoft.com/office/drawing/2014/main" val="3842354929"/>
                  </a:ext>
                </a:extLst>
              </a:tr>
              <a:tr h="730250">
                <a:tc>
                  <a:txBody>
                    <a:bodyPr/>
                    <a:lstStyle/>
                    <a:p>
                      <a:r>
                        <a:rPr lang="en-US" sz="1800" b="0">
                          <a:solidFill>
                            <a:srgbClr val="1D1D1B"/>
                          </a:solidFill>
                          <a:latin typeface="Segoe UI" panose="020B0502040204020203" pitchFamily="34" charset="0"/>
                        </a:rPr>
                        <a:t>Receipt photo</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800" b="0">
                          <a:solidFill>
                            <a:srgbClr val="1D1D1B"/>
                          </a:solidFill>
                          <a:latin typeface="Segoe UI" panose="020B0502040204020203" pitchFamily="34" charset="0"/>
                        </a:rPr>
                        <a:t>Catalog SKU, decimal quantity and confidence; update session history</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3761623187"/>
                  </a:ext>
                </a:extLst>
              </a:tr>
              <a:tr h="730250">
                <a:tc>
                  <a:txBody>
                    <a:bodyPr/>
                    <a:lstStyle/>
                    <a:p>
                      <a:r>
                        <a:rPr lang="en-US" sz="1800" b="0">
                          <a:solidFill>
                            <a:srgbClr val="1D1D1B"/>
                          </a:solidFill>
                          <a:latin typeface="Segoe UI" panose="020B0502040204020203" pitchFamily="34" charset="0"/>
                        </a:rPr>
                        <a:t>Offer text or screenshot</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800" b="0">
                          <a:solidFill>
                            <a:srgbClr val="1D1D1B"/>
                          </a:solidFill>
                          <a:latin typeface="Segoe UI" panose="020B0502040204020203" pitchFamily="34" charset="0"/>
                        </a:rPr>
                        <a:t>Structured rate, dates, exclusions, minimum, cap and combining rules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886591067"/>
                  </a:ext>
                </a:extLst>
              </a:tr>
              <a:tr h="730250">
                <a:tc>
                  <a:txBody>
                    <a:bodyPr/>
                    <a:lstStyle/>
                    <a:p>
                      <a:r>
                        <a:rPr lang="en-US" sz="1800" b="0">
                          <a:solidFill>
                            <a:srgbClr val="1D1D1B"/>
                          </a:solidFill>
                          <a:latin typeface="Segoe UI" panose="020B0502040204020203" pitchFamily="34" charset="0"/>
                        </a:rPr>
                        <a:t>Shopper question</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800" b="0">
                          <a:solidFill>
                            <a:srgbClr val="1D1D1B"/>
                          </a:solidFill>
                          <a:latin typeface="Segoe UI" panose="020B0502040204020203" pitchFamily="34" charset="0"/>
                        </a:rPr>
                        <a:t>ADK tools compare plans or check an offer against the basket</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3403557351"/>
                  </a:ext>
                </a:extLst>
              </a:tr>
            </a:tbl>
          </a:graphicData>
        </a:graphic>
      </p:graphicFrame>
      <p:sp>
        <p:nvSpPr>
          <p:cNvPr id="6" name="Human review">
            <a:extLst>
              <a:ext uri="{FF2B5EF4-FFF2-40B4-BE49-F238E27FC236}">
                <a16:creationId xmlns:a16="http://schemas.microsoft.com/office/drawing/2014/main" id="{DB0B0B14-4930-0206-0226-B7268E485671}"/>
              </a:ext>
            </a:extLst>
          </p:cNvPr>
          <p:cNvSpPr txBox="1"/>
          <p:nvPr/>
        </p:nvSpPr>
        <p:spPr>
          <a:xfrm>
            <a:off x="609600" y="5092699"/>
            <a:ext cx="10972800" cy="431800"/>
          </a:xfrm>
          <a:prstGeom prst="rect">
            <a:avLst/>
          </a:prstGeom>
          <a:noFill/>
        </p:spPr>
        <p:txBody>
          <a:bodyPr vert="horz" wrap="square" lIns="0" tIns="0" rIns="0" bIns="0" rtlCol="0">
            <a:noAutofit/>
          </a:bodyPr>
          <a:lstStyle/>
          <a:p>
            <a:r>
              <a:rPr lang="en-US" sz="2300" b="1">
                <a:solidFill>
                  <a:srgbClr val="0B6E4F"/>
                </a:solidFill>
                <a:latin typeface="Segoe UI" panose="020B0502040204020203" pitchFamily="34" charset="0"/>
              </a:rPr>
              <a:t>Shoppers can review and correct extracted terms</a:t>
            </a:r>
          </a:p>
        </p:txBody>
      </p:sp>
      <p:sp>
        <p:nvSpPr>
          <p:cNvPr id="7" name="Deterministic boundary">
            <a:extLst>
              <a:ext uri="{FF2B5EF4-FFF2-40B4-BE49-F238E27FC236}">
                <a16:creationId xmlns:a16="http://schemas.microsoft.com/office/drawing/2014/main" id="{73A394D8-757B-2E12-5360-095AE6A4F715}"/>
              </a:ext>
            </a:extLst>
          </p:cNvPr>
          <p:cNvSpPr txBox="1"/>
          <p:nvPr/>
        </p:nvSpPr>
        <p:spPr>
          <a:xfrm>
            <a:off x="609600" y="5676899"/>
            <a:ext cx="10972800" cy="5588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The pantry estimates purchase timing. OR-Tools CP-SAT calculates store assignment and cost.</a:t>
            </a:r>
          </a:p>
        </p:txBody>
      </p:sp>
    </p:spTree>
    <p:extLst>
      <p:ext uri="{BB962C8B-B14F-4D97-AF65-F5344CB8AC3E}">
        <p14:creationId xmlns:p14="http://schemas.microsoft.com/office/powerpoint/2010/main" val="948394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753909-AAA5-EF5F-2753-95F167FDBE96}"/>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Google Cloud deployment architecture</a:t>
            </a:r>
          </a:p>
        </p:txBody>
      </p:sp>
      <p:sp>
        <p:nvSpPr>
          <p:cNvPr id="3" name="Source and disclosure">
            <a:extLst>
              <a:ext uri="{FF2B5EF4-FFF2-40B4-BE49-F238E27FC236}">
                <a16:creationId xmlns:a16="http://schemas.microsoft.com/office/drawing/2014/main" id="{78A5B650-CF79-2DD7-8060-D152D40A667C}"/>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Deployed on Cloud Run (asia-southeast1, scale to zero). ADK runs inside the application container; no separate Agent Engine deployment.</a:t>
            </a:r>
          </a:p>
        </p:txBody>
      </p:sp>
      <p:sp>
        <p:nvSpPr>
          <p:cNvPr id="4" name="Slide number">
            <a:extLst>
              <a:ext uri="{FF2B5EF4-FFF2-40B4-BE49-F238E27FC236}">
                <a16:creationId xmlns:a16="http://schemas.microsoft.com/office/drawing/2014/main" id="{E8BAF44C-DF8C-8005-97E7-6524180FE785}"/>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8</a:t>
            </a:r>
          </a:p>
        </p:txBody>
      </p:sp>
      <p:sp>
        <p:nvSpPr>
          <p:cNvPr id="5" name="Cloud Run boundary">
            <a:extLst>
              <a:ext uri="{FF2B5EF4-FFF2-40B4-BE49-F238E27FC236}">
                <a16:creationId xmlns:a16="http://schemas.microsoft.com/office/drawing/2014/main" id="{AEFDED30-89A8-44DE-FD7F-E1ADD8F022DB}"/>
              </a:ext>
            </a:extLst>
          </p:cNvPr>
          <p:cNvSpPr/>
          <p:nvPr/>
        </p:nvSpPr>
        <p:spPr>
          <a:xfrm>
            <a:off x="2832100" y="1676400"/>
            <a:ext cx="5930900" cy="4267200"/>
          </a:xfrm>
          <a:prstGeom prst="rect">
            <a:avLst/>
          </a:prstGeom>
          <a:solidFill>
            <a:srgbClr val="FFFFFF"/>
          </a:solidFill>
          <a:ln w="12700">
            <a:solidFill>
              <a:srgbClr val="0B6E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loud Run label">
            <a:extLst>
              <a:ext uri="{FF2B5EF4-FFF2-40B4-BE49-F238E27FC236}">
                <a16:creationId xmlns:a16="http://schemas.microsoft.com/office/drawing/2014/main" id="{C67B39DE-E448-0FF0-0859-158AD1623535}"/>
              </a:ext>
            </a:extLst>
          </p:cNvPr>
          <p:cNvSpPr txBox="1"/>
          <p:nvPr/>
        </p:nvSpPr>
        <p:spPr>
          <a:xfrm>
            <a:off x="3111500" y="1879599"/>
            <a:ext cx="5334000" cy="406400"/>
          </a:xfrm>
          <a:prstGeom prst="rect">
            <a:avLst/>
          </a:prstGeom>
          <a:noFill/>
        </p:spPr>
        <p:txBody>
          <a:bodyPr vert="horz" wrap="square" lIns="0" tIns="0" rIns="0" bIns="0" rtlCol="0">
            <a:noAutofit/>
          </a:bodyPr>
          <a:lstStyle/>
          <a:p>
            <a:r>
              <a:rPr lang="en-US" sz="2400" b="1">
                <a:solidFill>
                  <a:srgbClr val="0B6E4F"/>
                </a:solidFill>
                <a:latin typeface="Segoe UI" panose="020B0502040204020203" pitchFamily="34" charset="0"/>
              </a:rPr>
              <a:t>Cloud Run</a:t>
            </a:r>
          </a:p>
        </p:txBody>
      </p:sp>
      <p:sp>
        <p:nvSpPr>
          <p:cNvPr id="7" name="FastAPI layer">
            <a:extLst>
              <a:ext uri="{FF2B5EF4-FFF2-40B4-BE49-F238E27FC236}">
                <a16:creationId xmlns:a16="http://schemas.microsoft.com/office/drawing/2014/main" id="{9AA17C63-EDD8-3BD6-4CD1-DB812A40EB45}"/>
              </a:ext>
            </a:extLst>
          </p:cNvPr>
          <p:cNvSpPr txBox="1"/>
          <p:nvPr/>
        </p:nvSpPr>
        <p:spPr>
          <a:xfrm>
            <a:off x="3111500" y="2527299"/>
            <a:ext cx="5334000" cy="3683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FastAPI guest UI and API</a:t>
            </a:r>
          </a:p>
        </p:txBody>
      </p:sp>
      <p:cxnSp>
        <p:nvCxnSpPr>
          <p:cNvPr id="8" name="Container divider">
            <a:extLst>
              <a:ext uri="{FF2B5EF4-FFF2-40B4-BE49-F238E27FC236}">
                <a16:creationId xmlns:a16="http://schemas.microsoft.com/office/drawing/2014/main" id="{9A5763EF-B6CA-7A68-5E59-DDF1A71B2346}"/>
              </a:ext>
            </a:extLst>
          </p:cNvPr>
          <p:cNvCxnSpPr/>
          <p:nvPr/>
        </p:nvCxnSpPr>
        <p:spPr>
          <a:xfrm>
            <a:off x="3111500" y="3048000"/>
            <a:ext cx="5359400" cy="0"/>
          </a:xfrm>
          <a:prstGeom prst="line">
            <a:avLst/>
          </a:prstGeom>
          <a:ln w="19050">
            <a:solidFill>
              <a:srgbClr val="D9D9D3"/>
            </a:solidFill>
          </a:ln>
        </p:spPr>
        <p:style>
          <a:lnRef idx="2">
            <a:schemeClr val="accent1"/>
          </a:lnRef>
          <a:fillRef idx="0">
            <a:schemeClr val="accent1"/>
          </a:fillRef>
          <a:effectRef idx="1">
            <a:schemeClr val="accent1"/>
          </a:effectRef>
          <a:fontRef idx="minor">
            <a:schemeClr val="tx1"/>
          </a:fontRef>
        </p:style>
      </p:cxnSp>
      <p:sp>
        <p:nvSpPr>
          <p:cNvPr id="9" name="Agent layer">
            <a:extLst>
              <a:ext uri="{FF2B5EF4-FFF2-40B4-BE49-F238E27FC236}">
                <a16:creationId xmlns:a16="http://schemas.microsoft.com/office/drawing/2014/main" id="{C37712F7-52A4-B0E0-4D2A-B3194FF3B905}"/>
              </a:ext>
            </a:extLst>
          </p:cNvPr>
          <p:cNvSpPr txBox="1"/>
          <p:nvPr/>
        </p:nvSpPr>
        <p:spPr>
          <a:xfrm>
            <a:off x="3111500" y="3276599"/>
            <a:ext cx="5334000" cy="381000"/>
          </a:xfrm>
          <a:prstGeom prst="rect">
            <a:avLst/>
          </a:prstGeom>
          <a:noFill/>
        </p:spPr>
        <p:txBody>
          <a:bodyPr vert="horz" wrap="square" lIns="0" tIns="0" rIns="0" bIns="0" rtlCol="0">
            <a:noAutofit/>
          </a:bodyPr>
          <a:lstStyle/>
          <a:p>
            <a:r>
              <a:rPr lang="en-US" b="1">
                <a:solidFill>
                  <a:srgbClr val="1D1D1B"/>
                </a:solidFill>
                <a:latin typeface="Segoe UI" panose="020B0502040204020203" pitchFamily="34" charset="0"/>
              </a:rPr>
              <a:t>One ADK agent, six tools and callbacks</a:t>
            </a:r>
          </a:p>
        </p:txBody>
      </p:sp>
      <p:sp>
        <p:nvSpPr>
          <p:cNvPr id="10" name="Engine layer">
            <a:extLst>
              <a:ext uri="{FF2B5EF4-FFF2-40B4-BE49-F238E27FC236}">
                <a16:creationId xmlns:a16="http://schemas.microsoft.com/office/drawing/2014/main" id="{C92CF46A-0BF4-DFC9-B5E7-A8565C8E9760}"/>
              </a:ext>
            </a:extLst>
          </p:cNvPr>
          <p:cNvSpPr txBox="1"/>
          <p:nvPr/>
        </p:nvSpPr>
        <p:spPr>
          <a:xfrm>
            <a:off x="3111500" y="3873499"/>
            <a:ext cx="5334000" cy="850900"/>
          </a:xfrm>
          <a:prstGeom prst="rect">
            <a:avLst/>
          </a:prstGeom>
          <a:noFill/>
        </p:spPr>
        <p:txBody>
          <a:bodyPr vert="horz" wrap="square" lIns="0" tIns="0" rIns="0" bIns="0" rtlCol="0">
            <a:noAutofit/>
          </a:bodyPr>
          <a:lstStyle/>
          <a:p>
            <a:r>
              <a:rPr lang="en-US">
                <a:solidFill>
                  <a:srgbClr val="1D1D1B"/>
                </a:solidFill>
                <a:latin typeface="Segoe UI" panose="020B0502040204020203" pitchFamily="34" charset="0"/>
              </a:rPr>
              <a:t>Pantry cadence engine
OR-Tools CP-SAT shopping planner</a:t>
            </a:r>
          </a:p>
        </p:txBody>
      </p:sp>
      <p:sp>
        <p:nvSpPr>
          <p:cNvPr id="11" name="Data layer">
            <a:extLst>
              <a:ext uri="{FF2B5EF4-FFF2-40B4-BE49-F238E27FC236}">
                <a16:creationId xmlns:a16="http://schemas.microsoft.com/office/drawing/2014/main" id="{4AEE761D-B37E-4DCB-274F-93AAD102C6D1}"/>
              </a:ext>
            </a:extLst>
          </p:cNvPr>
          <p:cNvSpPr txBox="1"/>
          <p:nvPr/>
        </p:nvSpPr>
        <p:spPr>
          <a:xfrm>
            <a:off x="3111500" y="5092699"/>
            <a:ext cx="5334000" cy="6096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Packaged catalog, offers and history fixtures</a:t>
            </a:r>
          </a:p>
        </p:txBody>
      </p:sp>
      <p:sp>
        <p:nvSpPr>
          <p:cNvPr id="12" name="Browser">
            <a:extLst>
              <a:ext uri="{FF2B5EF4-FFF2-40B4-BE49-F238E27FC236}">
                <a16:creationId xmlns:a16="http://schemas.microsoft.com/office/drawing/2014/main" id="{8EA33F74-4E67-ED1F-718C-6267581C22D2}"/>
              </a:ext>
            </a:extLst>
          </p:cNvPr>
          <p:cNvSpPr txBox="1"/>
          <p:nvPr/>
        </p:nvSpPr>
        <p:spPr>
          <a:xfrm>
            <a:off x="609600" y="3111499"/>
            <a:ext cx="1879600" cy="571500"/>
          </a:xfrm>
          <a:prstGeom prst="rect">
            <a:avLst/>
          </a:prstGeom>
          <a:noFill/>
        </p:spPr>
        <p:txBody>
          <a:bodyPr vert="horz" wrap="square" lIns="0" tIns="0" rIns="0" bIns="0" rtlCol="0">
            <a:noAutofit/>
          </a:bodyPr>
          <a:lstStyle/>
          <a:p>
            <a:r>
              <a:rPr lang="en-US" sz="2100" b="1">
                <a:solidFill>
                  <a:srgbClr val="1D1D1B"/>
                </a:solidFill>
                <a:latin typeface="Segoe UI" panose="020B0502040204020203" pitchFamily="34" charset="0"/>
              </a:rPr>
              <a:t>Guest browser</a:t>
            </a:r>
          </a:p>
        </p:txBody>
      </p:sp>
      <p:sp>
        <p:nvSpPr>
          <p:cNvPr id="13" name="Browser access">
            <a:extLst>
              <a:ext uri="{FF2B5EF4-FFF2-40B4-BE49-F238E27FC236}">
                <a16:creationId xmlns:a16="http://schemas.microsoft.com/office/drawing/2014/main" id="{5FE31F86-7657-23AA-ABD0-51A303D85CD8}"/>
              </a:ext>
            </a:extLst>
          </p:cNvPr>
          <p:cNvSpPr txBox="1"/>
          <p:nvPr/>
        </p:nvSpPr>
        <p:spPr>
          <a:xfrm>
            <a:off x="609600" y="3835399"/>
            <a:ext cx="1879600" cy="3810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No login</a:t>
            </a:r>
          </a:p>
        </p:txBody>
      </p:sp>
      <p:cxnSp>
        <p:nvCxnSpPr>
          <p:cNvPr id="14" name="Browser request">
            <a:extLst>
              <a:ext uri="{FF2B5EF4-FFF2-40B4-BE49-F238E27FC236}">
                <a16:creationId xmlns:a16="http://schemas.microsoft.com/office/drawing/2014/main" id="{A464738F-026D-835B-14C8-94C2B0969C14}"/>
              </a:ext>
            </a:extLst>
          </p:cNvPr>
          <p:cNvCxnSpPr/>
          <p:nvPr/>
        </p:nvCxnSpPr>
        <p:spPr>
          <a:xfrm>
            <a:off x="2159000" y="3517900"/>
            <a:ext cx="647700" cy="0"/>
          </a:xfrm>
          <a:prstGeom prst="line">
            <a:avLst/>
          </a:prstGeom>
          <a:ln w="19050">
            <a:solidFill>
              <a:srgbClr val="0B6E4F"/>
            </a:solidFill>
            <a:tailEnd type="arrow"/>
          </a:ln>
        </p:spPr>
        <p:style>
          <a:lnRef idx="2">
            <a:schemeClr val="accent1"/>
          </a:lnRef>
          <a:fillRef idx="0">
            <a:schemeClr val="accent1"/>
          </a:fillRef>
          <a:effectRef idx="1">
            <a:schemeClr val="accent1"/>
          </a:effectRef>
          <a:fontRef idx="minor">
            <a:schemeClr val="tx1"/>
          </a:fontRef>
        </p:style>
      </p:cxnSp>
      <p:sp>
        <p:nvSpPr>
          <p:cNvPr id="15" name="Gemini service">
            <a:extLst>
              <a:ext uri="{FF2B5EF4-FFF2-40B4-BE49-F238E27FC236}">
                <a16:creationId xmlns:a16="http://schemas.microsoft.com/office/drawing/2014/main" id="{5FDFA786-AC35-0F1E-3494-0C6B66929732}"/>
              </a:ext>
            </a:extLst>
          </p:cNvPr>
          <p:cNvSpPr/>
          <p:nvPr/>
        </p:nvSpPr>
        <p:spPr>
          <a:xfrm>
            <a:off x="9321800" y="2019300"/>
            <a:ext cx="2260600" cy="1422400"/>
          </a:xfrm>
          <a:prstGeom prst="rect">
            <a:avLst/>
          </a:prstGeom>
          <a:solidFill>
            <a:srgbClr val="E3F1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Gemini label">
            <a:extLst>
              <a:ext uri="{FF2B5EF4-FFF2-40B4-BE49-F238E27FC236}">
                <a16:creationId xmlns:a16="http://schemas.microsoft.com/office/drawing/2014/main" id="{FF6E7212-F150-EC4E-4D23-4319D555C413}"/>
              </a:ext>
            </a:extLst>
          </p:cNvPr>
          <p:cNvSpPr txBox="1"/>
          <p:nvPr/>
        </p:nvSpPr>
        <p:spPr>
          <a:xfrm>
            <a:off x="9525000" y="2222499"/>
            <a:ext cx="1854200" cy="431800"/>
          </a:xfrm>
          <a:prstGeom prst="rect">
            <a:avLst/>
          </a:prstGeom>
          <a:noFill/>
        </p:spPr>
        <p:txBody>
          <a:bodyPr vert="horz" wrap="square" lIns="0" tIns="0" rIns="0" bIns="0" rtlCol="0">
            <a:noAutofit/>
          </a:bodyPr>
          <a:lstStyle/>
          <a:p>
            <a:r>
              <a:rPr lang="en-US" sz="2300" b="1">
                <a:solidFill>
                  <a:srgbClr val="0B6E4F"/>
                </a:solidFill>
                <a:latin typeface="Segoe UI" panose="020B0502040204020203" pitchFamily="34" charset="0"/>
              </a:rPr>
              <a:t>Gemini</a:t>
            </a:r>
          </a:p>
        </p:txBody>
      </p:sp>
      <p:sp>
        <p:nvSpPr>
          <p:cNvPr id="17" name="Gemini work">
            <a:extLst>
              <a:ext uri="{FF2B5EF4-FFF2-40B4-BE49-F238E27FC236}">
                <a16:creationId xmlns:a16="http://schemas.microsoft.com/office/drawing/2014/main" id="{143A0017-9D6C-2047-F139-D20837CE5D62}"/>
              </a:ext>
            </a:extLst>
          </p:cNvPr>
          <p:cNvSpPr txBox="1"/>
          <p:nvPr/>
        </p:nvSpPr>
        <p:spPr>
          <a:xfrm>
            <a:off x="9525000" y="2755899"/>
            <a:ext cx="1854200" cy="609600"/>
          </a:xfrm>
          <a:prstGeom prst="rect">
            <a:avLst/>
          </a:prstGeom>
          <a:noFill/>
        </p:spPr>
        <p:txBody>
          <a:bodyPr vert="horz" wrap="square" lIns="0" tIns="0" rIns="0" bIns="0" rtlCol="0">
            <a:noAutofit/>
          </a:bodyPr>
          <a:lstStyle/>
          <a:p>
            <a:r>
              <a:rPr lang="en-US" sz="1500">
                <a:solidFill>
                  <a:srgbClr val="1D1D1B"/>
                </a:solidFill>
                <a:latin typeface="Segoe UI" panose="020B0502040204020203" pitchFamily="34" charset="0"/>
              </a:rPr>
              <a:t>Reads receipts and
offers. Uses tools.</a:t>
            </a:r>
          </a:p>
        </p:txBody>
      </p:sp>
      <p:cxnSp>
        <p:nvCxnSpPr>
          <p:cNvPr id="18" name="Gemini call">
            <a:extLst>
              <a:ext uri="{FF2B5EF4-FFF2-40B4-BE49-F238E27FC236}">
                <a16:creationId xmlns:a16="http://schemas.microsoft.com/office/drawing/2014/main" id="{4605196F-A876-131F-A556-2281A324A373}"/>
              </a:ext>
            </a:extLst>
          </p:cNvPr>
          <p:cNvCxnSpPr/>
          <p:nvPr/>
        </p:nvCxnSpPr>
        <p:spPr>
          <a:xfrm>
            <a:off x="8788400" y="2743200"/>
            <a:ext cx="508000" cy="0"/>
          </a:xfrm>
          <a:prstGeom prst="line">
            <a:avLst/>
          </a:prstGeom>
          <a:ln w="19050">
            <a:solidFill>
              <a:srgbClr val="0B6E4F"/>
            </a:solidFill>
            <a:tailEnd type="arrow"/>
          </a:ln>
        </p:spPr>
        <p:style>
          <a:lnRef idx="2">
            <a:schemeClr val="accent1"/>
          </a:lnRef>
          <a:fillRef idx="0">
            <a:schemeClr val="accent1"/>
          </a:fillRef>
          <a:effectRef idx="1">
            <a:schemeClr val="accent1"/>
          </a:effectRef>
          <a:fontRef idx="minor">
            <a:schemeClr val="tx1"/>
          </a:fontRef>
        </p:style>
      </p:cxnSp>
      <p:sp>
        <p:nvSpPr>
          <p:cNvPr id="19" name="Secret Manager service">
            <a:extLst>
              <a:ext uri="{FF2B5EF4-FFF2-40B4-BE49-F238E27FC236}">
                <a16:creationId xmlns:a16="http://schemas.microsoft.com/office/drawing/2014/main" id="{A4DC8FCE-79E6-5ABC-9634-C0E8A7D1DDCA}"/>
              </a:ext>
            </a:extLst>
          </p:cNvPr>
          <p:cNvSpPr/>
          <p:nvPr/>
        </p:nvSpPr>
        <p:spPr>
          <a:xfrm>
            <a:off x="9321800" y="4203700"/>
            <a:ext cx="2260600" cy="1422400"/>
          </a:xfrm>
          <a:prstGeom prst="rect">
            <a:avLst/>
          </a:prstGeom>
          <a:solidFill>
            <a:srgbClr val="E3F1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ecret Manager label">
            <a:extLst>
              <a:ext uri="{FF2B5EF4-FFF2-40B4-BE49-F238E27FC236}">
                <a16:creationId xmlns:a16="http://schemas.microsoft.com/office/drawing/2014/main" id="{A1BB84E2-C286-DFA0-C239-A569749165E5}"/>
              </a:ext>
            </a:extLst>
          </p:cNvPr>
          <p:cNvSpPr txBox="1"/>
          <p:nvPr/>
        </p:nvSpPr>
        <p:spPr>
          <a:xfrm>
            <a:off x="9525000" y="4356099"/>
            <a:ext cx="1854200" cy="762000"/>
          </a:xfrm>
          <a:prstGeom prst="rect">
            <a:avLst/>
          </a:prstGeom>
          <a:noFill/>
        </p:spPr>
        <p:txBody>
          <a:bodyPr vert="horz" wrap="square" lIns="0" tIns="0" rIns="0" bIns="0" rtlCol="0">
            <a:noAutofit/>
          </a:bodyPr>
          <a:lstStyle/>
          <a:p>
            <a:r>
              <a:rPr lang="en-US" sz="2100" b="1">
                <a:solidFill>
                  <a:srgbClr val="0B6E4F"/>
                </a:solidFill>
                <a:latin typeface="Segoe UI" panose="020B0502040204020203" pitchFamily="34" charset="0"/>
              </a:rPr>
              <a:t>Secret
Manager</a:t>
            </a:r>
          </a:p>
        </p:txBody>
      </p:sp>
      <p:sp>
        <p:nvSpPr>
          <p:cNvPr id="21" name="Model config">
            <a:extLst>
              <a:ext uri="{FF2B5EF4-FFF2-40B4-BE49-F238E27FC236}">
                <a16:creationId xmlns:a16="http://schemas.microsoft.com/office/drawing/2014/main" id="{A9A4BF68-9DCD-BAFD-A729-BABE0D95BC8C}"/>
              </a:ext>
            </a:extLst>
          </p:cNvPr>
          <p:cNvSpPr txBox="1"/>
          <p:nvPr/>
        </p:nvSpPr>
        <p:spPr>
          <a:xfrm>
            <a:off x="9525000" y="5194299"/>
            <a:ext cx="1854200" cy="304800"/>
          </a:xfrm>
          <a:prstGeom prst="rect">
            <a:avLst/>
          </a:prstGeom>
          <a:noFill/>
        </p:spPr>
        <p:txBody>
          <a:bodyPr vert="horz" wrap="square" lIns="0" tIns="0" rIns="0" bIns="0" rtlCol="0">
            <a:noAutofit/>
          </a:bodyPr>
          <a:lstStyle/>
          <a:p>
            <a:r>
              <a:rPr lang="en-US" sz="1400">
                <a:solidFill>
                  <a:srgbClr val="1D1D1B"/>
                </a:solidFill>
                <a:latin typeface="Segoe UI" panose="020B0502040204020203" pitchFamily="34" charset="0"/>
              </a:rPr>
              <a:t>Model configuration</a:t>
            </a:r>
          </a:p>
        </p:txBody>
      </p:sp>
      <p:cxnSp>
        <p:nvCxnSpPr>
          <p:cNvPr id="22" name="Model configuration injection">
            <a:extLst>
              <a:ext uri="{FF2B5EF4-FFF2-40B4-BE49-F238E27FC236}">
                <a16:creationId xmlns:a16="http://schemas.microsoft.com/office/drawing/2014/main" id="{82147548-8988-CE51-AAE7-6381BE47E631}"/>
              </a:ext>
            </a:extLst>
          </p:cNvPr>
          <p:cNvCxnSpPr/>
          <p:nvPr/>
        </p:nvCxnSpPr>
        <p:spPr>
          <a:xfrm flipH="1">
            <a:off x="8775700" y="4914900"/>
            <a:ext cx="533400" cy="0"/>
          </a:xfrm>
          <a:prstGeom prst="line">
            <a:avLst/>
          </a:prstGeom>
          <a:ln w="19050">
            <a:solidFill>
              <a:srgbClr val="0B6E4F"/>
            </a:solidFill>
            <a:tailEnd type="arrow"/>
          </a:ln>
        </p:spPr>
        <p:style>
          <a:lnRef idx="2">
            <a:schemeClr val="accent1"/>
          </a:lnRef>
          <a:fillRef idx="0">
            <a:schemeClr val="accent1"/>
          </a:fillRef>
          <a:effectRef idx="1">
            <a:schemeClr val="accent1"/>
          </a:effectRef>
          <a:fontRef idx="minor">
            <a:schemeClr val="tx1"/>
          </a:fontRef>
        </p:style>
      </p:cxnSp>
      <p:sp>
        <p:nvSpPr>
          <p:cNvPr id="23" name="Identity boundary">
            <a:extLst>
              <a:ext uri="{FF2B5EF4-FFF2-40B4-BE49-F238E27FC236}">
                <a16:creationId xmlns:a16="http://schemas.microsoft.com/office/drawing/2014/main" id="{8A53FC59-2B86-06C2-9BB8-9D2B8ECC778D}"/>
              </a:ext>
            </a:extLst>
          </p:cNvPr>
          <p:cNvSpPr txBox="1"/>
          <p:nvPr/>
        </p:nvSpPr>
        <p:spPr>
          <a:xfrm>
            <a:off x="3111500" y="5994399"/>
            <a:ext cx="8382000" cy="292100"/>
          </a:xfrm>
          <a:prstGeom prst="rect">
            <a:avLst/>
          </a:prstGeom>
          <a:noFill/>
        </p:spPr>
        <p:txBody>
          <a:bodyPr vert="horz" wrap="square" lIns="0" tIns="0" rIns="0" bIns="0" rtlCol="0">
            <a:noAutofit/>
          </a:bodyPr>
          <a:lstStyle/>
          <a:p>
            <a:r>
              <a:rPr lang="en-US" sz="1400">
                <a:solidFill>
                  <a:srgbClr val="5C5C57"/>
                </a:solidFill>
                <a:latin typeface="Segoe UI" panose="020B0502040204020203" pitchFamily="34" charset="0"/>
              </a:rPr>
              <a:t>Runtime service account authenticates Gemini calls with ADC.</a:t>
            </a:r>
          </a:p>
        </p:txBody>
      </p:sp>
    </p:spTree>
    <p:extLst>
      <p:ext uri="{BB962C8B-B14F-4D97-AF65-F5344CB8AC3E}">
        <p14:creationId xmlns:p14="http://schemas.microsoft.com/office/powerpoint/2010/main" val="895536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DD64A586-DA5D-08AE-B651-E0A64BBC2A73}"/>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Implementation evidence and safeguards</a:t>
            </a:r>
          </a:p>
        </p:txBody>
      </p:sp>
      <p:sp>
        <p:nvSpPr>
          <p:cNvPr id="3" name="Source and disclosure">
            <a:extLst>
              <a:ext uri="{FF2B5EF4-FFF2-40B4-BE49-F238E27FC236}">
                <a16:creationId xmlns:a16="http://schemas.microsoft.com/office/drawing/2014/main" id="{95FEC425-57EF-1A8F-1300-CFD344264A26}"/>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Local test run on 18 Oct 2026: 120 passed. Scripted model tests do not establish live AI performance.</a:t>
            </a:r>
          </a:p>
        </p:txBody>
      </p:sp>
      <p:sp>
        <p:nvSpPr>
          <p:cNvPr id="4" name="Slide number">
            <a:extLst>
              <a:ext uri="{FF2B5EF4-FFF2-40B4-BE49-F238E27FC236}">
                <a16:creationId xmlns:a16="http://schemas.microsoft.com/office/drawing/2014/main" id="{C2CAB030-436F-20CE-ADBD-83358A773DBA}"/>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9</a:t>
            </a:r>
          </a:p>
        </p:txBody>
      </p:sp>
      <p:sp>
        <p:nvSpPr>
          <p:cNvPr id="5" name="Test count">
            <a:extLst>
              <a:ext uri="{FF2B5EF4-FFF2-40B4-BE49-F238E27FC236}">
                <a16:creationId xmlns:a16="http://schemas.microsoft.com/office/drawing/2014/main" id="{BDC66F8E-4DB2-B03B-D997-B48B1FEA0C47}"/>
              </a:ext>
            </a:extLst>
          </p:cNvPr>
          <p:cNvSpPr txBox="1"/>
          <p:nvPr/>
        </p:nvSpPr>
        <p:spPr>
          <a:xfrm>
            <a:off x="609600" y="1816099"/>
            <a:ext cx="3619500" cy="1270000"/>
          </a:xfrm>
          <a:prstGeom prst="rect">
            <a:avLst/>
          </a:prstGeom>
          <a:noFill/>
        </p:spPr>
        <p:txBody>
          <a:bodyPr vert="horz" wrap="square" lIns="0" tIns="0" rIns="0" bIns="0" rtlCol="0">
            <a:noAutofit/>
          </a:bodyPr>
          <a:lstStyle/>
          <a:p>
            <a:r>
              <a:rPr lang="en-US" sz="7500" b="1">
                <a:solidFill>
                  <a:srgbClr val="0B6E4F"/>
                </a:solidFill>
                <a:latin typeface="Segoe UI" panose="020B0502040204020203" pitchFamily="34" charset="0"/>
              </a:rPr>
              <a:t>120</a:t>
            </a:r>
          </a:p>
        </p:txBody>
      </p:sp>
      <p:sp>
        <p:nvSpPr>
          <p:cNvPr id="6" name="Test count caption">
            <a:extLst>
              <a:ext uri="{FF2B5EF4-FFF2-40B4-BE49-F238E27FC236}">
                <a16:creationId xmlns:a16="http://schemas.microsoft.com/office/drawing/2014/main" id="{C578BF43-72E4-A7C2-8D91-1F3242292268}"/>
              </a:ext>
            </a:extLst>
          </p:cNvPr>
          <p:cNvSpPr txBox="1"/>
          <p:nvPr/>
        </p:nvSpPr>
        <p:spPr>
          <a:xfrm>
            <a:off x="609600" y="3225799"/>
            <a:ext cx="3746500" cy="825500"/>
          </a:xfrm>
          <a:prstGeom prst="rect">
            <a:avLst/>
          </a:prstGeom>
          <a:noFill/>
        </p:spPr>
        <p:txBody>
          <a:bodyPr vert="horz" wrap="square" lIns="0" tIns="0" rIns="0" bIns="0" rtlCol="0">
            <a:noAutofit/>
          </a:bodyPr>
          <a:lstStyle/>
          <a:p>
            <a:r>
              <a:rPr lang="en-US" sz="2300" b="1">
                <a:solidFill>
                  <a:srgbClr val="1D1D1B"/>
                </a:solidFill>
                <a:latin typeface="Segoe UI" panose="020B0502040204020203" pitchFamily="34" charset="0"/>
              </a:rPr>
              <a:t>automated tests pass</a:t>
            </a:r>
          </a:p>
        </p:txBody>
      </p:sp>
      <p:sp>
        <p:nvSpPr>
          <p:cNvPr id="7" name="What tests establish">
            <a:extLst>
              <a:ext uri="{FF2B5EF4-FFF2-40B4-BE49-F238E27FC236}">
                <a16:creationId xmlns:a16="http://schemas.microsoft.com/office/drawing/2014/main" id="{7F82D203-BA03-B961-6631-311545BAF988}"/>
              </a:ext>
            </a:extLst>
          </p:cNvPr>
          <p:cNvSpPr txBox="1"/>
          <p:nvPr/>
        </p:nvSpPr>
        <p:spPr>
          <a:xfrm>
            <a:off x="609600" y="4356099"/>
            <a:ext cx="3746500" cy="1117600"/>
          </a:xfrm>
          <a:prstGeom prst="rect">
            <a:avLst/>
          </a:prstGeom>
          <a:noFill/>
        </p:spPr>
        <p:txBody>
          <a:bodyPr vert="horz" wrap="square" lIns="0" tIns="0" rIns="0" bIns="0" rtlCol="0">
            <a:noAutofit/>
          </a:bodyPr>
          <a:lstStyle/>
          <a:p>
            <a:r>
              <a:rPr lang="en-US" sz="2000">
                <a:solidFill>
                  <a:srgbClr val="1D1D1B"/>
                </a:solidFill>
                <a:latin typeface="Segoe UI" panose="020B0502040204020203" pitchFamily="34" charset="0"/>
              </a:rPr>
              <a:t>Reproducible engine behavior and integration contracts.</a:t>
            </a:r>
          </a:p>
        </p:txBody>
      </p:sp>
      <p:sp>
        <p:nvSpPr>
          <p:cNvPr id="8" name="Safeguard title 0">
            <a:extLst>
              <a:ext uri="{FF2B5EF4-FFF2-40B4-BE49-F238E27FC236}">
                <a16:creationId xmlns:a16="http://schemas.microsoft.com/office/drawing/2014/main" id="{A9C1B901-0684-0653-B7CF-BF3B94DD5077}"/>
              </a:ext>
            </a:extLst>
          </p:cNvPr>
          <p:cNvSpPr txBox="1"/>
          <p:nvPr/>
        </p:nvSpPr>
        <p:spPr>
          <a:xfrm>
            <a:off x="4889500" y="1841499"/>
            <a:ext cx="6692900" cy="368300"/>
          </a:xfrm>
          <a:prstGeom prst="rect">
            <a:avLst/>
          </a:prstGeom>
          <a:noFill/>
        </p:spPr>
        <p:txBody>
          <a:bodyPr vert="horz" wrap="square" lIns="0" tIns="0" rIns="0" bIns="0" rtlCol="0">
            <a:noAutofit/>
          </a:bodyPr>
          <a:lstStyle/>
          <a:p>
            <a:r>
              <a:rPr lang="en-US" sz="2000" b="1">
                <a:solidFill>
                  <a:srgbClr val="1D1D1B"/>
                </a:solidFill>
                <a:latin typeface="Segoe UI" panose="020B0502040204020203" pitchFamily="34" charset="0"/>
              </a:rPr>
              <a:t>Rules in code</a:t>
            </a:r>
          </a:p>
        </p:txBody>
      </p:sp>
      <p:sp>
        <p:nvSpPr>
          <p:cNvPr id="9" name="Safeguard detail 0">
            <a:extLst>
              <a:ext uri="{FF2B5EF4-FFF2-40B4-BE49-F238E27FC236}">
                <a16:creationId xmlns:a16="http://schemas.microsoft.com/office/drawing/2014/main" id="{7AD98CD3-4C96-CBB6-6D32-C10EA2511CF6}"/>
              </a:ext>
            </a:extLst>
          </p:cNvPr>
          <p:cNvSpPr txBox="1"/>
          <p:nvPr/>
        </p:nvSpPr>
        <p:spPr>
          <a:xfrm>
            <a:off x="4889500" y="2247899"/>
            <a:ext cx="6692900" cy="5842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Minimums, caps, exclusions, promotion limits and travel cost.</a:t>
            </a:r>
          </a:p>
        </p:txBody>
      </p:sp>
      <p:sp>
        <p:nvSpPr>
          <p:cNvPr id="10" name="Safeguard title 1">
            <a:extLst>
              <a:ext uri="{FF2B5EF4-FFF2-40B4-BE49-F238E27FC236}">
                <a16:creationId xmlns:a16="http://schemas.microsoft.com/office/drawing/2014/main" id="{D3E5497D-2221-C8CE-5886-38F9B45ACFF5}"/>
              </a:ext>
            </a:extLst>
          </p:cNvPr>
          <p:cNvSpPr txBox="1"/>
          <p:nvPr/>
        </p:nvSpPr>
        <p:spPr>
          <a:xfrm>
            <a:off x="4889500" y="2882899"/>
            <a:ext cx="6692900" cy="368300"/>
          </a:xfrm>
          <a:prstGeom prst="rect">
            <a:avLst/>
          </a:prstGeom>
          <a:noFill/>
        </p:spPr>
        <p:txBody>
          <a:bodyPr vert="horz" wrap="square" lIns="0" tIns="0" rIns="0" bIns="0" rtlCol="0">
            <a:noAutofit/>
          </a:bodyPr>
          <a:lstStyle/>
          <a:p>
            <a:r>
              <a:rPr lang="en-US" sz="2000" b="1">
                <a:solidFill>
                  <a:srgbClr val="1D1D1B"/>
                </a:solidFill>
                <a:latin typeface="Segoe UI" panose="020B0502040204020203" pitchFamily="34" charset="0"/>
              </a:rPr>
              <a:t>Observable reasoning</a:t>
            </a:r>
          </a:p>
        </p:txBody>
      </p:sp>
      <p:sp>
        <p:nvSpPr>
          <p:cNvPr id="11" name="Safeguard detail 1">
            <a:extLst>
              <a:ext uri="{FF2B5EF4-FFF2-40B4-BE49-F238E27FC236}">
                <a16:creationId xmlns:a16="http://schemas.microsoft.com/office/drawing/2014/main" id="{126CB6C2-542C-F19E-52BF-226CB6BA3109}"/>
              </a:ext>
            </a:extLst>
          </p:cNvPr>
          <p:cNvSpPr txBox="1"/>
          <p:nvPr/>
        </p:nvSpPr>
        <p:spPr>
          <a:xfrm>
            <a:off x="4889500" y="3289299"/>
            <a:ext cx="6692900" cy="5842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Tool arguments and comparisons remain inspectable.</a:t>
            </a:r>
          </a:p>
        </p:txBody>
      </p:sp>
      <p:sp>
        <p:nvSpPr>
          <p:cNvPr id="12" name="Safeguard title 2">
            <a:extLst>
              <a:ext uri="{FF2B5EF4-FFF2-40B4-BE49-F238E27FC236}">
                <a16:creationId xmlns:a16="http://schemas.microsoft.com/office/drawing/2014/main" id="{CA32707A-C0F1-2577-72D8-52264EC2B18C}"/>
              </a:ext>
            </a:extLst>
          </p:cNvPr>
          <p:cNvSpPr txBox="1"/>
          <p:nvPr/>
        </p:nvSpPr>
        <p:spPr>
          <a:xfrm>
            <a:off x="4889500" y="3924299"/>
            <a:ext cx="6692900" cy="368300"/>
          </a:xfrm>
          <a:prstGeom prst="rect">
            <a:avLst/>
          </a:prstGeom>
          <a:noFill/>
        </p:spPr>
        <p:txBody>
          <a:bodyPr vert="horz" wrap="square" lIns="0" tIns="0" rIns="0" bIns="0" rtlCol="0">
            <a:noAutofit/>
          </a:bodyPr>
          <a:lstStyle/>
          <a:p>
            <a:r>
              <a:rPr lang="en-US" sz="2000" b="1">
                <a:solidFill>
                  <a:srgbClr val="1D1D1B"/>
                </a:solidFill>
                <a:latin typeface="Segoe UI" panose="020B0502040204020203" pitchFamily="34" charset="0"/>
              </a:rPr>
              <a:t>Two guardrail layers</a:t>
            </a:r>
          </a:p>
        </p:txBody>
      </p:sp>
      <p:sp>
        <p:nvSpPr>
          <p:cNvPr id="13" name="Safeguard detail 2">
            <a:extLst>
              <a:ext uri="{FF2B5EF4-FFF2-40B4-BE49-F238E27FC236}">
                <a16:creationId xmlns:a16="http://schemas.microsoft.com/office/drawing/2014/main" id="{852EAE7B-8262-3268-2F06-CE11C3F6DA98}"/>
              </a:ext>
            </a:extLst>
          </p:cNvPr>
          <p:cNvSpPr txBox="1"/>
          <p:nvPr/>
        </p:nvSpPr>
        <p:spPr>
          <a:xfrm>
            <a:off x="4889500" y="4330699"/>
            <a:ext cx="6692900" cy="5842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Agent callbacks and page checks filter known numeric failures.</a:t>
            </a:r>
          </a:p>
        </p:txBody>
      </p:sp>
      <p:sp>
        <p:nvSpPr>
          <p:cNvPr id="14" name="Safeguard title 3">
            <a:extLst>
              <a:ext uri="{FF2B5EF4-FFF2-40B4-BE49-F238E27FC236}">
                <a16:creationId xmlns:a16="http://schemas.microsoft.com/office/drawing/2014/main" id="{B842CBD2-F891-252E-551F-956B788387EC}"/>
              </a:ext>
            </a:extLst>
          </p:cNvPr>
          <p:cNvSpPr txBox="1"/>
          <p:nvPr/>
        </p:nvSpPr>
        <p:spPr>
          <a:xfrm>
            <a:off x="4889500" y="4965699"/>
            <a:ext cx="6692900" cy="368300"/>
          </a:xfrm>
          <a:prstGeom prst="rect">
            <a:avLst/>
          </a:prstGeom>
          <a:noFill/>
        </p:spPr>
        <p:txBody>
          <a:bodyPr vert="horz" wrap="square" lIns="0" tIns="0" rIns="0" bIns="0" rtlCol="0">
            <a:noAutofit/>
          </a:bodyPr>
          <a:lstStyle/>
          <a:p>
            <a:r>
              <a:rPr lang="en-US" sz="2000" b="1">
                <a:solidFill>
                  <a:srgbClr val="1D1D1B"/>
                </a:solidFill>
                <a:latin typeface="Segoe UI" panose="020B0502040204020203" pitchFamily="34" charset="0"/>
              </a:rPr>
              <a:t>Human decision</a:t>
            </a:r>
          </a:p>
        </p:txBody>
      </p:sp>
      <p:sp>
        <p:nvSpPr>
          <p:cNvPr id="15" name="Safeguard detail 3">
            <a:extLst>
              <a:ext uri="{FF2B5EF4-FFF2-40B4-BE49-F238E27FC236}">
                <a16:creationId xmlns:a16="http://schemas.microsoft.com/office/drawing/2014/main" id="{B1FA10AF-0A35-6086-6778-1A1FBAD5FE43}"/>
              </a:ext>
            </a:extLst>
          </p:cNvPr>
          <p:cNvSpPr txBox="1"/>
          <p:nvPr/>
        </p:nvSpPr>
        <p:spPr>
          <a:xfrm>
            <a:off x="4889500" y="5372099"/>
            <a:ext cx="6692900" cy="584200"/>
          </a:xfrm>
          <a:prstGeom prst="rect">
            <a:avLst/>
          </a:prstGeom>
          <a:noFill/>
        </p:spPr>
        <p:txBody>
          <a:bodyPr vert="horz" wrap="square" lIns="0" tIns="0" rIns="0" bIns="0" rtlCol="0">
            <a:noAutofit/>
          </a:bodyPr>
          <a:lstStyle/>
          <a:p>
            <a:r>
              <a:rPr lang="en-US" sz="1700">
                <a:solidFill>
                  <a:srgbClr val="5C5C57"/>
                </a:solidFill>
                <a:latin typeface="Segoe UI" panose="020B0502040204020203" pitchFamily="34" charset="0"/>
              </a:rPr>
              <a:t>No card-number collection. Approval creates a mock preview.</a:t>
            </a:r>
          </a:p>
        </p:txBody>
      </p:sp>
    </p:spTree>
    <p:extLst>
      <p:ext uri="{BB962C8B-B14F-4D97-AF65-F5344CB8AC3E}">
        <p14:creationId xmlns:p14="http://schemas.microsoft.com/office/powerpoint/2010/main" val="1842930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62C5061E-D7E6-562C-4F5E-6C44DEC66DBB}"/>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The business model starts with a household pilot</a:t>
            </a:r>
          </a:p>
        </p:txBody>
      </p:sp>
      <p:sp>
        <p:nvSpPr>
          <p:cNvPr id="3" name="Source and disclosure">
            <a:extLst>
              <a:ext uri="{FF2B5EF4-FFF2-40B4-BE49-F238E27FC236}">
                <a16:creationId xmlns:a16="http://schemas.microsoft.com/office/drawing/2014/main" id="{F133946B-C942-7A18-B3D1-5FBB00FBB7A1}"/>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Proposed validation and commercial hypotheses. No signed partners, revenue or adoption claims.</a:t>
            </a:r>
          </a:p>
        </p:txBody>
      </p:sp>
      <p:sp>
        <p:nvSpPr>
          <p:cNvPr id="4" name="Slide number">
            <a:extLst>
              <a:ext uri="{FF2B5EF4-FFF2-40B4-BE49-F238E27FC236}">
                <a16:creationId xmlns:a16="http://schemas.microsoft.com/office/drawing/2014/main" id="{57C6FA52-FD5B-6A97-ED79-10894FCC086C}"/>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10</a:t>
            </a:r>
          </a:p>
        </p:txBody>
      </p:sp>
      <p:sp>
        <p:nvSpPr>
          <p:cNvPr id="5" name="Household value heading">
            <a:extLst>
              <a:ext uri="{FF2B5EF4-FFF2-40B4-BE49-F238E27FC236}">
                <a16:creationId xmlns:a16="http://schemas.microsoft.com/office/drawing/2014/main" id="{7A1AFD43-A1FC-02EF-1098-B645A2854310}"/>
              </a:ext>
            </a:extLst>
          </p:cNvPr>
          <p:cNvSpPr txBox="1"/>
          <p:nvPr/>
        </p:nvSpPr>
        <p:spPr>
          <a:xfrm>
            <a:off x="609600" y="1841499"/>
            <a:ext cx="4953000" cy="444500"/>
          </a:xfrm>
          <a:prstGeom prst="rect">
            <a:avLst/>
          </a:prstGeom>
          <a:noFill/>
        </p:spPr>
        <p:txBody>
          <a:bodyPr vert="horz" wrap="square" lIns="0" tIns="0" rIns="0" bIns="0" rtlCol="0">
            <a:noAutofit/>
          </a:bodyPr>
          <a:lstStyle/>
          <a:p>
            <a:r>
              <a:rPr lang="en-US" sz="2500" b="1">
                <a:solidFill>
                  <a:srgbClr val="0B6E4F"/>
                </a:solidFill>
                <a:latin typeface="Segoe UI" panose="020B0502040204020203" pitchFamily="34" charset="0"/>
              </a:rPr>
              <a:t>Household value</a:t>
            </a:r>
          </a:p>
        </p:txBody>
      </p:sp>
      <p:sp>
        <p:nvSpPr>
          <p:cNvPr id="6" name="Household value">
            <a:extLst>
              <a:ext uri="{FF2B5EF4-FFF2-40B4-BE49-F238E27FC236}">
                <a16:creationId xmlns:a16="http://schemas.microsoft.com/office/drawing/2014/main" id="{4D0A9B5B-8942-6FA8-F1EF-53F9ECD10568}"/>
              </a:ext>
            </a:extLst>
          </p:cNvPr>
          <p:cNvSpPr txBox="1"/>
          <p:nvPr/>
        </p:nvSpPr>
        <p:spPr>
          <a:xfrm>
            <a:off x="609600" y="2565399"/>
            <a:ext cx="4953000" cy="2273300"/>
          </a:xfrm>
          <a:prstGeom prst="rect">
            <a:avLst/>
          </a:prstGeom>
          <a:noFill/>
        </p:spPr>
        <p:txBody>
          <a:bodyPr vert="horz" wrap="square" lIns="0" tIns="0" rIns="0" bIns="0" rtlCol="0">
            <a:noAutofit/>
          </a:bodyPr>
          <a:lstStyle/>
          <a:p>
            <a:r>
              <a:rPr lang="en-US" sz="2100">
                <a:solidFill>
                  <a:srgbClr val="1D1D1B"/>
                </a:solidFill>
                <a:latin typeface="Segoe UI" panose="020B0502040204020203" pitchFamily="34" charset="0"/>
              </a:rPr>
              <a:t>A plan that shows the conditions and assumptions behind a saving.
Compare the full basket after card rules and travel cost, with reasons for each line.</a:t>
            </a:r>
          </a:p>
        </p:txBody>
      </p:sp>
      <p:sp>
        <p:nvSpPr>
          <p:cNvPr id="7" name="Payer heading">
            <a:extLst>
              <a:ext uri="{FF2B5EF4-FFF2-40B4-BE49-F238E27FC236}">
                <a16:creationId xmlns:a16="http://schemas.microsoft.com/office/drawing/2014/main" id="{B5B51BEB-E937-7DE1-9149-1C1C7F8176AC}"/>
              </a:ext>
            </a:extLst>
          </p:cNvPr>
          <p:cNvSpPr txBox="1"/>
          <p:nvPr/>
        </p:nvSpPr>
        <p:spPr>
          <a:xfrm>
            <a:off x="6540500" y="1841499"/>
            <a:ext cx="5041900" cy="444500"/>
          </a:xfrm>
          <a:prstGeom prst="rect">
            <a:avLst/>
          </a:prstGeom>
          <a:noFill/>
        </p:spPr>
        <p:txBody>
          <a:bodyPr vert="horz" wrap="square" lIns="0" tIns="0" rIns="0" bIns="0" rtlCol="0">
            <a:noAutofit/>
          </a:bodyPr>
          <a:lstStyle/>
          <a:p>
            <a:r>
              <a:rPr lang="en-US" sz="2500" b="1">
                <a:solidFill>
                  <a:srgbClr val="0B6E4F"/>
                </a:solidFill>
                <a:latin typeface="Segoe UI" panose="020B0502040204020203" pitchFamily="34" charset="0"/>
              </a:rPr>
              <a:t>Distribution hypothesis</a:t>
            </a:r>
          </a:p>
        </p:txBody>
      </p:sp>
      <p:sp>
        <p:nvSpPr>
          <p:cNvPr id="8" name="Payer hypothesis">
            <a:extLst>
              <a:ext uri="{FF2B5EF4-FFF2-40B4-BE49-F238E27FC236}">
                <a16:creationId xmlns:a16="http://schemas.microsoft.com/office/drawing/2014/main" id="{7FCD3083-148A-E3DA-33C3-49B9910E4D89}"/>
              </a:ext>
            </a:extLst>
          </p:cNvPr>
          <p:cNvSpPr txBox="1"/>
          <p:nvPr/>
        </p:nvSpPr>
        <p:spPr>
          <a:xfrm>
            <a:off x="6540500" y="2565399"/>
            <a:ext cx="5041900" cy="2527300"/>
          </a:xfrm>
          <a:prstGeom prst="rect">
            <a:avLst/>
          </a:prstGeom>
          <a:noFill/>
        </p:spPr>
        <p:txBody>
          <a:bodyPr vert="horz" wrap="square" lIns="0" tIns="0" rIns="0" bIns="0" rtlCol="0">
            <a:noAutofit/>
          </a:bodyPr>
          <a:lstStyle/>
          <a:p>
            <a:r>
              <a:rPr lang="en-US" sz="2000">
                <a:solidFill>
                  <a:srgbClr val="1D1D1B"/>
                </a:solidFill>
                <a:latin typeface="Segoe UI" panose="020B0502040204020203" pitchFamily="34" charset="0"/>
              </a:rPr>
              <a:t>Issuers or retailers may support distribution or pay for consented referrals, subject to data agreements.
Ranking follows shopper cost; commercial relationships need disclosure.</a:t>
            </a:r>
          </a:p>
        </p:txBody>
      </p:sp>
      <p:sp>
        <p:nvSpPr>
          <p:cNvPr id="9" name="Pilot evidence heading">
            <a:extLst>
              <a:ext uri="{FF2B5EF4-FFF2-40B4-BE49-F238E27FC236}">
                <a16:creationId xmlns:a16="http://schemas.microsoft.com/office/drawing/2014/main" id="{05FFC301-3ABB-7E72-BA13-956031664F14}"/>
              </a:ext>
            </a:extLst>
          </p:cNvPr>
          <p:cNvSpPr txBox="1"/>
          <p:nvPr/>
        </p:nvSpPr>
        <p:spPr>
          <a:xfrm>
            <a:off x="609600" y="5460999"/>
            <a:ext cx="3302000" cy="381000"/>
          </a:xfrm>
          <a:prstGeom prst="rect">
            <a:avLst/>
          </a:prstGeom>
          <a:noFill/>
        </p:spPr>
        <p:txBody>
          <a:bodyPr vert="horz" wrap="square" lIns="0" tIns="0" rIns="0" bIns="0" rtlCol="0">
            <a:noAutofit/>
          </a:bodyPr>
          <a:lstStyle/>
          <a:p>
            <a:r>
              <a:rPr lang="en-US" sz="2100" b="1">
                <a:solidFill>
                  <a:srgbClr val="1D1D1B"/>
                </a:solidFill>
                <a:latin typeface="Segoe UI" panose="020B0502040204020203" pitchFamily="34" charset="0"/>
              </a:rPr>
              <a:t>Pilot measures</a:t>
            </a:r>
          </a:p>
        </p:txBody>
      </p:sp>
      <p:sp>
        <p:nvSpPr>
          <p:cNvPr id="10" name="Pilot measures">
            <a:extLst>
              <a:ext uri="{FF2B5EF4-FFF2-40B4-BE49-F238E27FC236}">
                <a16:creationId xmlns:a16="http://schemas.microsoft.com/office/drawing/2014/main" id="{CE4A3D08-F747-7BFA-7012-83D5A4E375DB}"/>
              </a:ext>
            </a:extLst>
          </p:cNvPr>
          <p:cNvSpPr txBox="1"/>
          <p:nvPr/>
        </p:nvSpPr>
        <p:spPr>
          <a:xfrm>
            <a:off x="4318000" y="5460999"/>
            <a:ext cx="7264400" cy="7239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Repeat use and comparison time.
Data freshness and purchased cost versus planned cost.</a:t>
            </a:r>
          </a:p>
        </p:txBody>
      </p:sp>
    </p:spTree>
    <p:extLst>
      <p:ext uri="{BB962C8B-B14F-4D97-AF65-F5344CB8AC3E}">
        <p14:creationId xmlns:p14="http://schemas.microsoft.com/office/powerpoint/2010/main" val="4258556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4E8AB4C-2DE9-B8D5-978F-30C7E0C2D07A}"/>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Colombo first, reusable rules for other markets</a:t>
            </a:r>
          </a:p>
        </p:txBody>
      </p:sp>
      <p:sp>
        <p:nvSpPr>
          <p:cNvPr id="3" name="Source and disclosure">
            <a:extLst>
              <a:ext uri="{FF2B5EF4-FFF2-40B4-BE49-F238E27FC236}">
                <a16:creationId xmlns:a16="http://schemas.microsoft.com/office/drawing/2014/main" id="{47F21559-4BE9-C10C-3B98-66051901DB34}"/>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Proposed roadmap. Expansion depends on data access, product matching and local offer coverage.</a:t>
            </a:r>
          </a:p>
        </p:txBody>
      </p:sp>
      <p:sp>
        <p:nvSpPr>
          <p:cNvPr id="4" name="Slide number">
            <a:extLst>
              <a:ext uri="{FF2B5EF4-FFF2-40B4-BE49-F238E27FC236}">
                <a16:creationId xmlns:a16="http://schemas.microsoft.com/office/drawing/2014/main" id="{DE5E9147-EA80-2B21-A517-92D5268035E6}"/>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11</a:t>
            </a:r>
          </a:p>
        </p:txBody>
      </p:sp>
      <p:sp>
        <p:nvSpPr>
          <p:cNvPr id="5" name="Roadmap number 0">
            <a:extLst>
              <a:ext uri="{FF2B5EF4-FFF2-40B4-BE49-F238E27FC236}">
                <a16:creationId xmlns:a16="http://schemas.microsoft.com/office/drawing/2014/main" id="{52E44F07-23C4-605C-2ED1-75EDB58993B4}"/>
              </a:ext>
            </a:extLst>
          </p:cNvPr>
          <p:cNvSpPr txBox="1"/>
          <p:nvPr/>
        </p:nvSpPr>
        <p:spPr>
          <a:xfrm>
            <a:off x="609600" y="1803399"/>
            <a:ext cx="311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1</a:t>
            </a:r>
          </a:p>
        </p:txBody>
      </p:sp>
      <p:sp>
        <p:nvSpPr>
          <p:cNvPr id="6" name="Roadmap title 0">
            <a:extLst>
              <a:ext uri="{FF2B5EF4-FFF2-40B4-BE49-F238E27FC236}">
                <a16:creationId xmlns:a16="http://schemas.microsoft.com/office/drawing/2014/main" id="{2860B5D3-2B82-34C1-807F-3C0F37E910C9}"/>
              </a:ext>
            </a:extLst>
          </p:cNvPr>
          <p:cNvSpPr txBox="1"/>
          <p:nvPr/>
        </p:nvSpPr>
        <p:spPr>
          <a:xfrm>
            <a:off x="609600" y="2832099"/>
            <a:ext cx="3327400" cy="774700"/>
          </a:xfrm>
          <a:prstGeom prst="rect">
            <a:avLst/>
          </a:prstGeom>
          <a:noFill/>
        </p:spPr>
        <p:txBody>
          <a:bodyPr vert="horz" wrap="square" lIns="0" tIns="0" rIns="0" bIns="0" rtlCol="0">
            <a:noAutofit/>
          </a:bodyPr>
          <a:lstStyle/>
          <a:p>
            <a:r>
              <a:rPr lang="en-US" sz="2400" b="1">
                <a:solidFill>
                  <a:srgbClr val="1D1D1B"/>
                </a:solidFill>
                <a:latin typeface="Segoe UI" panose="020B0502040204020203" pitchFamily="34" charset="0"/>
              </a:rPr>
              <a:t>Household pilot</a:t>
            </a:r>
          </a:p>
        </p:txBody>
      </p:sp>
      <p:sp>
        <p:nvSpPr>
          <p:cNvPr id="7" name="Roadmap explanation 0">
            <a:extLst>
              <a:ext uri="{FF2B5EF4-FFF2-40B4-BE49-F238E27FC236}">
                <a16:creationId xmlns:a16="http://schemas.microsoft.com/office/drawing/2014/main" id="{EB69CF84-B6CD-0118-40BC-51AC3CF83A18}"/>
              </a:ext>
            </a:extLst>
          </p:cNvPr>
          <p:cNvSpPr txBox="1"/>
          <p:nvPr/>
        </p:nvSpPr>
        <p:spPr>
          <a:xfrm>
            <a:off x="609600" y="3898899"/>
            <a:ext cx="3327400" cy="13335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Validate receipt reading and decisions with real purchases.</a:t>
            </a:r>
          </a:p>
        </p:txBody>
      </p:sp>
      <p:cxnSp>
        <p:nvCxnSpPr>
          <p:cNvPr id="8" name="Roadmap connector 0">
            <a:extLst>
              <a:ext uri="{FF2B5EF4-FFF2-40B4-BE49-F238E27FC236}">
                <a16:creationId xmlns:a16="http://schemas.microsoft.com/office/drawing/2014/main" id="{E0C54182-3004-9939-5919-1DCF75300847}"/>
              </a:ext>
            </a:extLst>
          </p:cNvPr>
          <p:cNvCxnSpPr/>
          <p:nvPr/>
        </p:nvCxnSpPr>
        <p:spPr>
          <a:xfrm>
            <a:off x="1422400" y="2209800"/>
            <a:ext cx="2654300" cy="0"/>
          </a:xfrm>
          <a:prstGeom prst="line">
            <a:avLst/>
          </a:prstGeom>
          <a:ln w="19050">
            <a:solidFill>
              <a:srgbClr val="D9D9D3"/>
            </a:solidFill>
            <a:tailEnd type="arrow"/>
          </a:ln>
        </p:spPr>
        <p:style>
          <a:lnRef idx="2">
            <a:schemeClr val="accent1"/>
          </a:lnRef>
          <a:fillRef idx="0">
            <a:schemeClr val="accent1"/>
          </a:fillRef>
          <a:effectRef idx="1">
            <a:schemeClr val="accent1"/>
          </a:effectRef>
          <a:fontRef idx="minor">
            <a:schemeClr val="tx1"/>
          </a:fontRef>
        </p:style>
      </p:cxnSp>
      <p:sp>
        <p:nvSpPr>
          <p:cNvPr id="9" name="Roadmap number 1">
            <a:extLst>
              <a:ext uri="{FF2B5EF4-FFF2-40B4-BE49-F238E27FC236}">
                <a16:creationId xmlns:a16="http://schemas.microsoft.com/office/drawing/2014/main" id="{DB121C4A-5955-9E55-4393-BD4295CF0D16}"/>
              </a:ext>
            </a:extLst>
          </p:cNvPr>
          <p:cNvSpPr txBox="1"/>
          <p:nvPr/>
        </p:nvSpPr>
        <p:spPr>
          <a:xfrm>
            <a:off x="4394200" y="1803399"/>
            <a:ext cx="311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2</a:t>
            </a:r>
          </a:p>
        </p:txBody>
      </p:sp>
      <p:sp>
        <p:nvSpPr>
          <p:cNvPr id="10" name="Roadmap title 1">
            <a:extLst>
              <a:ext uri="{FF2B5EF4-FFF2-40B4-BE49-F238E27FC236}">
                <a16:creationId xmlns:a16="http://schemas.microsoft.com/office/drawing/2014/main" id="{DCCED52E-6B4C-147F-D8D4-35CC0C71B503}"/>
              </a:ext>
            </a:extLst>
          </p:cNvPr>
          <p:cNvSpPr txBox="1"/>
          <p:nvPr/>
        </p:nvSpPr>
        <p:spPr>
          <a:xfrm>
            <a:off x="4394200" y="2832099"/>
            <a:ext cx="3327400" cy="774700"/>
          </a:xfrm>
          <a:prstGeom prst="rect">
            <a:avLst/>
          </a:prstGeom>
          <a:noFill/>
        </p:spPr>
        <p:txBody>
          <a:bodyPr vert="horz" wrap="square" lIns="0" tIns="0" rIns="0" bIns="0" rtlCol="0">
            <a:noAutofit/>
          </a:bodyPr>
          <a:lstStyle/>
          <a:p>
            <a:r>
              <a:rPr lang="en-US" sz="2400" b="1">
                <a:solidFill>
                  <a:srgbClr val="1D1D1B"/>
                </a:solidFill>
                <a:latin typeface="Segoe UI" panose="020B0502040204020203" pitchFamily="34" charset="0"/>
              </a:rPr>
              <a:t>Authorized data feeds</a:t>
            </a:r>
          </a:p>
        </p:txBody>
      </p:sp>
      <p:sp>
        <p:nvSpPr>
          <p:cNvPr id="11" name="Roadmap explanation 1">
            <a:extLst>
              <a:ext uri="{FF2B5EF4-FFF2-40B4-BE49-F238E27FC236}">
                <a16:creationId xmlns:a16="http://schemas.microsoft.com/office/drawing/2014/main" id="{8A0F784A-E1C2-6514-E251-F28F1564754B}"/>
              </a:ext>
            </a:extLst>
          </p:cNvPr>
          <p:cNvSpPr txBox="1"/>
          <p:nvPr/>
        </p:nvSpPr>
        <p:spPr>
          <a:xfrm>
            <a:off x="4394200" y="3898899"/>
            <a:ext cx="3327400" cy="13335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Add versioned retailer prices and issuer terms with refresh checks.</a:t>
            </a:r>
          </a:p>
        </p:txBody>
      </p:sp>
      <p:cxnSp>
        <p:nvCxnSpPr>
          <p:cNvPr id="12" name="Roadmap connector 1">
            <a:extLst>
              <a:ext uri="{FF2B5EF4-FFF2-40B4-BE49-F238E27FC236}">
                <a16:creationId xmlns:a16="http://schemas.microsoft.com/office/drawing/2014/main" id="{090A6646-F6C0-5215-2120-95FD467159DD}"/>
              </a:ext>
            </a:extLst>
          </p:cNvPr>
          <p:cNvCxnSpPr/>
          <p:nvPr/>
        </p:nvCxnSpPr>
        <p:spPr>
          <a:xfrm>
            <a:off x="5207000" y="2209800"/>
            <a:ext cx="2654300" cy="0"/>
          </a:xfrm>
          <a:prstGeom prst="line">
            <a:avLst/>
          </a:prstGeom>
          <a:ln w="19050">
            <a:solidFill>
              <a:srgbClr val="D9D9D3"/>
            </a:solidFill>
            <a:tailEnd type="arrow"/>
          </a:ln>
        </p:spPr>
        <p:style>
          <a:lnRef idx="2">
            <a:schemeClr val="accent1"/>
          </a:lnRef>
          <a:fillRef idx="0">
            <a:schemeClr val="accent1"/>
          </a:fillRef>
          <a:effectRef idx="1">
            <a:schemeClr val="accent1"/>
          </a:effectRef>
          <a:fontRef idx="minor">
            <a:schemeClr val="tx1"/>
          </a:fontRef>
        </p:style>
      </p:cxnSp>
      <p:sp>
        <p:nvSpPr>
          <p:cNvPr id="13" name="Roadmap number 2">
            <a:extLst>
              <a:ext uri="{FF2B5EF4-FFF2-40B4-BE49-F238E27FC236}">
                <a16:creationId xmlns:a16="http://schemas.microsoft.com/office/drawing/2014/main" id="{705B3E5D-2F6D-6E0E-9D04-F0D850514243}"/>
              </a:ext>
            </a:extLst>
          </p:cNvPr>
          <p:cNvSpPr txBox="1"/>
          <p:nvPr/>
        </p:nvSpPr>
        <p:spPr>
          <a:xfrm>
            <a:off x="8178800" y="1803399"/>
            <a:ext cx="3111500" cy="787400"/>
          </a:xfrm>
          <a:prstGeom prst="rect">
            <a:avLst/>
          </a:prstGeom>
          <a:noFill/>
        </p:spPr>
        <p:txBody>
          <a:bodyPr vert="horz" wrap="square" lIns="0" tIns="0" rIns="0" bIns="0" rtlCol="0">
            <a:noAutofit/>
          </a:bodyPr>
          <a:lstStyle/>
          <a:p>
            <a:r>
              <a:rPr lang="en-US" sz="4400" b="1">
                <a:solidFill>
                  <a:srgbClr val="0B6E4F"/>
                </a:solidFill>
                <a:latin typeface="Segoe UI" panose="020B0502040204020203" pitchFamily="34" charset="0"/>
              </a:rPr>
              <a:t>3</a:t>
            </a:r>
          </a:p>
        </p:txBody>
      </p:sp>
      <p:sp>
        <p:nvSpPr>
          <p:cNvPr id="14" name="Roadmap title 2">
            <a:extLst>
              <a:ext uri="{FF2B5EF4-FFF2-40B4-BE49-F238E27FC236}">
                <a16:creationId xmlns:a16="http://schemas.microsoft.com/office/drawing/2014/main" id="{645B6FC4-44DD-8DAB-FBE6-4AA823C3BCB5}"/>
              </a:ext>
            </a:extLst>
          </p:cNvPr>
          <p:cNvSpPr txBox="1"/>
          <p:nvPr/>
        </p:nvSpPr>
        <p:spPr>
          <a:xfrm>
            <a:off x="8178800" y="2832099"/>
            <a:ext cx="3327400" cy="774700"/>
          </a:xfrm>
          <a:prstGeom prst="rect">
            <a:avLst/>
          </a:prstGeom>
          <a:noFill/>
        </p:spPr>
        <p:txBody>
          <a:bodyPr vert="horz" wrap="square" lIns="0" tIns="0" rIns="0" bIns="0" rtlCol="0">
            <a:noAutofit/>
          </a:bodyPr>
          <a:lstStyle/>
          <a:p>
            <a:r>
              <a:rPr lang="en-US" sz="2400" b="1">
                <a:solidFill>
                  <a:srgbClr val="1D1D1B"/>
                </a:solidFill>
                <a:latin typeface="Segoe UI" panose="020B0502040204020203" pitchFamily="34" charset="0"/>
              </a:rPr>
              <a:t>Another market</a:t>
            </a:r>
          </a:p>
        </p:txBody>
      </p:sp>
      <p:sp>
        <p:nvSpPr>
          <p:cNvPr id="15" name="Roadmap explanation 2">
            <a:extLst>
              <a:ext uri="{FF2B5EF4-FFF2-40B4-BE49-F238E27FC236}">
                <a16:creationId xmlns:a16="http://schemas.microsoft.com/office/drawing/2014/main" id="{3478BCD0-8083-D82C-29AF-6B4DCD4F037C}"/>
              </a:ext>
            </a:extLst>
          </p:cNvPr>
          <p:cNvSpPr txBox="1"/>
          <p:nvPr/>
        </p:nvSpPr>
        <p:spPr>
          <a:xfrm>
            <a:off x="8178800" y="3898899"/>
            <a:ext cx="3327400" cy="1333500"/>
          </a:xfrm>
          <a:prstGeom prst="rect">
            <a:avLst/>
          </a:prstGeom>
          <a:noFill/>
        </p:spPr>
        <p:txBody>
          <a:bodyPr vert="horz" wrap="square" lIns="0" tIns="0" rIns="0" bIns="0" rtlCol="0">
            <a:noAutofit/>
          </a:bodyPr>
          <a:lstStyle/>
          <a:p>
            <a:r>
              <a:rPr lang="en-US" sz="1900">
                <a:solidFill>
                  <a:srgbClr val="1D1D1B"/>
                </a:solidFill>
                <a:latin typeface="Segoe UI" panose="020B0502040204020203" pitchFamily="34" charset="0"/>
              </a:rPr>
              <a:t>Adapt catalogs, currencies, rounding and local card rules.</a:t>
            </a:r>
          </a:p>
        </p:txBody>
      </p:sp>
      <p:sp>
        <p:nvSpPr>
          <p:cNvPr id="16" name="Partner ask">
            <a:extLst>
              <a:ext uri="{FF2B5EF4-FFF2-40B4-BE49-F238E27FC236}">
                <a16:creationId xmlns:a16="http://schemas.microsoft.com/office/drawing/2014/main" id="{A014A8DD-0F56-9917-286C-AD73AD37FF75}"/>
              </a:ext>
            </a:extLst>
          </p:cNvPr>
          <p:cNvSpPr txBox="1"/>
          <p:nvPr/>
        </p:nvSpPr>
        <p:spPr>
          <a:xfrm>
            <a:off x="609600" y="5651499"/>
            <a:ext cx="10972800" cy="558800"/>
          </a:xfrm>
          <a:prstGeom prst="rect">
            <a:avLst/>
          </a:prstGeom>
          <a:noFill/>
        </p:spPr>
        <p:txBody>
          <a:bodyPr vert="horz" wrap="square" lIns="0" tIns="0" rIns="0" bIns="0" rtlCol="0">
            <a:noAutofit/>
          </a:bodyPr>
          <a:lstStyle/>
          <a:p>
            <a:r>
              <a:rPr lang="en-US" sz="2400" b="1">
                <a:solidFill>
                  <a:srgbClr val="0B6E4F"/>
                </a:solidFill>
                <a:latin typeface="Segoe UI" panose="020B0502040204020203" pitchFamily="34" charset="0"/>
              </a:rPr>
              <a:t>Seeking pilot households and retailer or issuer data partners</a:t>
            </a:r>
          </a:p>
        </p:txBody>
      </p:sp>
    </p:spTree>
    <p:extLst>
      <p:ext uri="{BB962C8B-B14F-4D97-AF65-F5344CB8AC3E}">
        <p14:creationId xmlns:p14="http://schemas.microsoft.com/office/powerpoint/2010/main" val="2562249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EA458DDA-E5BA-37AC-7F2B-342B513840DF}"/>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Appendix: prototype boundaries and status</a:t>
            </a:r>
          </a:p>
        </p:txBody>
      </p:sp>
      <p:sp>
        <p:nvSpPr>
          <p:cNvPr id="3" name="Source and disclosure">
            <a:extLst>
              <a:ext uri="{FF2B5EF4-FFF2-40B4-BE49-F238E27FC236}">
                <a16:creationId xmlns:a16="http://schemas.microsoft.com/office/drawing/2014/main" id="{986D2B8D-BC74-C3F8-E3C2-97C96990D8B9}"/>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Status as of 18 Oct 2026. The deployed Cloud Run link and the public repository are live; the demo video is the remaining submission item.</a:t>
            </a:r>
          </a:p>
        </p:txBody>
      </p:sp>
      <p:sp>
        <p:nvSpPr>
          <p:cNvPr id="4" name="Slide number">
            <a:extLst>
              <a:ext uri="{FF2B5EF4-FFF2-40B4-BE49-F238E27FC236}">
                <a16:creationId xmlns:a16="http://schemas.microsoft.com/office/drawing/2014/main" id="{7BE5DA01-AA7C-2F98-3722-4D1B02210DD0}"/>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12</a:t>
            </a:r>
          </a:p>
        </p:txBody>
      </p:sp>
      <p:graphicFrame>
        <p:nvGraphicFramePr>
          <p:cNvPr id="5" name="Editable evidence table">
            <a:extLst>
              <a:ext uri="{FF2B5EF4-FFF2-40B4-BE49-F238E27FC236}">
                <a16:creationId xmlns:a16="http://schemas.microsoft.com/office/drawing/2014/main" id="{DCED3D15-C8C5-6C46-D36D-DF78E80D7C1A}"/>
              </a:ext>
            </a:extLst>
          </p:cNvPr>
          <p:cNvGraphicFramePr>
            <a:graphicFrameLocks noGrp="1"/>
          </p:cNvGraphicFramePr>
          <p:nvPr>
            <p:extLst>
              <p:ext uri="{D42A27DB-BD31-4B8C-83A1-F6EECF244321}">
                <p14:modId xmlns:p14="http://schemas.microsoft.com/office/powerpoint/2010/main" val="1557082845"/>
              </p:ext>
            </p:extLst>
          </p:nvPr>
        </p:nvGraphicFramePr>
        <p:xfrm>
          <a:off x="609600" y="1803400"/>
          <a:ext cx="10972800" cy="34925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917287963"/>
                    </a:ext>
                  </a:extLst>
                </a:gridCol>
                <a:gridCol w="5486400">
                  <a:extLst>
                    <a:ext uri="{9D8B030D-6E8A-4147-A177-3AD203B41FA5}">
                      <a16:colId xmlns:a16="http://schemas.microsoft.com/office/drawing/2014/main" val="965444112"/>
                    </a:ext>
                  </a:extLst>
                </a:gridCol>
              </a:tblGrid>
              <a:tr h="698500">
                <a:tc>
                  <a:txBody>
                    <a:bodyPr/>
                    <a:lstStyle/>
                    <a:p>
                      <a:r>
                        <a:rPr lang="en-US" sz="1700" b="1">
                          <a:solidFill>
                            <a:srgbClr val="1D1D1B"/>
                          </a:solidFill>
                          <a:latin typeface="Segoe UI" panose="020B0502040204020203" pitchFamily="34" charset="0"/>
                        </a:rPr>
                        <a:t>Available now</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E3F1EC"/>
                    </a:solidFill>
                  </a:tcPr>
                </a:tc>
                <a:tc>
                  <a:txBody>
                    <a:bodyPr/>
                    <a:lstStyle/>
                    <a:p>
                      <a:r>
                        <a:rPr lang="en-US" sz="1700" b="1">
                          <a:solidFill>
                            <a:srgbClr val="1D1D1B"/>
                          </a:solidFill>
                          <a:latin typeface="Segoe UI" panose="020B0502040204020203" pitchFamily="34" charset="0"/>
                        </a:rPr>
                        <a:t>Still to validate or complete</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E3F1EC"/>
                    </a:solidFill>
                  </a:tcPr>
                </a:tc>
                <a:extLst>
                  <a:ext uri="{0D108BD9-81ED-4DB2-BD59-A6C34878D82A}">
                    <a16:rowId xmlns:a16="http://schemas.microsoft.com/office/drawing/2014/main" val="2815303035"/>
                  </a:ext>
                </a:extLst>
              </a:tr>
              <a:tr h="698500">
                <a:tc>
                  <a:txBody>
                    <a:bodyPr/>
                    <a:lstStyle/>
                    <a:p>
                      <a:r>
                        <a:rPr lang="en-US" sz="1700" b="0">
                          <a:solidFill>
                            <a:srgbClr val="1D1D1B"/>
                          </a:solidFill>
                          <a:latin typeface="Segoe UI" panose="020B0502040204020203" pitchFamily="34" charset="0"/>
                        </a:rPr>
                        <a:t>Live Cloud Run deployment; guest workflow and reproducible totals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Demo video and submission-portal upload</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656216966"/>
                  </a:ext>
                </a:extLst>
              </a:tr>
              <a:tr h="698500">
                <a:tc>
                  <a:txBody>
                    <a:bodyPr/>
                    <a:lstStyle/>
                    <a:p>
                      <a:r>
                        <a:rPr lang="en-US" sz="1700" b="0">
                          <a:solidFill>
                            <a:srgbClr val="1D1D1B"/>
                          </a:solidFill>
                          <a:latin typeface="Segoe UI" panose="020B0502040204020203" pitchFamily="34" charset="0"/>
                        </a:rPr>
                        <a:t>Gemini receipt / offer clients and an ADK tool loop</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Live extraction accuracy across many receipts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2427447388"/>
                  </a:ext>
                </a:extLst>
              </a:tr>
              <a:tr h="698500">
                <a:tc>
                  <a:txBody>
                    <a:bodyPr/>
                    <a:lstStyle/>
                    <a:p>
                      <a:r>
                        <a:rPr lang="en-US" sz="1700" b="0">
                          <a:solidFill>
                            <a:srgbClr val="1D1D1B"/>
                          </a:solidFill>
                          <a:latin typeface="Segoe UI" panose="020B0502040204020203" pitchFamily="34" charset="0"/>
                        </a:rPr>
                        <a:t>Real receipt history plus labeled sample data</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Fresh retailer prices and complete default offer terms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3582856573"/>
                  </a:ext>
                </a:extLst>
              </a:tr>
              <a:tr h="698500">
                <a:tc>
                  <a:txBody>
                    <a:bodyPr/>
                    <a:lstStyle/>
                    <a:p>
                      <a:r>
                        <a:rPr lang="en-US" sz="1700" b="0">
                          <a:solidFill>
                            <a:srgbClr val="1D1D1B"/>
                          </a:solidFill>
                          <a:latin typeface="Segoe UI" panose="020B0502040204020203" pitchFamily="34" charset="0"/>
                        </a:rPr>
                        <a:t>MOCK approval and example partner APIs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tc>
                  <a:txBody>
                    <a:bodyPr/>
                    <a:lstStyle/>
                    <a:p>
                      <a:r>
                        <a:rPr lang="en-US" sz="1700" b="0">
                          <a:solidFill>
                            <a:srgbClr val="1D1D1B"/>
                          </a:solidFill>
                          <a:latin typeface="Segoe UI" panose="020B0502040204020203" pitchFamily="34" charset="0"/>
                        </a:rPr>
                        <a:t>Actual checkout, payments and partner integrations</a:t>
                      </a:r>
                    </a:p>
                  </a:txBody>
                  <a:tcPr marL="127000" marR="101600" marT="101600" marB="88900">
                    <a:lnL w="6350" cmpd="sng">
                      <a:solidFill>
                        <a:srgbClr val="D9D9D3"/>
                      </a:solidFill>
                    </a:lnL>
                    <a:lnR w="6350" cmpd="sng">
                      <a:solidFill>
                        <a:srgbClr val="D9D9D3"/>
                      </a:solidFill>
                    </a:lnR>
                    <a:lnT w="6350" cmpd="sng">
                      <a:solidFill>
                        <a:srgbClr val="D9D9D3"/>
                      </a:solidFill>
                    </a:lnT>
                    <a:lnB w="6350" cmpd="sng">
                      <a:solidFill>
                        <a:srgbClr val="D9D9D3"/>
                      </a:solidFill>
                    </a:lnB>
                    <a:solidFill>
                      <a:srgbClr val="F7F7F5"/>
                    </a:solidFill>
                  </a:tcPr>
                </a:tc>
                <a:extLst>
                  <a:ext uri="{0D108BD9-81ED-4DB2-BD59-A6C34878D82A}">
                    <a16:rowId xmlns:a16="http://schemas.microsoft.com/office/drawing/2014/main" val="2201936314"/>
                  </a:ext>
                </a:extLst>
              </a:tr>
            </a:tbl>
          </a:graphicData>
        </a:graphic>
      </p:graphicFrame>
      <p:sp>
        <p:nvSpPr>
          <p:cNvPr id="6" name="Boundaries">
            <a:extLst>
              <a:ext uri="{FF2B5EF4-FFF2-40B4-BE49-F238E27FC236}">
                <a16:creationId xmlns:a16="http://schemas.microsoft.com/office/drawing/2014/main" id="{9AABF969-5BC3-2D4C-0DFE-3DEA78818A1D}"/>
              </a:ext>
            </a:extLst>
          </p:cNvPr>
          <p:cNvSpPr txBox="1"/>
          <p:nvPr/>
        </p:nvSpPr>
        <p:spPr>
          <a:xfrm>
            <a:off x="609600" y="5651499"/>
            <a:ext cx="10972800" cy="571500"/>
          </a:xfrm>
          <a:prstGeom prst="rect">
            <a:avLst/>
          </a:prstGeom>
          <a:noFill/>
        </p:spPr>
        <p:txBody>
          <a:bodyPr vert="horz" wrap="square" lIns="0" tIns="0" rIns="0" bIns="0" rtlCol="0">
            <a:noAutofit/>
          </a:bodyPr>
          <a:lstStyle/>
          <a:p>
            <a:r>
              <a:rPr lang="en-US">
                <a:solidFill>
                  <a:srgbClr val="8A4B00"/>
                </a:solidFill>
                <a:latin typeface="Segoe UI" panose="020B0502040204020203" pitchFamily="34" charset="0"/>
              </a:rPr>
              <a:t>One household supplies the real history. Savings remain simulated. Guardrails need ongoing evaluation.</a:t>
            </a:r>
          </a:p>
        </p:txBody>
      </p:sp>
    </p:spTree>
    <p:extLst>
      <p:ext uri="{BB962C8B-B14F-4D97-AF65-F5344CB8AC3E}">
        <p14:creationId xmlns:p14="http://schemas.microsoft.com/office/powerpoint/2010/main" val="1322190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CE59279-D29E-0B2F-1F00-1CE695F21151}"/>
              </a:ext>
            </a:extLst>
          </p:cNvPr>
          <p:cNvSpPr txBox="1"/>
          <p:nvPr/>
        </p:nvSpPr>
        <p:spPr>
          <a:xfrm>
            <a:off x="609600" y="495299"/>
            <a:ext cx="10972800" cy="1092200"/>
          </a:xfrm>
          <a:prstGeom prst="rect">
            <a:avLst/>
          </a:prstGeom>
          <a:noFill/>
        </p:spPr>
        <p:txBody>
          <a:bodyPr vert="horz" wrap="square" lIns="0" tIns="0" rIns="0" bIns="0" rtlCol="0">
            <a:noAutofit/>
          </a:bodyPr>
          <a:lstStyle/>
          <a:p>
            <a:r>
              <a:rPr lang="en-US" sz="3200" b="1">
                <a:solidFill>
                  <a:srgbClr val="1D1D1B"/>
                </a:solidFill>
                <a:latin typeface="Segoe UI" panose="020B0502040204020203" pitchFamily="34" charset="0"/>
              </a:rPr>
              <a:t>Appendix: sources and reproducible evidence</a:t>
            </a:r>
          </a:p>
        </p:txBody>
      </p:sp>
      <p:sp>
        <p:nvSpPr>
          <p:cNvPr id="3" name="Source and disclosure">
            <a:extLst>
              <a:ext uri="{FF2B5EF4-FFF2-40B4-BE49-F238E27FC236}">
                <a16:creationId xmlns:a16="http://schemas.microsoft.com/office/drawing/2014/main" id="{C6D242F5-03BA-C9D4-0FBA-A093925B1DF4}"/>
              </a:ext>
            </a:extLst>
          </p:cNvPr>
          <p:cNvSpPr txBox="1"/>
          <p:nvPr/>
        </p:nvSpPr>
        <p:spPr>
          <a:xfrm>
            <a:off x="609600" y="6324599"/>
            <a:ext cx="10414000" cy="381000"/>
          </a:xfrm>
          <a:prstGeom prst="rect">
            <a:avLst/>
          </a:prstGeom>
          <a:noFill/>
        </p:spPr>
        <p:txBody>
          <a:bodyPr vert="horz" wrap="square" lIns="0" tIns="0" rIns="0" bIns="0" rtlCol="0">
            <a:noAutofit/>
          </a:bodyPr>
          <a:lstStyle/>
          <a:p>
            <a:r>
              <a:rPr lang="en-US" sz="1050">
                <a:solidFill>
                  <a:srgbClr val="5C5C57"/>
                </a:solidFill>
                <a:latin typeface="Segoe UI" panose="020B0502040204020203" pitchFamily="34" charset="0"/>
              </a:rPr>
              <a:t>External sources checked 18 Oct 2026. Detailed provenance and scenario inputs also appear in speaker notes.</a:t>
            </a:r>
          </a:p>
        </p:txBody>
      </p:sp>
      <p:sp>
        <p:nvSpPr>
          <p:cNvPr id="4" name="Slide number">
            <a:extLst>
              <a:ext uri="{FF2B5EF4-FFF2-40B4-BE49-F238E27FC236}">
                <a16:creationId xmlns:a16="http://schemas.microsoft.com/office/drawing/2014/main" id="{72598F88-0145-59A5-0606-EA645DCD1ED4}"/>
              </a:ext>
            </a:extLst>
          </p:cNvPr>
          <p:cNvSpPr txBox="1"/>
          <p:nvPr/>
        </p:nvSpPr>
        <p:spPr>
          <a:xfrm>
            <a:off x="11239500" y="6375400"/>
            <a:ext cx="342900" cy="254000"/>
          </a:xfrm>
          <a:prstGeom prst="rect">
            <a:avLst/>
          </a:prstGeom>
          <a:noFill/>
        </p:spPr>
        <p:txBody>
          <a:bodyPr vert="horz" wrap="square" lIns="0" tIns="0" rIns="0" bIns="0" rtlCol="0">
            <a:noAutofit/>
          </a:bodyPr>
          <a:lstStyle/>
          <a:p>
            <a:pPr algn="r"/>
            <a:r>
              <a:rPr lang="en-US" sz="1100">
                <a:solidFill>
                  <a:srgbClr val="5C5C57"/>
                </a:solidFill>
                <a:latin typeface="Segoe UI" panose="020B0502040204020203" pitchFamily="34" charset="0"/>
              </a:rPr>
              <a:t>13</a:t>
            </a:r>
          </a:p>
        </p:txBody>
      </p:sp>
      <p:sp>
        <p:nvSpPr>
          <p:cNvPr id="5" name="Source title 0">
            <a:extLst>
              <a:ext uri="{FF2B5EF4-FFF2-40B4-BE49-F238E27FC236}">
                <a16:creationId xmlns:a16="http://schemas.microsoft.com/office/drawing/2014/main" id="{8B9DBDC2-5A54-8CC9-C141-600DC29029EF}"/>
              </a:ext>
            </a:extLst>
          </p:cNvPr>
          <p:cNvSpPr txBox="1"/>
          <p:nvPr/>
        </p:nvSpPr>
        <p:spPr>
          <a:xfrm>
            <a:off x="609600" y="1765299"/>
            <a:ext cx="10972800" cy="355600"/>
          </a:xfrm>
          <a:prstGeom prst="rect">
            <a:avLst/>
          </a:prstGeom>
          <a:noFill/>
        </p:spPr>
        <p:txBody>
          <a:bodyPr vert="horz" wrap="square" lIns="0" tIns="0" rIns="0" bIns="0" rtlCol="0">
            <a:noAutofit/>
          </a:bodyPr>
          <a:lstStyle/>
          <a:p>
            <a:r>
              <a:rPr lang="en-US" sz="1900" b="1">
                <a:solidFill>
                  <a:srgbClr val="0B6E4F"/>
                </a:solidFill>
                <a:latin typeface="Segoe UI" panose="020B0502040204020203" pitchFamily="34" charset="0"/>
              </a:rPr>
              <a:t>Competition requirements and judging</a:t>
            </a:r>
          </a:p>
        </p:txBody>
      </p:sp>
      <p:sp>
        <p:nvSpPr>
          <p:cNvPr id="6" name="Source address 0">
            <a:extLst>
              <a:ext uri="{FF2B5EF4-FFF2-40B4-BE49-F238E27FC236}">
                <a16:creationId xmlns:a16="http://schemas.microsoft.com/office/drawing/2014/main" id="{6C1574BB-A314-8DAB-7933-5CB059F60C87}"/>
              </a:ext>
            </a:extLst>
          </p:cNvPr>
          <p:cNvSpPr txBox="1"/>
          <p:nvPr/>
        </p:nvSpPr>
        <p:spPr>
          <a:xfrm>
            <a:off x="609600" y="2158999"/>
            <a:ext cx="10972800" cy="292100"/>
          </a:xfrm>
          <a:prstGeom prst="rect">
            <a:avLst/>
          </a:prstGeom>
          <a:noFill/>
        </p:spPr>
        <p:txBody>
          <a:bodyPr vert="horz" wrap="square" lIns="0" tIns="0" rIns="0" bIns="0" rtlCol="0">
            <a:noAutofit/>
          </a:bodyPr>
          <a:lstStyle/>
          <a:p>
            <a:r>
              <a:rPr lang="en-US" sz="1500">
                <a:solidFill>
                  <a:srgbClr val="1D1D1B"/>
                </a:solidFill>
                <a:latin typeface="Segoe UI" panose="020B0502040204020203" pitchFamily="34" charset="0"/>
                <a:hlinkClick r:id="rId3"/>
              </a:rPr>
              <a:t>https://aibuildercup.com/themes.html</a:t>
            </a:r>
            <a:endParaRPr lang="en-US" sz="1500">
              <a:solidFill>
                <a:srgbClr val="1D1D1B"/>
              </a:solidFill>
              <a:latin typeface="Segoe UI" panose="020B0502040204020203" pitchFamily="34" charset="0"/>
            </a:endParaRPr>
          </a:p>
        </p:txBody>
      </p:sp>
      <p:sp>
        <p:nvSpPr>
          <p:cNvPr id="7" name="Source detail 0">
            <a:extLst>
              <a:ext uri="{FF2B5EF4-FFF2-40B4-BE49-F238E27FC236}">
                <a16:creationId xmlns:a16="http://schemas.microsoft.com/office/drawing/2014/main" id="{BE652EF3-4A9D-1232-A0D1-830F51F4E0DE}"/>
              </a:ext>
            </a:extLst>
          </p:cNvPr>
          <p:cNvSpPr txBox="1"/>
          <p:nvPr/>
        </p:nvSpPr>
        <p:spPr>
          <a:xfrm>
            <a:off x="609600" y="2463799"/>
            <a:ext cx="10972800" cy="279400"/>
          </a:xfrm>
          <a:prstGeom prst="rect">
            <a:avLst/>
          </a:prstGeom>
          <a:noFill/>
        </p:spPr>
        <p:txBody>
          <a:bodyPr vert="horz" wrap="square" lIns="0" tIns="0" rIns="0" bIns="0" rtlCol="0">
            <a:noAutofit/>
          </a:bodyPr>
          <a:lstStyle/>
          <a:p>
            <a:r>
              <a:rPr lang="en-US" sz="1400">
                <a:solidFill>
                  <a:srgbClr val="5C5C57"/>
                </a:solidFill>
                <a:latin typeface="Segoe UI" panose="020B0502040204020203" pitchFamily="34" charset="0"/>
                <a:hlinkClick r:id="rId4"/>
              </a:rPr>
              <a:t>https://aibuildercup.com/Faqs.html</a:t>
            </a:r>
            <a:endParaRPr lang="en-US" sz="1400">
              <a:solidFill>
                <a:srgbClr val="5C5C57"/>
              </a:solidFill>
              <a:latin typeface="Segoe UI" panose="020B0502040204020203" pitchFamily="34" charset="0"/>
            </a:endParaRPr>
          </a:p>
        </p:txBody>
      </p:sp>
      <p:sp>
        <p:nvSpPr>
          <p:cNvPr id="8" name="Source title 1">
            <a:extLst>
              <a:ext uri="{FF2B5EF4-FFF2-40B4-BE49-F238E27FC236}">
                <a16:creationId xmlns:a16="http://schemas.microsoft.com/office/drawing/2014/main" id="{3ED4D095-73F7-C32F-8854-93A2C7FF50A5}"/>
              </a:ext>
            </a:extLst>
          </p:cNvPr>
          <p:cNvSpPr txBox="1"/>
          <p:nvPr/>
        </p:nvSpPr>
        <p:spPr>
          <a:xfrm>
            <a:off x="609600" y="2857499"/>
            <a:ext cx="10972800" cy="355600"/>
          </a:xfrm>
          <a:prstGeom prst="rect">
            <a:avLst/>
          </a:prstGeom>
          <a:noFill/>
        </p:spPr>
        <p:txBody>
          <a:bodyPr vert="horz" wrap="square" lIns="0" tIns="0" rIns="0" bIns="0" rtlCol="0">
            <a:noAutofit/>
          </a:bodyPr>
          <a:lstStyle/>
          <a:p>
            <a:r>
              <a:rPr lang="en-US" sz="1900" b="1">
                <a:solidFill>
                  <a:srgbClr val="0B6E4F"/>
                </a:solidFill>
                <a:latin typeface="Segoe UI" panose="020B0502040204020203" pitchFamily="34" charset="0"/>
              </a:rPr>
              <a:t>Published Seylan Keells offer</a:t>
            </a:r>
          </a:p>
        </p:txBody>
      </p:sp>
      <p:sp>
        <p:nvSpPr>
          <p:cNvPr id="9" name="Source address 1">
            <a:extLst>
              <a:ext uri="{FF2B5EF4-FFF2-40B4-BE49-F238E27FC236}">
                <a16:creationId xmlns:a16="http://schemas.microsoft.com/office/drawing/2014/main" id="{8A86F76C-C2E7-CEA8-0F1D-686EE5E74D42}"/>
              </a:ext>
            </a:extLst>
          </p:cNvPr>
          <p:cNvSpPr txBox="1"/>
          <p:nvPr/>
        </p:nvSpPr>
        <p:spPr>
          <a:xfrm>
            <a:off x="609600" y="3251199"/>
            <a:ext cx="10972800" cy="292100"/>
          </a:xfrm>
          <a:prstGeom prst="rect">
            <a:avLst/>
          </a:prstGeom>
          <a:noFill/>
        </p:spPr>
        <p:txBody>
          <a:bodyPr vert="horz" wrap="square" lIns="0" tIns="0" rIns="0" bIns="0" rtlCol="0">
            <a:noAutofit/>
          </a:bodyPr>
          <a:lstStyle/>
          <a:p>
            <a:r>
              <a:rPr lang="en-US" sz="1500">
                <a:solidFill>
                  <a:srgbClr val="1D1D1B"/>
                </a:solidFill>
                <a:latin typeface="Segoe UI" panose="020B0502040204020203" pitchFamily="34" charset="0"/>
                <a:hlinkClick r:id="rId5"/>
              </a:rPr>
              <a:t>https://www.seylan.lk/promotions/cards/supermarket/keells</a:t>
            </a:r>
            <a:endParaRPr lang="en-US" sz="1500">
              <a:solidFill>
                <a:srgbClr val="1D1D1B"/>
              </a:solidFill>
              <a:latin typeface="Segoe UI" panose="020B0502040204020203" pitchFamily="34" charset="0"/>
            </a:endParaRPr>
          </a:p>
        </p:txBody>
      </p:sp>
      <p:sp>
        <p:nvSpPr>
          <p:cNvPr id="10" name="Source detail 1">
            <a:extLst>
              <a:ext uri="{FF2B5EF4-FFF2-40B4-BE49-F238E27FC236}">
                <a16:creationId xmlns:a16="http://schemas.microsoft.com/office/drawing/2014/main" id="{A40EB32E-B6E7-275A-5174-352AA78905A9}"/>
              </a:ext>
            </a:extLst>
          </p:cNvPr>
          <p:cNvSpPr txBox="1"/>
          <p:nvPr/>
        </p:nvSpPr>
        <p:spPr>
          <a:xfrm>
            <a:off x="609600" y="3555999"/>
            <a:ext cx="10972800" cy="279400"/>
          </a:xfrm>
          <a:prstGeom prst="rect">
            <a:avLst/>
          </a:prstGeom>
          <a:noFill/>
        </p:spPr>
        <p:txBody>
          <a:bodyPr vert="horz" wrap="square" lIns="0" tIns="0" rIns="0" bIns="0" rtlCol="0">
            <a:noAutofit/>
          </a:bodyPr>
          <a:lstStyle/>
          <a:p>
            <a:r>
              <a:rPr lang="en-US" sz="1400">
                <a:solidFill>
                  <a:srgbClr val="5C5C57"/>
                </a:solidFill>
                <a:latin typeface="Segoe UI" panose="020B0502040204020203" pitchFamily="34" charset="0"/>
              </a:rPr>
              <a:t>Captured sample: fixtures/v2/offer-sample-seylan.json</a:t>
            </a:r>
          </a:p>
        </p:txBody>
      </p:sp>
      <p:sp>
        <p:nvSpPr>
          <p:cNvPr id="11" name="Source title 2">
            <a:extLst>
              <a:ext uri="{FF2B5EF4-FFF2-40B4-BE49-F238E27FC236}">
                <a16:creationId xmlns:a16="http://schemas.microsoft.com/office/drawing/2014/main" id="{B263AB2B-1548-0662-A071-7B6DC1729443}"/>
              </a:ext>
            </a:extLst>
          </p:cNvPr>
          <p:cNvSpPr txBox="1"/>
          <p:nvPr/>
        </p:nvSpPr>
        <p:spPr>
          <a:xfrm>
            <a:off x="609600" y="3949699"/>
            <a:ext cx="10972800" cy="355600"/>
          </a:xfrm>
          <a:prstGeom prst="rect">
            <a:avLst/>
          </a:prstGeom>
          <a:noFill/>
        </p:spPr>
        <p:txBody>
          <a:bodyPr vert="horz" wrap="square" lIns="0" tIns="0" rIns="0" bIns="0" rtlCol="0">
            <a:noAutofit/>
          </a:bodyPr>
          <a:lstStyle/>
          <a:p>
            <a:r>
              <a:rPr lang="en-US" sz="1900" b="1">
                <a:solidFill>
                  <a:srgbClr val="0B6E4F"/>
                </a:solidFill>
                <a:latin typeface="Segoe UI" panose="020B0502040204020203" pitchFamily="34" charset="0"/>
              </a:rPr>
              <a:t>Source repository</a:t>
            </a:r>
          </a:p>
        </p:txBody>
      </p:sp>
      <p:sp>
        <p:nvSpPr>
          <p:cNvPr id="12" name="Source address 2">
            <a:extLst>
              <a:ext uri="{FF2B5EF4-FFF2-40B4-BE49-F238E27FC236}">
                <a16:creationId xmlns:a16="http://schemas.microsoft.com/office/drawing/2014/main" id="{26260A6F-8554-36F5-E35E-F943CA56BAD5}"/>
              </a:ext>
            </a:extLst>
          </p:cNvPr>
          <p:cNvSpPr txBox="1"/>
          <p:nvPr/>
        </p:nvSpPr>
        <p:spPr>
          <a:xfrm>
            <a:off x="609600" y="4343399"/>
            <a:ext cx="10972800" cy="292100"/>
          </a:xfrm>
          <a:prstGeom prst="rect">
            <a:avLst/>
          </a:prstGeom>
          <a:noFill/>
        </p:spPr>
        <p:txBody>
          <a:bodyPr vert="horz" wrap="square" lIns="0" tIns="0" rIns="0" bIns="0" rtlCol="0">
            <a:noAutofit/>
          </a:bodyPr>
          <a:lstStyle/>
          <a:p>
            <a:r>
              <a:rPr lang="en-US" sz="1500">
                <a:solidFill>
                  <a:srgbClr val="1D1D1B"/>
                </a:solidFill>
                <a:latin typeface="Segoe UI" panose="020B0502040204020203" pitchFamily="34" charset="0"/>
                <a:hlinkClick r:id="rId6"/>
              </a:rPr>
              <a:t>https://github.com/nyogendran/savvy-cart-ai</a:t>
            </a:r>
            <a:endParaRPr lang="en-US" sz="1500">
              <a:solidFill>
                <a:srgbClr val="1D1D1B"/>
              </a:solidFill>
              <a:latin typeface="Segoe UI" panose="020B0502040204020203" pitchFamily="34" charset="0"/>
            </a:endParaRPr>
          </a:p>
        </p:txBody>
      </p:sp>
      <p:sp>
        <p:nvSpPr>
          <p:cNvPr id="13" name="Source detail 2">
            <a:extLst>
              <a:ext uri="{FF2B5EF4-FFF2-40B4-BE49-F238E27FC236}">
                <a16:creationId xmlns:a16="http://schemas.microsoft.com/office/drawing/2014/main" id="{F0B683D9-6FB6-7A5D-23AA-9174314D6CE3}"/>
              </a:ext>
            </a:extLst>
          </p:cNvPr>
          <p:cNvSpPr txBox="1"/>
          <p:nvPr/>
        </p:nvSpPr>
        <p:spPr>
          <a:xfrm>
            <a:off x="609600" y="4648199"/>
            <a:ext cx="10972800" cy="279400"/>
          </a:xfrm>
          <a:prstGeom prst="rect">
            <a:avLst/>
          </a:prstGeom>
          <a:noFill/>
        </p:spPr>
        <p:txBody>
          <a:bodyPr vert="horz" wrap="square" lIns="0" tIns="0" rIns="0" bIns="0" rtlCol="0">
            <a:noAutofit/>
          </a:bodyPr>
          <a:lstStyle/>
          <a:p>
            <a:r>
              <a:rPr lang="en-US" sz="1400">
                <a:solidFill>
                  <a:srgbClr val="5C5C57"/>
                </a:solidFill>
                <a:latin typeface="Segoe UI" panose="020B0502040204020203" pitchFamily="34" charset="0"/>
              </a:rPr>
              <a:t>Public repository, open to anonymous visitors</a:t>
            </a:r>
          </a:p>
        </p:txBody>
      </p:sp>
      <p:sp>
        <p:nvSpPr>
          <p:cNvPr id="14" name="Source title 3">
            <a:extLst>
              <a:ext uri="{FF2B5EF4-FFF2-40B4-BE49-F238E27FC236}">
                <a16:creationId xmlns:a16="http://schemas.microsoft.com/office/drawing/2014/main" id="{47DE1010-F475-889E-B22F-FD08B9590295}"/>
              </a:ext>
            </a:extLst>
          </p:cNvPr>
          <p:cNvSpPr txBox="1"/>
          <p:nvPr/>
        </p:nvSpPr>
        <p:spPr>
          <a:xfrm>
            <a:off x="609600" y="5041899"/>
            <a:ext cx="10972800" cy="355600"/>
          </a:xfrm>
          <a:prstGeom prst="rect">
            <a:avLst/>
          </a:prstGeom>
          <a:noFill/>
        </p:spPr>
        <p:txBody>
          <a:bodyPr vert="horz" wrap="square" lIns="0" tIns="0" rIns="0" bIns="0" rtlCol="0">
            <a:noAutofit/>
          </a:bodyPr>
          <a:lstStyle/>
          <a:p>
            <a:r>
              <a:rPr lang="en-US" sz="1900" b="1">
                <a:solidFill>
                  <a:srgbClr val="0B6E4F"/>
                </a:solidFill>
                <a:latin typeface="Segoe UI" panose="020B0502040204020203" pitchFamily="34" charset="0"/>
              </a:rPr>
              <a:t>Local reproduction</a:t>
            </a:r>
          </a:p>
        </p:txBody>
      </p:sp>
      <p:sp>
        <p:nvSpPr>
          <p:cNvPr id="15" name="Source address 3">
            <a:extLst>
              <a:ext uri="{FF2B5EF4-FFF2-40B4-BE49-F238E27FC236}">
                <a16:creationId xmlns:a16="http://schemas.microsoft.com/office/drawing/2014/main" id="{43BCDC16-42C0-8D7B-CD19-8EB7A7F0FA08}"/>
              </a:ext>
            </a:extLst>
          </p:cNvPr>
          <p:cNvSpPr txBox="1"/>
          <p:nvPr/>
        </p:nvSpPr>
        <p:spPr>
          <a:xfrm>
            <a:off x="609600" y="5435599"/>
            <a:ext cx="10972800" cy="292100"/>
          </a:xfrm>
          <a:prstGeom prst="rect">
            <a:avLst/>
          </a:prstGeom>
          <a:noFill/>
        </p:spPr>
        <p:txBody>
          <a:bodyPr vert="horz" wrap="square" lIns="0" tIns="0" rIns="0" bIns="0" rtlCol="0">
            <a:noAutofit/>
          </a:bodyPr>
          <a:lstStyle/>
          <a:p>
            <a:r>
              <a:rPr lang="en-US" sz="1500">
                <a:solidFill>
                  <a:srgbClr val="1D1D1B"/>
                </a:solidFill>
                <a:latin typeface="Segoe UI" panose="020B0502040204020203" pitchFamily="34" charset="0"/>
              </a:rPr>
              <a:t>python -m pytest -q</a:t>
            </a:r>
          </a:p>
        </p:txBody>
      </p:sp>
      <p:sp>
        <p:nvSpPr>
          <p:cNvPr id="16" name="Source detail 3">
            <a:extLst>
              <a:ext uri="{FF2B5EF4-FFF2-40B4-BE49-F238E27FC236}">
                <a16:creationId xmlns:a16="http://schemas.microsoft.com/office/drawing/2014/main" id="{33924BFB-04A7-567B-35E5-6033AA238CDF}"/>
              </a:ext>
            </a:extLst>
          </p:cNvPr>
          <p:cNvSpPr txBox="1"/>
          <p:nvPr/>
        </p:nvSpPr>
        <p:spPr>
          <a:xfrm>
            <a:off x="609600" y="5740399"/>
            <a:ext cx="10972800" cy="279400"/>
          </a:xfrm>
          <a:prstGeom prst="rect">
            <a:avLst/>
          </a:prstGeom>
          <a:noFill/>
        </p:spPr>
        <p:txBody>
          <a:bodyPr vert="horz" wrap="square" lIns="0" tIns="0" rIns="0" bIns="0" rtlCol="0">
            <a:noAutofit/>
          </a:bodyPr>
          <a:lstStyle/>
          <a:p>
            <a:r>
              <a:rPr lang="en-US" sz="1400">
                <a:solidFill>
                  <a:srgbClr val="5C5C57"/>
                </a:solidFill>
                <a:latin typeface="Segoe UI" panose="020B0502040204020203" pitchFamily="34" charset="0"/>
              </a:rPr>
              <a:t>README.md; fixtures/v2; samples/purchase-history.json</a:t>
            </a:r>
          </a:p>
        </p:txBody>
      </p:sp>
    </p:spTree>
    <p:extLst>
      <p:ext uri="{BB962C8B-B14F-4D97-AF65-F5344CB8AC3E}">
        <p14:creationId xmlns:p14="http://schemas.microsoft.com/office/powerpoint/2010/main" val="2366393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2727</Words>
  <Application>Microsoft Office PowerPoint</Application>
  <PresentationFormat>Widescreen</PresentationFormat>
  <Paragraphs>184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Yogendran Nadaraja</dc:creator>
  <cp:lastModifiedBy>Yogendran Nadaraja</cp:lastModifiedBy>
  <cp:revision>1</cp:revision>
  <dcterms:created xsi:type="dcterms:W3CDTF">2026-10-18T05:44:45Z</dcterms:created>
  <dcterms:modified xsi:type="dcterms:W3CDTF">2026-10-18T05:49:27Z</dcterms:modified>
</cp:coreProperties>
</file>