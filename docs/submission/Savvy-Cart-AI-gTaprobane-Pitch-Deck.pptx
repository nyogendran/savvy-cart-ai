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1" r:id="rId15"/>
  </p:sldIdLst>
  <p:sldSz cx="9144000" cy="5143500" type="screen16x9"/>
  <p:notesSz cx="6858000" cy="9144000"/>
  <p:embeddedFontLst>
    <p:embeddedFont>
      <p:font typeface="Google Sans Flex" panose="020B0604020202020204" charset="0"/>
      <p:regular r:id="rId17"/>
      <p:bold r:id="rId18"/>
    </p:embeddedFont>
    <p:embeddedFont>
      <p:font typeface="Google Sans Flex Medium" panose="020B0604020202020204" charset="0"/>
      <p:regular r:id="rId19"/>
      <p:bold r:id="rId20"/>
    </p:embeddedFont>
    <p:embeddedFont>
      <p:font typeface="Google Sans Flex SemiBold" panose="020B0604020202020204"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fb085bff3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fb085bff3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fb085bff3c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b085bff3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b085bff3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b085bff3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b085bff3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b085bff3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b085bff3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b085bff3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fb085bff3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b085bff3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b085bff3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b085bff3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b085bff3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b085bff3c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b085bff3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b085bff3c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b085bff3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b085bff3c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b085bff3c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fb085bff3c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fb085bff3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fb085bff3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fb085bff3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savvy-cart-890425261137.asia-southeast1.run.app/"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drive.google.com/file/d/1Cd5qmh_iy9CY1ve3j-5zL7ni1uUoa6Zr/view" TargetMode="External"/><Relationship Id="rId5" Type="http://schemas.openxmlformats.org/officeDocument/2006/relationships/hyperlink" Target="https://github.com/nyogendran/savvy-cart-ai" TargetMode="Externa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46600" y="2902694"/>
            <a:ext cx="8760000" cy="209187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dirty="0">
                <a:latin typeface="Google Sans Flex SemiBold"/>
                <a:ea typeface="Google Sans Flex SemiBold"/>
                <a:cs typeface="Google Sans Flex SemiBold"/>
                <a:sym typeface="Google Sans Flex SemiBold"/>
              </a:rPr>
              <a:t>Team Details</a:t>
            </a:r>
            <a:endParaRPr sz="2100" dirty="0">
              <a:latin typeface="Google Sans Flex SemiBold"/>
              <a:ea typeface="Google Sans Flex SemiBold"/>
              <a:cs typeface="Google Sans Flex SemiBold"/>
              <a:sym typeface="Google Sans Flex SemiBold"/>
            </a:endParaRPr>
          </a:p>
          <a:p>
            <a:pPr marL="0" lvl="0" indent="0" algn="l" rtl="0">
              <a:spcBef>
                <a:spcPts val="0"/>
              </a:spcBef>
              <a:spcAft>
                <a:spcPts val="0"/>
              </a:spcAft>
              <a:buNone/>
            </a:pPr>
            <a:endParaRPr sz="1800" dirty="0">
              <a:latin typeface="Google Sans Flex Medium"/>
              <a:ea typeface="Google Sans Flex Medium"/>
              <a:cs typeface="Google Sans Flex Medium"/>
              <a:sym typeface="Google Sans Flex Medium"/>
            </a:endParaRPr>
          </a:p>
          <a:p>
            <a:pPr marL="914400" lvl="1" indent="-342900" algn="l" rtl="0">
              <a:lnSpc>
                <a:spcPct val="110000"/>
              </a:lnSpc>
              <a:spcBef>
                <a:spcPts val="0"/>
              </a:spcBef>
              <a:spcAft>
                <a:spcPts val="0"/>
              </a:spcAft>
              <a:buSzPts val="1800"/>
              <a:buFont typeface="Google Sans Flex"/>
              <a:buAutoNum type="alphaLcPeriod"/>
            </a:pPr>
            <a:r>
              <a:rPr lang="en-GB" sz="1600" dirty="0">
                <a:latin typeface="Google Sans Flex Medium"/>
                <a:ea typeface="Google Sans Flex Medium"/>
                <a:cs typeface="Google Sans Flex Medium"/>
                <a:sym typeface="Google Sans Flex"/>
              </a:rPr>
              <a:t>Team name: </a:t>
            </a:r>
            <a:r>
              <a:rPr lang="en-GB" sz="1600" dirty="0" err="1">
                <a:latin typeface="Google Sans Flex Medium"/>
                <a:ea typeface="Google Sans Flex Medium"/>
                <a:cs typeface="Google Sans Flex Medium"/>
                <a:sym typeface="Google Sans Flex"/>
              </a:rPr>
              <a:t>gTaprobane</a:t>
            </a:r>
            <a:endParaRPr sz="1600" dirty="0">
              <a:latin typeface="Google Sans Flex Medium"/>
              <a:ea typeface="Google Sans Flex Medium"/>
              <a:cs typeface="Google Sans Flex Medium"/>
              <a:sym typeface="Google Sans Flex"/>
            </a:endParaRPr>
          </a:p>
          <a:p>
            <a:pPr marL="914400" lvl="1" indent="-342900" algn="l" rtl="0">
              <a:lnSpc>
                <a:spcPct val="110000"/>
              </a:lnSpc>
              <a:spcBef>
                <a:spcPts val="0"/>
              </a:spcBef>
              <a:spcAft>
                <a:spcPts val="0"/>
              </a:spcAft>
              <a:buSzPts val="1800"/>
              <a:buFont typeface="Google Sans Flex"/>
              <a:buAutoNum type="alphaLcPeriod"/>
            </a:pPr>
            <a:r>
              <a:rPr lang="en-GB" sz="1600" dirty="0">
                <a:latin typeface="Google Sans Flex Medium"/>
                <a:ea typeface="Google Sans Flex Medium"/>
                <a:cs typeface="Google Sans Flex Medium"/>
                <a:sym typeface="Google Sans Flex"/>
              </a:rPr>
              <a:t>Team leader name: Yogendran Nadaraja</a:t>
            </a:r>
            <a:endParaRPr sz="1600" dirty="0">
              <a:latin typeface="Google Sans Flex Medium"/>
              <a:ea typeface="Google Sans Flex Medium"/>
              <a:cs typeface="Google Sans Flex Medium"/>
              <a:sym typeface="Google Sans Flex"/>
            </a:endParaRPr>
          </a:p>
          <a:p>
            <a:pPr marL="914400" lvl="1" indent="-342900" algn="l" rtl="0">
              <a:lnSpc>
                <a:spcPct val="110000"/>
              </a:lnSpc>
              <a:spcBef>
                <a:spcPts val="0"/>
              </a:spcBef>
              <a:spcAft>
                <a:spcPts val="0"/>
              </a:spcAft>
              <a:buSzPts val="1800"/>
              <a:buFont typeface="Google Sans Flex"/>
              <a:buAutoNum type="alphaLcPeriod"/>
            </a:pPr>
            <a:r>
              <a:rPr lang="en-GB" sz="1600" dirty="0">
                <a:latin typeface="Google Sans Flex Medium"/>
                <a:ea typeface="Google Sans Flex Medium"/>
                <a:cs typeface="Google Sans Flex Medium"/>
                <a:sym typeface="Google Sans Flex"/>
              </a:rPr>
              <a:t>Problem Statement: </a:t>
            </a:r>
            <a:r>
              <a:rPr lang="en-US" sz="1600" dirty="0">
                <a:latin typeface="Google Sans Flex Medium"/>
                <a:ea typeface="Google Sans Flex Medium"/>
                <a:cs typeface="Google Sans Flex Medium"/>
                <a:sym typeface="Google Sans Flex"/>
              </a:rPr>
              <a:t> A bank's headline discount rarely applies to the whole basket. The real saving is the basket total after each offer's exclusions, minimum bill, and cap, and no shopper can work that out at the till.</a:t>
            </a:r>
            <a:endParaRPr sz="1600" dirty="0">
              <a:latin typeface="Google Sans Flex Medium"/>
              <a:ea typeface="Google Sans Flex Medium"/>
              <a:cs typeface="Google Sans Flex Medium"/>
              <a:sym typeface="Google Sans Flex"/>
            </a:endParaRPr>
          </a:p>
          <a:p>
            <a:pPr marL="0" lvl="0" indent="0" algn="l" rtl="0">
              <a:spcBef>
                <a:spcPts val="0"/>
              </a:spcBef>
              <a:spcAft>
                <a:spcPts val="0"/>
              </a:spcAft>
              <a:buNone/>
            </a:pPr>
            <a:endParaRPr sz="1800" dirty="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Google Shape;71;p15"/>
          <p:cNvSpPr txBox="1"/>
          <p:nvPr/>
        </p:nvSpPr>
        <p:spPr>
          <a:xfrm>
            <a:off x="265350" y="663824"/>
            <a:ext cx="8629268" cy="3908175"/>
          </a:xfrm>
          <a:prstGeom prst="rect">
            <a:avLst/>
          </a:prstGeom>
          <a:noFill/>
          <a:ln>
            <a:noFill/>
          </a:ln>
        </p:spPr>
        <p:txBody>
          <a:bodyPr spcFirstLastPara="1" wrap="square" lIns="91425" tIns="91425" rIns="91425" bIns="91425" anchor="t" anchorCtr="0">
            <a:noAutofit/>
          </a:bodyPr>
          <a:lstStyle/>
          <a:p>
            <a:r>
              <a:rPr lang="en-GB" sz="1600" dirty="0">
                <a:latin typeface="Google Sans Flex Medium"/>
                <a:ea typeface="Google Sans Flex Medium"/>
                <a:cs typeface="Google Sans Flex Medium"/>
                <a:sym typeface="Google Sans Flex Medium"/>
              </a:rPr>
              <a:t>Brief about the idea</a:t>
            </a:r>
          </a:p>
          <a:p>
            <a:endParaRPr lang="en-GB" sz="1600" dirty="0">
              <a:latin typeface="Google Sans Flex Medium"/>
              <a:ea typeface="Google Sans Flex Medium"/>
              <a:cs typeface="Google Sans Flex Medium"/>
              <a:sym typeface="Google Sans Flex Medium"/>
            </a:endParaRPr>
          </a:p>
          <a:p>
            <a:pPr marL="285750" indent="-285750">
              <a:buFont typeface="Arial" panose="020B0604020202020204" pitchFamily="34" charset="0"/>
              <a:buChar char="•"/>
            </a:pPr>
            <a:r>
              <a:rPr lang="en-US" dirty="0">
                <a:latin typeface="Google Sans Flex Medium"/>
                <a:ea typeface="Google Sans Flex Medium"/>
                <a:cs typeface="Google Sans Flex Medium"/>
              </a:rPr>
              <a:t>Savvy Cart AI is a grocery basket optimizer for Sri Lankan households that understands offer conditions. Gemini reads a household's receipts; the pantry works out what is running low from the gaps between purchases</a:t>
            </a:r>
          </a:p>
          <a:p>
            <a:pPr marL="285750" indent="-285750">
              <a:buFont typeface="Arial" panose="020B0604020202020204" pitchFamily="34" charset="0"/>
              <a:buChar char="•"/>
            </a:pPr>
            <a:endParaRPr lang="en-US" dirty="0">
              <a:latin typeface="Google Sans Flex Medium"/>
              <a:ea typeface="Google Sans Flex Medium"/>
              <a:cs typeface="Google Sans Flex Medium"/>
            </a:endParaRPr>
          </a:p>
          <a:p>
            <a:pPr marL="285750" indent="-285750">
              <a:buFont typeface="Arial" panose="020B0604020202020204" pitchFamily="34" charset="0"/>
              <a:buChar char="•"/>
            </a:pPr>
            <a:r>
              <a:rPr lang="en-US" dirty="0">
                <a:latin typeface="Google Sans Flex Medium"/>
                <a:ea typeface="Google Sans Flex Medium"/>
                <a:cs typeface="Google Sans Flex Medium"/>
              </a:rPr>
              <a:t>Deterministic code then plans the cheapest valid way to buy it on a chosen day: across up to four stores, one card per bill, with every exclusion, minimum bill, cap, and store or card rule applied exactly. Nothing is guessed by a model</a:t>
            </a:r>
          </a:p>
          <a:p>
            <a:pPr marL="285750" indent="-285750">
              <a:buFont typeface="Arial" panose="020B0604020202020204" pitchFamily="34" charset="0"/>
              <a:buChar char="•"/>
            </a:pPr>
            <a:endParaRPr lang="en-US" dirty="0">
              <a:latin typeface="Google Sans Flex Medium"/>
              <a:ea typeface="Google Sans Flex Medium"/>
              <a:cs typeface="Google Sans Flex Medium"/>
            </a:endParaRPr>
          </a:p>
          <a:p>
            <a:pPr marL="285750" indent="-285750">
              <a:buFont typeface="Arial" panose="020B0604020202020204" pitchFamily="34" charset="0"/>
              <a:buChar char="•"/>
            </a:pPr>
            <a:r>
              <a:rPr lang="en-US" dirty="0">
                <a:latin typeface="Google Sans Flex Medium"/>
                <a:ea typeface="Google Sans Flex Medium"/>
                <a:cs typeface="Google Sans Flex Medium"/>
              </a:rPr>
              <a:t>Offer Reality Check puts a bank offer's headline next to what its terms actually pay on the shopper's own basket</a:t>
            </a:r>
          </a:p>
          <a:p>
            <a:pPr marL="285750" indent="-285750">
              <a:buFont typeface="Arial" panose="020B0604020202020204" pitchFamily="34" charset="0"/>
              <a:buChar char="•"/>
            </a:pPr>
            <a:endParaRPr lang="en-US" dirty="0">
              <a:latin typeface="Google Sans Flex Medium"/>
              <a:ea typeface="Google Sans Flex Medium"/>
              <a:cs typeface="Google Sans Flex Medium"/>
            </a:endParaRPr>
          </a:p>
          <a:p>
            <a:pPr marL="285750" indent="-285750">
              <a:buFont typeface="Arial" panose="020B0604020202020204" pitchFamily="34" charset="0"/>
              <a:buChar char="•"/>
            </a:pPr>
            <a:r>
              <a:rPr lang="en-US" dirty="0">
                <a:latin typeface="Google Sans Flex Medium"/>
                <a:ea typeface="Google Sans Flex Medium"/>
                <a:cs typeface="Google Sans Flex Medium"/>
              </a:rPr>
              <a:t>It is live on Cloud Run with Gemini and the Agent Development Kit (ADK): a five-step guest flow with no login, ending in a MOCK approval. No order is placed</a:t>
            </a:r>
            <a:endParaRPr dirty="0">
              <a:latin typeface="Google Sans Flex Medium"/>
              <a:ea typeface="Google Sans Flex Medium"/>
              <a:cs typeface="Google Sans Flex Medium"/>
              <a:sym typeface="Google Sans Flex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6"/>
          <p:cNvSpPr txBox="1"/>
          <p:nvPr/>
        </p:nvSpPr>
        <p:spPr>
          <a:xfrm>
            <a:off x="265350" y="663824"/>
            <a:ext cx="8594632" cy="35964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SemiBold"/>
                <a:ea typeface="Google Sans Flex SemiBold"/>
                <a:cs typeface="Google Sans Flex SemiBold"/>
                <a:sym typeface="Google Sans Flex SemiBold"/>
              </a:rPr>
              <a:t>Opportunities</a:t>
            </a:r>
            <a:br>
              <a:rPr lang="en-GB" sz="1600" dirty="0">
                <a:latin typeface="Google Sans Flex SemiBold"/>
                <a:ea typeface="Google Sans Flex SemiBold"/>
                <a:cs typeface="Google Sans Flex SemiBold"/>
                <a:sym typeface="Google Sans Flex SemiBold"/>
              </a:rPr>
            </a:br>
            <a:endParaRPr lang="en-GB" sz="1600" dirty="0">
              <a:latin typeface="Google Sans Flex SemiBold"/>
              <a:ea typeface="Google Sans Flex SemiBold"/>
              <a:cs typeface="Google Sans Flex SemiBold"/>
              <a:sym typeface="Google Sans Flex SemiBold"/>
            </a:endParaRPr>
          </a:p>
          <a:p>
            <a:pPr marL="0" lvl="0" indent="0" algn="l" rtl="0">
              <a:spcBef>
                <a:spcPts val="0"/>
              </a:spcBef>
              <a:spcAft>
                <a:spcPts val="0"/>
              </a:spcAft>
              <a:buNone/>
            </a:pPr>
            <a:endParaRPr sz="1600" dirty="0">
              <a:latin typeface="Google Sans Flex SemiBold"/>
              <a:ea typeface="Google Sans Flex SemiBold"/>
              <a:cs typeface="Google Sans Flex SemiBold"/>
              <a:sym typeface="Google Sans Flex SemiBold"/>
            </a:endParaRPr>
          </a:p>
          <a:p>
            <a:pPr marL="285750" lvl="0" indent="-285750">
              <a:buFont typeface="Arial" panose="020B0604020202020204" pitchFamily="34" charset="0"/>
              <a:buChar char="•"/>
            </a:pPr>
            <a:r>
              <a:rPr lang="en-US" b="1" dirty="0">
                <a:latin typeface="Google Sans Flex Medium"/>
                <a:ea typeface="Google Sans Flex Medium"/>
                <a:cs typeface="Google Sans Flex Medium"/>
              </a:rPr>
              <a:t>How it's different</a:t>
            </a:r>
            <a:r>
              <a:rPr lang="en-US" dirty="0">
                <a:latin typeface="Google Sans Flex Medium"/>
                <a:ea typeface="Google Sans Flex Medium"/>
                <a:cs typeface="Google Sans Flex Medium"/>
              </a:rPr>
              <a:t>: Price-comparison apps find the cheapest store for each item. Savvy Cart prices the whole basket after each card offer's exclusions, minimum bill, cap, and no-combining rule. It also shows, line by line, when a "10% off every Saturday" pays LKR 0</a:t>
            </a:r>
          </a:p>
          <a:p>
            <a:pPr lvl="0"/>
            <a:endParaRPr lang="en-US" dirty="0">
              <a:latin typeface="Google Sans Flex Medium"/>
              <a:ea typeface="Google Sans Flex Medium"/>
              <a:cs typeface="Google Sans Flex Medium"/>
            </a:endParaRPr>
          </a:p>
          <a:p>
            <a:pPr marL="285750" lvl="0" indent="-285750">
              <a:buFont typeface="Arial" panose="020B0604020202020204" pitchFamily="34" charset="0"/>
              <a:buChar char="•"/>
            </a:pPr>
            <a:r>
              <a:rPr lang="en-US" b="1" dirty="0">
                <a:latin typeface="Google Sans Flex Medium"/>
                <a:ea typeface="Google Sans Flex Medium"/>
                <a:cs typeface="Google Sans Flex Medium"/>
              </a:rPr>
              <a:t>How it solves the problem</a:t>
            </a:r>
            <a:r>
              <a:rPr lang="en-US" dirty="0">
                <a:latin typeface="Google Sans Flex Medium"/>
                <a:ea typeface="Google Sans Flex Medium"/>
                <a:cs typeface="Google Sans Flex Medium"/>
              </a:rPr>
              <a:t>: Gemini turns receipts and offer text into structured data. An exact OR-Tools optimizer assigns items to stores and applies every rule. The shopper compares the plan with shelf price, sees the best day to shop, and approves. Nothing is ordered automatically</a:t>
            </a:r>
          </a:p>
          <a:p>
            <a:pPr lvl="0"/>
            <a:endParaRPr lang="en-US" dirty="0">
              <a:latin typeface="Google Sans Flex Medium"/>
              <a:ea typeface="Google Sans Flex Medium"/>
              <a:cs typeface="Google Sans Flex Medium"/>
            </a:endParaRPr>
          </a:p>
          <a:p>
            <a:pPr marL="285750" lvl="0" indent="-285750">
              <a:buFont typeface="Arial" panose="020B0604020202020204" pitchFamily="34" charset="0"/>
              <a:buChar char="•"/>
            </a:pPr>
            <a:r>
              <a:rPr lang="en-US" b="1" dirty="0">
                <a:latin typeface="Google Sans Flex Medium"/>
                <a:ea typeface="Google Sans Flex Medium"/>
                <a:cs typeface="Google Sans Flex Medium"/>
              </a:rPr>
              <a:t>USP</a:t>
            </a:r>
            <a:r>
              <a:rPr lang="en-US" dirty="0">
                <a:latin typeface="Google Sans Flex Medium"/>
                <a:ea typeface="Google Sans Flex Medium"/>
                <a:cs typeface="Google Sans Flex Medium"/>
              </a:rPr>
              <a:t>: AI reads, code counts. Every rupee comes from deterministic code. Two grounding layers remove any price, discount, or total the engine did not produce, so the plan can be trusted</a:t>
            </a: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p17"/>
          <p:cNvSpPr txBox="1"/>
          <p:nvPr/>
        </p:nvSpPr>
        <p:spPr>
          <a:xfrm>
            <a:off x="265350" y="663824"/>
            <a:ext cx="8943000" cy="4303031"/>
          </a:xfrm>
          <a:prstGeom prst="rect">
            <a:avLst/>
          </a:prstGeom>
          <a:noFill/>
          <a:ln>
            <a:noFill/>
          </a:ln>
        </p:spPr>
        <p:txBody>
          <a:bodyPr spcFirstLastPara="1" wrap="square" lIns="91425" tIns="91425" rIns="91425" bIns="91425" anchor="t" anchorCtr="0">
            <a:noAutofit/>
          </a:bodyPr>
          <a:lstStyle/>
          <a:p>
            <a:pPr lvl="0"/>
            <a:r>
              <a:rPr lang="en-GB" sz="1600" dirty="0">
                <a:latin typeface="Google Sans Flex Medium"/>
                <a:ea typeface="Google Sans Flex Medium"/>
                <a:cs typeface="Google Sans Flex Medium"/>
                <a:sym typeface="Google Sans Flex Medium"/>
              </a:rPr>
              <a:t>List of features offered by the solution</a:t>
            </a:r>
            <a:br>
              <a:rPr lang="en-GB" sz="1600" dirty="0">
                <a:latin typeface="Google Sans Flex Medium"/>
                <a:ea typeface="Google Sans Flex Medium"/>
                <a:cs typeface="Google Sans Flex Medium"/>
                <a:sym typeface="Google Sans Flex Medium"/>
              </a:rPr>
            </a:br>
            <a:endParaRPr lang="en-GB" sz="1600" dirty="0">
              <a:latin typeface="Google Sans Flex Medium"/>
              <a:ea typeface="Google Sans Flex Medium"/>
              <a:cs typeface="Google Sans Flex Medium"/>
              <a:sym typeface="Google Sans Flex Medium"/>
            </a:endParaRPr>
          </a:p>
          <a:p>
            <a:pPr marL="285750" lvl="1" indent="-285750">
              <a:buFont typeface="Arial" panose="020B0604020202020204" pitchFamily="34" charset="0"/>
              <a:buChar char="•"/>
            </a:pPr>
            <a:r>
              <a:rPr lang="en-US" dirty="0">
                <a:latin typeface="Google Sans Flex Medium"/>
                <a:ea typeface="Google Sans Flex Medium"/>
                <a:cs typeface="Google Sans Flex Medium"/>
              </a:rPr>
              <a:t>Receipt-driven pantry: due dates come from the median gap between real purchases, with no forecasting model</a:t>
            </a:r>
          </a:p>
          <a:p>
            <a:pPr lvl="1"/>
            <a:endParaRPr lang="en-US" dirty="0">
              <a:latin typeface="Google Sans Flex Medium"/>
              <a:ea typeface="Google Sans Flex Medium"/>
              <a:cs typeface="Google Sans Flex Medium"/>
            </a:endParaRPr>
          </a:p>
          <a:p>
            <a:pPr marL="285750" lvl="0" indent="-285750">
              <a:buFont typeface="Arial" panose="020B0604020202020204" pitchFamily="34" charset="0"/>
              <a:buChar char="•"/>
            </a:pPr>
            <a:r>
              <a:rPr lang="en-US" dirty="0">
                <a:latin typeface="Google Sans Flex Medium"/>
                <a:ea typeface="Google Sans Flex Medium"/>
                <a:cs typeface="Google Sans Flex Medium"/>
              </a:rPr>
              <a:t>Receipt reading with Gemini: a photo becomes catalog-matched lines, each with a confidence score</a:t>
            </a:r>
          </a:p>
          <a:p>
            <a:pPr lvl="0"/>
            <a:endParaRPr lang="en-US" dirty="0">
              <a:latin typeface="Google Sans Flex Medium"/>
              <a:ea typeface="Google Sans Flex Medium"/>
              <a:cs typeface="Google Sans Flex Medium"/>
            </a:endParaRPr>
          </a:p>
          <a:p>
            <a:pPr marL="285750" lvl="0" indent="-285750">
              <a:buFont typeface="Arial" panose="020B0604020202020204" pitchFamily="34" charset="0"/>
              <a:buChar char="•"/>
            </a:pPr>
            <a:r>
              <a:rPr lang="en-US" dirty="0">
                <a:latin typeface="Google Sans Flex Medium"/>
                <a:ea typeface="Google Sans Flex Medium"/>
                <a:cs typeface="Google Sans Flex Medium"/>
              </a:rPr>
              <a:t>Offer Reality Check: Gemini reads a bank offer's text or screenshot into validated terms, which the shopper confirms</a:t>
            </a:r>
          </a:p>
          <a:p>
            <a:pPr lvl="0"/>
            <a:endParaRPr lang="en-US" dirty="0">
              <a:latin typeface="Google Sans Flex Medium"/>
              <a:ea typeface="Google Sans Flex Medium"/>
              <a:cs typeface="Google Sans Flex Medium"/>
            </a:endParaRPr>
          </a:p>
          <a:p>
            <a:pPr marL="285750" lvl="0" indent="-285750">
              <a:buFont typeface="Arial" panose="020B0604020202020204" pitchFamily="34" charset="0"/>
              <a:buChar char="•"/>
            </a:pPr>
            <a:r>
              <a:rPr lang="en-US" dirty="0">
                <a:latin typeface="Google Sans Flex Medium"/>
                <a:ea typeface="Google Sans Flex Medium"/>
                <a:cs typeface="Google Sans Flex Medium"/>
              </a:rPr>
              <a:t>Exact multi-store optimizer (OR-Tools CP-SAT): up to four stores, store promotions, one card offer per bill, and the cost of an extra trip</a:t>
            </a:r>
          </a:p>
          <a:p>
            <a:pPr lvl="0"/>
            <a:endParaRPr lang="en-US" dirty="0">
              <a:latin typeface="Google Sans Flex Medium"/>
              <a:ea typeface="Google Sans Flex Medium"/>
              <a:cs typeface="Google Sans Flex Medium"/>
            </a:endParaRPr>
          </a:p>
          <a:p>
            <a:pPr marL="285750" lvl="0" indent="-285750">
              <a:buFont typeface="Arial" panose="020B0604020202020204" pitchFamily="34" charset="0"/>
              <a:buChar char="•"/>
            </a:pPr>
            <a:r>
              <a:rPr lang="en-US" dirty="0">
                <a:latin typeface="Google Sans Flex Medium"/>
                <a:ea typeface="Google Sans Flex Medium"/>
                <a:cs typeface="Google Sans Flex Medium"/>
              </a:rPr>
              <a:t>Ask the agent (ADK): questions in plain language, re-planning on request, and a visible trace of every tool call</a:t>
            </a:r>
          </a:p>
          <a:p>
            <a:pPr lvl="0"/>
            <a:endParaRPr lang="en-US" dirty="0">
              <a:latin typeface="Google Sans Flex Medium"/>
              <a:ea typeface="Google Sans Flex Medium"/>
              <a:cs typeface="Google Sans Flex Medium"/>
            </a:endParaRPr>
          </a:p>
          <a:p>
            <a:pPr marL="285750" lvl="0" indent="-285750">
              <a:buFont typeface="Arial" panose="020B0604020202020204" pitchFamily="34" charset="0"/>
              <a:buChar char="•"/>
            </a:pPr>
            <a:r>
              <a:rPr lang="en-US" dirty="0">
                <a:latin typeface="Google Sans Flex Medium"/>
                <a:ea typeface="Google Sans Flex Medium"/>
                <a:cs typeface="Google Sans Flex Medium"/>
              </a:rPr>
              <a:t>Honest by design: it says "this offer pays LKR 0" when it does, never invents a number, approval is MOCK, and it never handles card numbers</a:t>
            </a: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8"/>
          <p:cNvSpPr txBox="1"/>
          <p:nvPr/>
        </p:nvSpPr>
        <p:spPr>
          <a:xfrm>
            <a:off x="265350" y="663825"/>
            <a:ext cx="8650050" cy="4164484"/>
          </a:xfrm>
          <a:prstGeom prst="rect">
            <a:avLst/>
          </a:prstGeom>
          <a:noFill/>
          <a:ln>
            <a:noFill/>
          </a:ln>
        </p:spPr>
        <p:txBody>
          <a:bodyPr spcFirstLastPara="1" wrap="square" lIns="91425" tIns="91425" rIns="91425" bIns="91425" anchor="t" anchorCtr="0">
            <a:noAutofit/>
          </a:bodyPr>
          <a:lstStyle/>
          <a:p>
            <a:r>
              <a:rPr lang="en-GB" sz="1600" dirty="0">
                <a:latin typeface="Google Sans Flex Medium"/>
                <a:ea typeface="Google Sans Flex Medium"/>
                <a:cs typeface="Google Sans Flex Medium"/>
                <a:sym typeface="Google Sans Flex Medium"/>
              </a:rPr>
              <a:t>Process flow diagram or Use-case diagram</a:t>
            </a:r>
          </a:p>
          <a:p>
            <a:br>
              <a:rPr lang="en-GB" sz="1600" dirty="0">
                <a:latin typeface="Google Sans Flex Medium"/>
                <a:ea typeface="Google Sans Flex Medium"/>
                <a:cs typeface="Google Sans Flex Medium"/>
                <a:sym typeface="Google Sans Flex Medium"/>
              </a:rPr>
            </a:br>
            <a:br>
              <a:rPr lang="en-GB" sz="1600" dirty="0">
                <a:latin typeface="Google Sans Flex Medium"/>
                <a:ea typeface="Google Sans Flex Medium"/>
                <a:cs typeface="Google Sans Flex Medium"/>
                <a:sym typeface="Google Sans Flex Medium"/>
              </a:rPr>
            </a:br>
            <a:endParaRPr lang="en-GB" sz="1600" dirty="0">
              <a:latin typeface="Google Sans Flex Medium"/>
              <a:ea typeface="Google Sans Flex Medium"/>
              <a:cs typeface="Google Sans Flex Medium"/>
              <a:sym typeface="Google Sans Flex Medium"/>
            </a:endParaRPr>
          </a:p>
          <a:p>
            <a:endParaRPr lang="en-GB" sz="1600" dirty="0">
              <a:latin typeface="Google Sans Flex Medium"/>
              <a:ea typeface="Google Sans Flex Medium"/>
              <a:cs typeface="Google Sans Flex Medium"/>
              <a:sym typeface="Google Sans Flex Medium"/>
            </a:endParaRPr>
          </a:p>
          <a:p>
            <a:endParaRPr lang="en-GB" sz="1600" dirty="0">
              <a:latin typeface="Google Sans Flex Medium"/>
              <a:ea typeface="Google Sans Flex Medium"/>
              <a:cs typeface="Google Sans Flex Medium"/>
              <a:sym typeface="Google Sans Flex Medium"/>
            </a:endParaRPr>
          </a:p>
          <a:p>
            <a:endParaRPr lang="en-US" dirty="0">
              <a:latin typeface="Google Sans Flex Medium"/>
              <a:ea typeface="Google Sans Flex Medium"/>
              <a:cs typeface="Google Sans Flex Medium"/>
            </a:endParaRPr>
          </a:p>
          <a:p>
            <a:r>
              <a:rPr lang="en-US" dirty="0">
                <a:latin typeface="Google Sans Flex Medium"/>
                <a:ea typeface="Google Sans Flex Medium"/>
                <a:cs typeface="Google Sans Flex Medium"/>
              </a:rPr>
              <a:t>A guest opens the live URL, with no login:</a:t>
            </a:r>
          </a:p>
          <a:p>
            <a:endParaRPr lang="en-US" dirty="0">
              <a:latin typeface="Google Sans Flex Medium"/>
              <a:ea typeface="Google Sans Flex Medium"/>
              <a:cs typeface="Google Sans Flex Medium"/>
            </a:endParaRPr>
          </a:p>
          <a:p>
            <a:pPr marL="285750" lvl="0" indent="-285750">
              <a:lnSpc>
                <a:spcPct val="120000"/>
              </a:lnSpc>
              <a:buFont typeface="Arial" panose="020B0604020202020204" pitchFamily="34" charset="0"/>
              <a:buChar char="•"/>
            </a:pPr>
            <a:r>
              <a:rPr lang="en-US" dirty="0">
                <a:latin typeface="Google Sans Flex Medium"/>
                <a:ea typeface="Google Sans Flex Medium"/>
                <a:cs typeface="Google Sans Flex Medium"/>
              </a:rPr>
              <a:t>Pantry: purchase history shows what is running low. Add a receipt, either the sample or a photo read by Gemini</a:t>
            </a:r>
          </a:p>
          <a:p>
            <a:pPr marL="285750" lvl="0" indent="-285750">
              <a:lnSpc>
                <a:spcPct val="120000"/>
              </a:lnSpc>
              <a:buFont typeface="Arial" panose="020B0604020202020204" pitchFamily="34" charset="0"/>
              <a:buChar char="•"/>
            </a:pPr>
            <a:r>
              <a:rPr lang="en-US" dirty="0">
                <a:latin typeface="Google Sans Flex Medium"/>
                <a:ea typeface="Google Sans Flex Medium"/>
                <a:cs typeface="Google Sans Flex Medium"/>
              </a:rPr>
              <a:t>Wallet: pick cards, stores, and the cost of an extra trip, then test a bank offer with Offer Reality Check</a:t>
            </a:r>
          </a:p>
          <a:p>
            <a:pPr marL="285750" lvl="0" indent="-285750">
              <a:lnSpc>
                <a:spcPct val="120000"/>
              </a:lnSpc>
              <a:buFont typeface="Arial" panose="020B0604020202020204" pitchFamily="34" charset="0"/>
              <a:buChar char="•"/>
            </a:pPr>
            <a:r>
              <a:rPr lang="en-US" dirty="0">
                <a:latin typeface="Google Sans Flex Medium"/>
                <a:ea typeface="Google Sans Flex Medium"/>
                <a:cs typeface="Google Sans Flex Medium"/>
              </a:rPr>
              <a:t>Plan: OR-Tools picks the stores, promotions, best card offer, and best day</a:t>
            </a:r>
          </a:p>
          <a:p>
            <a:pPr marL="285750" lvl="0" indent="-285750">
              <a:lnSpc>
                <a:spcPct val="120000"/>
              </a:lnSpc>
              <a:buFont typeface="Arial" panose="020B0604020202020204" pitchFamily="34" charset="0"/>
              <a:buChar char="•"/>
            </a:pPr>
            <a:r>
              <a:rPr lang="en-US" dirty="0">
                <a:latin typeface="Google Sans Flex Medium"/>
                <a:ea typeface="Google Sans Flex Medium"/>
                <a:cs typeface="Google Sans Flex Medium"/>
              </a:rPr>
              <a:t>Why: the ADK agent explains the plan, re-plans on request, and shows every tool it called</a:t>
            </a:r>
          </a:p>
          <a:p>
            <a:pPr marL="285750" lvl="0" indent="-285750">
              <a:lnSpc>
                <a:spcPct val="120000"/>
              </a:lnSpc>
              <a:buFont typeface="Arial" panose="020B0604020202020204" pitchFamily="34" charset="0"/>
              <a:buChar char="•"/>
            </a:pPr>
            <a:r>
              <a:rPr lang="en-US" dirty="0">
                <a:latin typeface="Google Sans Flex Medium"/>
                <a:ea typeface="Google Sans Flex Medium"/>
                <a:cs typeface="Google Sans Flex Medium"/>
              </a:rPr>
              <a:t>Approve: a MOCK order preview. No order is sent</a:t>
            </a:r>
            <a:endParaRPr sz="1600" dirty="0">
              <a:latin typeface="Google Sans Flex Medium"/>
              <a:ea typeface="Google Sans Flex Medium"/>
              <a:cs typeface="Google Sans Flex Medium"/>
              <a:sym typeface="Google Sans Flex Medium"/>
            </a:endParaRPr>
          </a:p>
        </p:txBody>
      </p:sp>
      <p:sp>
        <p:nvSpPr>
          <p:cNvPr id="5" name="Arrow: Pentagon 4">
            <a:extLst>
              <a:ext uri="{FF2B5EF4-FFF2-40B4-BE49-F238E27FC236}">
                <a16:creationId xmlns:a16="http://schemas.microsoft.com/office/drawing/2014/main" id="{D372EB42-2FAC-FF49-32CB-1F835ABB3AFE}"/>
              </a:ext>
            </a:extLst>
          </p:cNvPr>
          <p:cNvSpPr/>
          <p:nvPr/>
        </p:nvSpPr>
        <p:spPr>
          <a:xfrm>
            <a:off x="638699" y="1378526"/>
            <a:ext cx="1097964" cy="637309"/>
          </a:xfrm>
          <a:prstGeom prst="homePlat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latin typeface="Google Sans Flex SemiBold" panose="020B0604020202020204" charset="0"/>
                <a:ea typeface="Google Sans Flex SemiBold" panose="020B0604020202020204" charset="0"/>
                <a:cs typeface="Google Sans Flex SemiBold" panose="020B0604020202020204" charset="0"/>
              </a:rPr>
              <a:t>Pantry</a:t>
            </a:r>
            <a:endParaRPr lang="en-US" dirty="0"/>
          </a:p>
        </p:txBody>
      </p:sp>
      <p:sp>
        <p:nvSpPr>
          <p:cNvPr id="6" name="Arrow: Pentagon 5">
            <a:extLst>
              <a:ext uri="{FF2B5EF4-FFF2-40B4-BE49-F238E27FC236}">
                <a16:creationId xmlns:a16="http://schemas.microsoft.com/office/drawing/2014/main" id="{DF33C8EA-A1A5-9CC7-9824-B975069F3118}"/>
              </a:ext>
            </a:extLst>
          </p:cNvPr>
          <p:cNvSpPr/>
          <p:nvPr/>
        </p:nvSpPr>
        <p:spPr>
          <a:xfrm>
            <a:off x="2231058" y="1378526"/>
            <a:ext cx="1097964" cy="637309"/>
          </a:xfrm>
          <a:prstGeom prst="homePlat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latin typeface="Google Sans Flex SemiBold" panose="020B0604020202020204" charset="0"/>
                <a:ea typeface="Google Sans Flex SemiBold" panose="020B0604020202020204" charset="0"/>
                <a:cs typeface="Google Sans Flex SemiBold" panose="020B0604020202020204" charset="0"/>
              </a:rPr>
              <a:t>Wallet</a:t>
            </a:r>
            <a:endParaRPr lang="en-US" dirty="0"/>
          </a:p>
        </p:txBody>
      </p:sp>
      <p:sp>
        <p:nvSpPr>
          <p:cNvPr id="7" name="Arrow: Pentagon 6">
            <a:extLst>
              <a:ext uri="{FF2B5EF4-FFF2-40B4-BE49-F238E27FC236}">
                <a16:creationId xmlns:a16="http://schemas.microsoft.com/office/drawing/2014/main" id="{CE079BED-0E93-D0AC-29AE-740AAF1BA0A2}"/>
              </a:ext>
            </a:extLst>
          </p:cNvPr>
          <p:cNvSpPr/>
          <p:nvPr/>
        </p:nvSpPr>
        <p:spPr>
          <a:xfrm>
            <a:off x="3823417" y="1378526"/>
            <a:ext cx="1097964" cy="637309"/>
          </a:xfrm>
          <a:prstGeom prst="homePlat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latin typeface="Google Sans Flex SemiBold" panose="020B0604020202020204" charset="0"/>
                <a:ea typeface="Google Sans Flex SemiBold" panose="020B0604020202020204" charset="0"/>
                <a:cs typeface="Google Sans Flex SemiBold" panose="020B0604020202020204" charset="0"/>
              </a:rPr>
              <a:t>Plan</a:t>
            </a:r>
            <a:endParaRPr lang="en-US" dirty="0"/>
          </a:p>
        </p:txBody>
      </p:sp>
      <p:sp>
        <p:nvSpPr>
          <p:cNvPr id="8" name="Arrow: Pentagon 7">
            <a:extLst>
              <a:ext uri="{FF2B5EF4-FFF2-40B4-BE49-F238E27FC236}">
                <a16:creationId xmlns:a16="http://schemas.microsoft.com/office/drawing/2014/main" id="{10F5AA0F-B3C8-F3A0-8764-1CB2FA179F2B}"/>
              </a:ext>
            </a:extLst>
          </p:cNvPr>
          <p:cNvSpPr/>
          <p:nvPr/>
        </p:nvSpPr>
        <p:spPr>
          <a:xfrm>
            <a:off x="5442235" y="1378526"/>
            <a:ext cx="1097964" cy="637309"/>
          </a:xfrm>
          <a:prstGeom prst="homePlat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latin typeface="Google Sans Flex SemiBold" panose="020B0604020202020204" charset="0"/>
                <a:ea typeface="Google Sans Flex SemiBold" panose="020B0604020202020204" charset="0"/>
                <a:cs typeface="Google Sans Flex SemiBold" panose="020B0604020202020204" charset="0"/>
              </a:rPr>
              <a:t>Why</a:t>
            </a:r>
            <a:endParaRPr lang="en-US" dirty="0"/>
          </a:p>
        </p:txBody>
      </p:sp>
      <p:sp>
        <p:nvSpPr>
          <p:cNvPr id="9" name="Arrow: Pentagon 8">
            <a:extLst>
              <a:ext uri="{FF2B5EF4-FFF2-40B4-BE49-F238E27FC236}">
                <a16:creationId xmlns:a16="http://schemas.microsoft.com/office/drawing/2014/main" id="{1254E8D8-D06D-5D6B-32F9-3CB70DBFF391}"/>
              </a:ext>
            </a:extLst>
          </p:cNvPr>
          <p:cNvSpPr/>
          <p:nvPr/>
        </p:nvSpPr>
        <p:spPr>
          <a:xfrm>
            <a:off x="7061053" y="1378526"/>
            <a:ext cx="1097964" cy="637309"/>
          </a:xfrm>
          <a:prstGeom prst="homePlat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latin typeface="Google Sans Flex SemiBold" panose="020B0604020202020204" charset="0"/>
                <a:ea typeface="Google Sans Flex SemiBold" panose="020B0604020202020204" charset="0"/>
                <a:cs typeface="Google Sans Flex SemiBold" panose="020B0604020202020204" charset="0"/>
              </a:rPr>
              <a:t>Approve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19"/>
          <p:cNvSpPr txBox="1"/>
          <p:nvPr/>
        </p:nvSpPr>
        <p:spPr>
          <a:xfrm>
            <a:off x="265350" y="663824"/>
            <a:ext cx="8566923" cy="38912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Wireframes/Mock diagrams of the proposed solution</a:t>
            </a:r>
            <a:br>
              <a:rPr lang="en-GB" sz="1600" dirty="0">
                <a:latin typeface="Google Sans Flex Medium"/>
                <a:ea typeface="Google Sans Flex Medium"/>
                <a:cs typeface="Google Sans Flex Medium"/>
                <a:sym typeface="Google Sans Flex Medium"/>
              </a:rPr>
            </a:br>
            <a:br>
              <a:rPr lang="en-GB" sz="1600" dirty="0">
                <a:latin typeface="Google Sans Flex Medium"/>
                <a:ea typeface="Google Sans Flex Medium"/>
                <a:cs typeface="Google Sans Flex Medium"/>
                <a:sym typeface="Google Sans Flex Medium"/>
              </a:rPr>
            </a:br>
            <a:endParaRPr sz="1600" dirty="0">
              <a:latin typeface="Google Sans Flex Medium"/>
              <a:ea typeface="Google Sans Flex Medium"/>
              <a:cs typeface="Google Sans Flex Medium"/>
              <a:sym typeface="Google Sans Flex Medium"/>
            </a:endParaRPr>
          </a:p>
        </p:txBody>
      </p:sp>
      <p:sp>
        <p:nvSpPr>
          <p:cNvPr id="6" name="TextBox 5">
            <a:extLst>
              <a:ext uri="{FF2B5EF4-FFF2-40B4-BE49-F238E27FC236}">
                <a16:creationId xmlns:a16="http://schemas.microsoft.com/office/drawing/2014/main" id="{9D45EE8A-9761-8BD7-FC2A-E99C0DDDE3B0}"/>
              </a:ext>
            </a:extLst>
          </p:cNvPr>
          <p:cNvSpPr txBox="1"/>
          <p:nvPr/>
        </p:nvSpPr>
        <p:spPr>
          <a:xfrm>
            <a:off x="4170750" y="1128185"/>
            <a:ext cx="4876268" cy="3841052"/>
          </a:xfrm>
          <a:prstGeom prst="rect">
            <a:avLst/>
          </a:prstGeom>
          <a:noFill/>
        </p:spPr>
        <p:txBody>
          <a:bodyPr wrap="square" rtlCol="0">
            <a:spAutoFit/>
          </a:bodyPr>
          <a:lstStyle/>
          <a:p>
            <a:r>
              <a:rPr lang="en-US" dirty="0">
                <a:latin typeface="Google Sans Flex Medium"/>
                <a:ea typeface="Google Sans Flex Medium"/>
                <a:cs typeface="Google Sans Flex Medium"/>
              </a:rPr>
              <a:t>Offer Reality Check: when a card offer pays nothing</a:t>
            </a:r>
          </a:p>
          <a:p>
            <a:endParaRPr lang="en-US" dirty="0">
              <a:latin typeface="Google Sans Flex Medium"/>
              <a:ea typeface="Google Sans Flex Medium"/>
              <a:cs typeface="Google Sans Flex Medium"/>
            </a:endParaRPr>
          </a:p>
          <a:p>
            <a:pPr marL="285750" indent="-285750">
              <a:lnSpc>
                <a:spcPct val="120000"/>
              </a:lnSpc>
              <a:buFont typeface="Arial" panose="020B0604020202020204" pitchFamily="34" charset="0"/>
              <a:buChar char="•"/>
            </a:pPr>
            <a:r>
              <a:rPr lang="en-US" dirty="0">
                <a:latin typeface="Google Sans Flex Medium"/>
                <a:ea typeface="Google Sans Flex Medium"/>
                <a:cs typeface="Google Sans Flex Medium"/>
              </a:rPr>
              <a:t>A small Saturday basket at </a:t>
            </a:r>
            <a:r>
              <a:rPr lang="en-US" dirty="0" err="1">
                <a:latin typeface="Google Sans Flex Medium"/>
                <a:ea typeface="Google Sans Flex Medium"/>
                <a:cs typeface="Google Sans Flex Medium"/>
              </a:rPr>
              <a:t>Keells</a:t>
            </a:r>
            <a:r>
              <a:rPr lang="en-US" dirty="0">
                <a:latin typeface="Google Sans Flex Medium"/>
                <a:ea typeface="Google Sans Flex Medium"/>
                <a:cs typeface="Google Sans Flex Medium"/>
              </a:rPr>
              <a:t>: banana </a:t>
            </a:r>
            <a:r>
              <a:rPr lang="en-US" dirty="0" err="1">
                <a:latin typeface="Google Sans Flex Medium"/>
                <a:ea typeface="Google Sans Flex Medium"/>
                <a:cs typeface="Google Sans Flex Medium"/>
              </a:rPr>
              <a:t>ambul</a:t>
            </a:r>
            <a:r>
              <a:rPr lang="en-US" dirty="0">
                <a:latin typeface="Google Sans Flex Medium"/>
                <a:ea typeface="Google Sans Flex Medium"/>
                <a:cs typeface="Google Sans Flex Medium"/>
              </a:rPr>
              <a:t> and tomatoes, LKR 444 after store promotions</a:t>
            </a:r>
          </a:p>
          <a:p>
            <a:pPr marL="285750" indent="-285750">
              <a:lnSpc>
                <a:spcPct val="120000"/>
              </a:lnSpc>
              <a:buFont typeface="Arial" panose="020B0604020202020204" pitchFamily="34" charset="0"/>
              <a:buChar char="•"/>
            </a:pPr>
            <a:r>
              <a:rPr lang="en-US" dirty="0">
                <a:latin typeface="Google Sans Flex Medium"/>
                <a:ea typeface="Google Sans Flex Medium"/>
                <a:cs typeface="Google Sans Flex Medium"/>
              </a:rPr>
              <a:t>The Commercial Bank offer needs LKR 4,000 of eligible items. The bill has LKR 444, so the card discount is LKR 0, shown in amber</a:t>
            </a:r>
          </a:p>
          <a:p>
            <a:pPr marL="285750" indent="-285750">
              <a:lnSpc>
                <a:spcPct val="120000"/>
              </a:lnSpc>
              <a:buFont typeface="Arial" panose="020B0604020202020204" pitchFamily="34" charset="0"/>
              <a:buChar char="•"/>
            </a:pPr>
            <a:r>
              <a:rPr lang="en-US" dirty="0">
                <a:latin typeface="Google Sans Flex Medium"/>
                <a:ea typeface="Google Sans Flex Medium"/>
                <a:cs typeface="Google Sans Flex Medium"/>
              </a:rPr>
              <a:t>Savvy Cart then checks whether anything the household needs in the next 14 days would reach the minimum. Nothing would, so it suggests nothing instead of pushing extra spending</a:t>
            </a:r>
          </a:p>
          <a:p>
            <a:pPr marL="285750" indent="-285750">
              <a:lnSpc>
                <a:spcPct val="120000"/>
              </a:lnSpc>
              <a:buFont typeface="Arial" panose="020B0604020202020204" pitchFamily="34" charset="0"/>
              <a:buChar char="•"/>
            </a:pPr>
            <a:r>
              <a:rPr lang="en-US" dirty="0">
                <a:latin typeface="Google Sans Flex Medium"/>
                <a:ea typeface="Google Sans Flex Medium"/>
                <a:cs typeface="Google Sans Flex Medium"/>
              </a:rPr>
              <a:t>The bank's minimum is a labeled assumption. The shopper can paste the real offer and check it against this basket</a:t>
            </a:r>
          </a:p>
          <a:p>
            <a:endParaRPr lang="en-US" dirty="0">
              <a:latin typeface="Google Sans Flex Medium"/>
              <a:ea typeface="Google Sans Flex Medium"/>
              <a:cs typeface="Google Sans Flex Medium"/>
            </a:endParaRPr>
          </a:p>
        </p:txBody>
      </p:sp>
      <p:sp>
        <p:nvSpPr>
          <p:cNvPr id="9" name="Arrow: Right 8">
            <a:extLst>
              <a:ext uri="{FF2B5EF4-FFF2-40B4-BE49-F238E27FC236}">
                <a16:creationId xmlns:a16="http://schemas.microsoft.com/office/drawing/2014/main" id="{F40EA965-4047-55DC-BB38-EBF03E9DE4CB}"/>
              </a:ext>
            </a:extLst>
          </p:cNvPr>
          <p:cNvSpPr/>
          <p:nvPr/>
        </p:nvSpPr>
        <p:spPr>
          <a:xfrm>
            <a:off x="3733799" y="2878779"/>
            <a:ext cx="395957" cy="278761"/>
          </a:xfrm>
          <a:prstGeom prst="right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2D244F5-7350-82D3-FDB8-59FA9F1BD2F0}"/>
              </a:ext>
            </a:extLst>
          </p:cNvPr>
          <p:cNvPicPr>
            <a:picLocks noChangeAspect="1"/>
          </p:cNvPicPr>
          <p:nvPr/>
        </p:nvPicPr>
        <p:blipFill>
          <a:blip r:embed="rId5"/>
          <a:stretch>
            <a:fillRect/>
          </a:stretch>
        </p:blipFill>
        <p:spPr>
          <a:xfrm>
            <a:off x="374073" y="1134546"/>
            <a:ext cx="3318732" cy="38346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20"/>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pic>
        <p:nvPicPr>
          <p:cNvPr id="3" name="Picture 2">
            <a:extLst>
              <a:ext uri="{FF2B5EF4-FFF2-40B4-BE49-F238E27FC236}">
                <a16:creationId xmlns:a16="http://schemas.microsoft.com/office/drawing/2014/main" id="{313CB5BA-ED4B-1B9D-A8E3-4D4AB6B59EFF}"/>
              </a:ext>
            </a:extLst>
          </p:cNvPr>
          <p:cNvPicPr>
            <a:picLocks noChangeAspect="1"/>
          </p:cNvPicPr>
          <p:nvPr/>
        </p:nvPicPr>
        <p:blipFill>
          <a:blip r:embed="rId5"/>
          <a:stretch>
            <a:fillRect/>
          </a:stretch>
        </p:blipFill>
        <p:spPr>
          <a:xfrm>
            <a:off x="374073" y="1211477"/>
            <a:ext cx="8445443" cy="37285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21"/>
          <p:cNvSpPr txBox="1"/>
          <p:nvPr/>
        </p:nvSpPr>
        <p:spPr>
          <a:xfrm>
            <a:off x="265350" y="663825"/>
            <a:ext cx="8781668" cy="3090758"/>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pPr>
            <a:r>
              <a:rPr lang="en-GB" sz="1600" dirty="0">
                <a:latin typeface="Google Sans Flex Medium"/>
                <a:ea typeface="Google Sans Flex Medium"/>
                <a:cs typeface="Google Sans Flex Medium"/>
                <a:sym typeface="Google Sans Flex Medium"/>
              </a:rPr>
              <a:t>Technologies to be used in the solution</a:t>
            </a:r>
          </a:p>
          <a:p>
            <a:pPr lvl="0" algn="l" rtl="0">
              <a:spcBef>
                <a:spcPts val="0"/>
              </a:spcBef>
              <a:spcAft>
                <a:spcPts val="0"/>
              </a:spcAft>
            </a:pPr>
            <a:endParaRPr lang="en-GB" sz="1600" dirty="0">
              <a:latin typeface="Google Sans Flex Medium"/>
              <a:ea typeface="Google Sans Flex Medium"/>
              <a:cs typeface="Google Sans Flex Medium"/>
              <a:sym typeface="Google Sans Flex Medium"/>
            </a:endParaRPr>
          </a:p>
          <a:p>
            <a:pPr lvl="0" algn="l" rtl="0">
              <a:spcBef>
                <a:spcPts val="0"/>
              </a:spcBef>
              <a:spcAft>
                <a:spcPts val="0"/>
              </a:spcAft>
            </a:pPr>
            <a:endParaRPr lang="en-GB" sz="1600" dirty="0">
              <a:latin typeface="Google Sans Flex Medium"/>
              <a:ea typeface="Google Sans Flex Medium"/>
              <a:cs typeface="Google Sans Flex Medium"/>
              <a:sym typeface="Google Sans Flex Medium"/>
            </a:endParaRPr>
          </a:p>
          <a:p>
            <a:pPr marL="285750" lvl="0" indent="-285750" algn="l" rtl="0">
              <a:lnSpc>
                <a:spcPct val="150000"/>
              </a:lnSpc>
              <a:spcBef>
                <a:spcPts val="0"/>
              </a:spcBef>
              <a:spcAft>
                <a:spcPts val="0"/>
              </a:spcAft>
              <a:buFont typeface="Arial" panose="020B0604020202020204" pitchFamily="34" charset="0"/>
              <a:buChar char="•"/>
            </a:pPr>
            <a:r>
              <a:rPr lang="en-GB" dirty="0">
                <a:latin typeface="Google Sans Flex Medium"/>
                <a:ea typeface="Google Sans Flex Medium"/>
                <a:cs typeface="Google Sans Flex Medium"/>
                <a:sym typeface="Google Sans Flex Medium"/>
              </a:rPr>
              <a:t>Google Cloud: Cloud Run (asia-southeast1, scales to zero), Gemini gemini-3.8-flash on the Gemini Enterprise Agent Platform, Secret Manager, and service-account authentication with no API keys</a:t>
            </a:r>
          </a:p>
          <a:p>
            <a:pPr marL="285750" lvl="0" indent="-285750" algn="l" rtl="0">
              <a:lnSpc>
                <a:spcPct val="150000"/>
              </a:lnSpc>
              <a:spcBef>
                <a:spcPts val="0"/>
              </a:spcBef>
              <a:spcAft>
                <a:spcPts val="0"/>
              </a:spcAft>
              <a:buFont typeface="Arial" panose="020B0604020202020204" pitchFamily="34" charset="0"/>
              <a:buChar char="•"/>
            </a:pPr>
            <a:r>
              <a:rPr lang="en-GB" dirty="0">
                <a:latin typeface="Google Sans Flex Medium"/>
                <a:ea typeface="Google Sans Flex Medium"/>
                <a:cs typeface="Google Sans Flex Medium"/>
                <a:sym typeface="Google Sans Flex Medium"/>
              </a:rPr>
              <a:t>GenAI and agents: Agent Development Kit (google-</a:t>
            </a:r>
            <a:r>
              <a:rPr lang="en-GB" dirty="0" err="1">
                <a:latin typeface="Google Sans Flex Medium"/>
                <a:ea typeface="Google Sans Flex Medium"/>
                <a:cs typeface="Google Sans Flex Medium"/>
                <a:sym typeface="Google Sans Flex Medium"/>
              </a:rPr>
              <a:t>adk</a:t>
            </a:r>
            <a:r>
              <a:rPr lang="en-GB" dirty="0">
                <a:latin typeface="Google Sans Flex Medium"/>
                <a:ea typeface="Google Sans Flex Medium"/>
                <a:cs typeface="Google Sans Flex Medium"/>
                <a:sym typeface="Google Sans Flex Medium"/>
              </a:rPr>
              <a:t> 2.x) and google-</a:t>
            </a:r>
            <a:r>
              <a:rPr lang="en-GB" dirty="0" err="1">
                <a:latin typeface="Google Sans Flex Medium"/>
                <a:ea typeface="Google Sans Flex Medium"/>
                <a:cs typeface="Google Sans Flex Medium"/>
                <a:sym typeface="Google Sans Flex Medium"/>
              </a:rPr>
              <a:t>genai</a:t>
            </a:r>
            <a:endParaRPr lang="en-GB" dirty="0">
              <a:latin typeface="Google Sans Flex Medium"/>
              <a:ea typeface="Google Sans Flex Medium"/>
              <a:cs typeface="Google Sans Flex Medium"/>
              <a:sym typeface="Google Sans Flex Medium"/>
            </a:endParaRPr>
          </a:p>
          <a:p>
            <a:pPr marL="285750" lvl="0" indent="-285750" algn="l" rtl="0">
              <a:lnSpc>
                <a:spcPct val="150000"/>
              </a:lnSpc>
              <a:spcBef>
                <a:spcPts val="0"/>
              </a:spcBef>
              <a:spcAft>
                <a:spcPts val="0"/>
              </a:spcAft>
              <a:buFont typeface="Arial" panose="020B0604020202020204" pitchFamily="34" charset="0"/>
              <a:buChar char="•"/>
            </a:pPr>
            <a:r>
              <a:rPr lang="en-GB" dirty="0">
                <a:latin typeface="Google Sans Flex Medium"/>
                <a:ea typeface="Google Sans Flex Medium"/>
                <a:cs typeface="Google Sans Flex Medium"/>
                <a:sym typeface="Google Sans Flex Medium"/>
              </a:rPr>
              <a:t>Optimization: Google OR-Tools CP-SAT, an exact solver</a:t>
            </a:r>
          </a:p>
          <a:p>
            <a:pPr marL="285750" lvl="0" indent="-285750" algn="l" rtl="0">
              <a:lnSpc>
                <a:spcPct val="150000"/>
              </a:lnSpc>
              <a:spcBef>
                <a:spcPts val="0"/>
              </a:spcBef>
              <a:spcAft>
                <a:spcPts val="0"/>
              </a:spcAft>
              <a:buFont typeface="Arial" panose="020B0604020202020204" pitchFamily="34" charset="0"/>
              <a:buChar char="•"/>
            </a:pPr>
            <a:r>
              <a:rPr lang="en-GB" dirty="0">
                <a:latin typeface="Google Sans Flex Medium"/>
                <a:ea typeface="Google Sans Flex Medium"/>
                <a:cs typeface="Google Sans Flex Medium"/>
                <a:sym typeface="Google Sans Flex Medium"/>
              </a:rPr>
              <a:t>Application: Python 3.12, </a:t>
            </a:r>
            <a:r>
              <a:rPr lang="en-GB" dirty="0" err="1">
                <a:latin typeface="Google Sans Flex Medium"/>
                <a:ea typeface="Google Sans Flex Medium"/>
                <a:cs typeface="Google Sans Flex Medium"/>
                <a:sym typeface="Google Sans Flex Medium"/>
              </a:rPr>
              <a:t>FastAPI</a:t>
            </a:r>
            <a:r>
              <a:rPr lang="en-GB" dirty="0">
                <a:latin typeface="Google Sans Flex Medium"/>
                <a:ea typeface="Google Sans Flex Medium"/>
                <a:cs typeface="Google Sans Flex Medium"/>
                <a:sym typeface="Google Sans Flex Medium"/>
              </a:rPr>
              <a:t>, </a:t>
            </a:r>
            <a:r>
              <a:rPr lang="en-GB" dirty="0" err="1">
                <a:latin typeface="Google Sans Flex Medium"/>
                <a:ea typeface="Google Sans Flex Medium"/>
                <a:cs typeface="Google Sans Flex Medium"/>
                <a:sym typeface="Google Sans Flex Medium"/>
              </a:rPr>
              <a:t>uvicorn</a:t>
            </a:r>
            <a:r>
              <a:rPr lang="en-GB" dirty="0">
                <a:latin typeface="Google Sans Flex Medium"/>
                <a:ea typeface="Google Sans Flex Medium"/>
                <a:cs typeface="Google Sans Flex Medium"/>
                <a:sym typeface="Google Sans Flex Medium"/>
              </a:rPr>
              <a:t>, server-rendered HTML with a small vanilla JS/CSS layer, and </a:t>
            </a:r>
            <a:r>
              <a:rPr lang="en-GB" dirty="0" err="1">
                <a:latin typeface="Google Sans Flex Medium"/>
                <a:ea typeface="Google Sans Flex Medium"/>
                <a:cs typeface="Google Sans Flex Medium"/>
                <a:sym typeface="Google Sans Flex Medium"/>
              </a:rPr>
              <a:t>httpx</a:t>
            </a:r>
            <a:endParaRPr lang="en-GB" dirty="0">
              <a:latin typeface="Google Sans Flex Medium"/>
              <a:ea typeface="Google Sans Flex Medium"/>
              <a:cs typeface="Google Sans Flex Medium"/>
              <a:sym typeface="Google Sans Flex Medium"/>
            </a:endParaRPr>
          </a:p>
          <a:p>
            <a:pPr marL="285750" lvl="0" indent="-285750" algn="l" rtl="0">
              <a:lnSpc>
                <a:spcPct val="150000"/>
              </a:lnSpc>
              <a:spcBef>
                <a:spcPts val="0"/>
              </a:spcBef>
              <a:spcAft>
                <a:spcPts val="0"/>
              </a:spcAft>
              <a:buFont typeface="Arial" panose="020B0604020202020204" pitchFamily="34" charset="0"/>
              <a:buChar char="•"/>
            </a:pPr>
            <a:r>
              <a:rPr lang="en-GB" dirty="0">
                <a:latin typeface="Google Sans Flex Medium"/>
                <a:ea typeface="Google Sans Flex Medium"/>
                <a:cs typeface="Google Sans Flex Medium"/>
                <a:sym typeface="Google Sans Flex Medium"/>
              </a:rPr>
              <a:t>Build and test: Docker (python:3.12-slim, non-root) and </a:t>
            </a:r>
            <a:r>
              <a:rPr lang="en-GB" dirty="0" err="1">
                <a:latin typeface="Google Sans Flex Medium"/>
                <a:ea typeface="Google Sans Flex Medium"/>
                <a:cs typeface="Google Sans Flex Medium"/>
                <a:sym typeface="Google Sans Flex Medium"/>
              </a:rPr>
              <a:t>pytest</a:t>
            </a:r>
            <a:r>
              <a:rPr lang="en-GB" dirty="0">
                <a:latin typeface="Google Sans Flex Medium"/>
                <a:ea typeface="Google Sans Flex Medium"/>
                <a:cs typeface="Google Sans Flex Medium"/>
                <a:sym typeface="Google Sans Flex Medium"/>
              </a:rPr>
              <a:t>, with 120 tests passing</a:t>
            </a:r>
            <a:endParaRPr lang="en-GB" sz="1600" dirty="0">
              <a:latin typeface="Google Sans Flex Medium"/>
              <a:ea typeface="Google Sans Flex Medium"/>
              <a:cs typeface="Google Sans Flex Medium"/>
              <a:sym typeface="Google Sans Flex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22"/>
          <p:cNvSpPr txBox="1"/>
          <p:nvPr/>
        </p:nvSpPr>
        <p:spPr>
          <a:xfrm>
            <a:off x="207818" y="658884"/>
            <a:ext cx="8821132" cy="430104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Estimated implementation cost</a:t>
            </a:r>
            <a:br>
              <a:rPr lang="en-GB" sz="1600" dirty="0">
                <a:latin typeface="Google Sans Flex Medium"/>
                <a:ea typeface="Google Sans Flex Medium"/>
                <a:cs typeface="Google Sans Flex Medium"/>
                <a:sym typeface="Google Sans Flex Medium"/>
              </a:rPr>
            </a:br>
            <a:br>
              <a:rPr lang="en-GB" sz="1600" dirty="0">
                <a:latin typeface="Google Sans Flex Medium"/>
                <a:ea typeface="Google Sans Flex Medium"/>
                <a:cs typeface="Google Sans Flex Medium"/>
                <a:sym typeface="Google Sans Flex Medium"/>
              </a:rPr>
            </a:br>
            <a:endParaRPr lang="en-GB" sz="1600" dirty="0">
              <a:latin typeface="Google Sans Flex Medium"/>
              <a:ea typeface="Google Sans Flex Medium"/>
              <a:cs typeface="Google Sans Flex Medium"/>
              <a:sym typeface="Google Sans Flex Medium"/>
            </a:endParaRPr>
          </a:p>
          <a:p>
            <a:pPr lvl="1"/>
            <a:r>
              <a:rPr lang="en-US" dirty="0">
                <a:latin typeface="Google Sans Flex Medium"/>
                <a:ea typeface="Google Sans Flex Medium"/>
                <a:cs typeface="Google Sans Flex Medium"/>
                <a:sym typeface="Google Sans Flex Medium"/>
              </a:rPr>
              <a:t>Prototype (today): </a:t>
            </a:r>
          </a:p>
          <a:p>
            <a:pPr marL="285750" lvl="1" indent="-285750">
              <a:lnSpc>
                <a:spcPct val="150000"/>
              </a:lnSpc>
              <a:buFont typeface="Arial" panose="020B0604020202020204" pitchFamily="34" charset="0"/>
              <a:buChar char="•"/>
            </a:pPr>
            <a:r>
              <a:rPr lang="en-US" dirty="0">
                <a:latin typeface="Google Sans Flex Medium"/>
                <a:ea typeface="Google Sans Flex Medium"/>
                <a:cs typeface="Google Sans Flex Medium"/>
                <a:sym typeface="Google Sans Flex Medium"/>
              </a:rPr>
              <a:t>Cloud Run scales to zero, with at most 3 instances, so there are no idle instances to pay for</a:t>
            </a:r>
          </a:p>
          <a:p>
            <a:pPr marL="285750" lvl="1" indent="-285750">
              <a:lnSpc>
                <a:spcPct val="150000"/>
              </a:lnSpc>
              <a:buFont typeface="Arial" panose="020B0604020202020204" pitchFamily="34" charset="0"/>
              <a:buChar char="•"/>
            </a:pPr>
            <a:r>
              <a:rPr lang="en-US" dirty="0">
                <a:latin typeface="Google Sans Flex Medium"/>
                <a:ea typeface="Google Sans Flex Medium"/>
                <a:cs typeface="Google Sans Flex Medium"/>
                <a:sym typeface="Google Sans Flex Medium"/>
              </a:rPr>
              <a:t>The only Gemini Flash traffic is from judges</a:t>
            </a:r>
          </a:p>
          <a:p>
            <a:pPr marL="285750" lvl="1" indent="-285750">
              <a:lnSpc>
                <a:spcPct val="150000"/>
              </a:lnSpc>
              <a:buFont typeface="Arial" panose="020B0604020202020204" pitchFamily="34" charset="0"/>
              <a:buChar char="•"/>
            </a:pPr>
            <a:r>
              <a:rPr lang="en-US" dirty="0">
                <a:latin typeface="Google Sans Flex Medium"/>
                <a:ea typeface="Google Sans Flex Medium"/>
                <a:cs typeface="Google Sans Flex Medium"/>
                <a:sym typeface="Google Sans Flex Medium"/>
              </a:rPr>
              <a:t>There is no database cost, because the data is committed fixtures</a:t>
            </a:r>
          </a:p>
          <a:p>
            <a:pPr marL="285750" lvl="1" indent="-285750">
              <a:lnSpc>
                <a:spcPct val="150000"/>
              </a:lnSpc>
              <a:buFont typeface="Arial" panose="020B0604020202020204" pitchFamily="34" charset="0"/>
              <a:buChar char="•"/>
            </a:pPr>
            <a:r>
              <a:rPr lang="en-US" dirty="0">
                <a:latin typeface="Google Sans Flex Medium"/>
                <a:ea typeface="Google Sans Flex Medium"/>
                <a:cs typeface="Google Sans Flex Medium"/>
                <a:sym typeface="Google Sans Flex Medium"/>
              </a:rPr>
              <a:t>Estimated spend over the evaluation window: single-digit to low tens of USD</a:t>
            </a:r>
          </a:p>
          <a:p>
            <a:pPr lvl="1"/>
            <a:endParaRPr lang="en-US" dirty="0">
              <a:latin typeface="Google Sans Flex Medium"/>
              <a:ea typeface="Google Sans Flex Medium"/>
              <a:cs typeface="Google Sans Flex Medium"/>
              <a:sym typeface="Google Sans Flex Medium"/>
            </a:endParaRPr>
          </a:p>
          <a:p>
            <a:pPr lvl="1"/>
            <a:r>
              <a:rPr lang="en-US" dirty="0">
                <a:latin typeface="Google Sans Flex Medium"/>
                <a:ea typeface="Google Sans Flex Medium"/>
                <a:cs typeface="Google Sans Flex Medium"/>
                <a:sym typeface="Google Sans Flex Medium"/>
              </a:rPr>
              <a:t>Production pilot (cost drivers):</a:t>
            </a:r>
          </a:p>
          <a:p>
            <a:pPr marL="285750" lvl="6" indent="-285750">
              <a:lnSpc>
                <a:spcPct val="150000"/>
              </a:lnSpc>
              <a:buFont typeface="Arial" panose="020B0604020202020204" pitchFamily="34" charset="0"/>
              <a:buChar char="•"/>
            </a:pPr>
            <a:r>
              <a:rPr lang="en-US" dirty="0">
                <a:latin typeface="Google Sans Flex Medium"/>
                <a:ea typeface="Google Sans Flex Medium"/>
                <a:cs typeface="Google Sans Flex Medium"/>
                <a:sym typeface="Google Sans Flex Medium"/>
              </a:rPr>
              <a:t>Gemini calls per household per week (receipts, offers, questions)</a:t>
            </a:r>
          </a:p>
          <a:p>
            <a:pPr marL="285750" lvl="6" indent="-285750">
              <a:lnSpc>
                <a:spcPct val="150000"/>
              </a:lnSpc>
              <a:buFont typeface="Arial" panose="020B0604020202020204" pitchFamily="34" charset="0"/>
              <a:buChar char="•"/>
            </a:pPr>
            <a:r>
              <a:rPr lang="en-US" dirty="0">
                <a:latin typeface="Google Sans Flex Medium"/>
                <a:ea typeface="Google Sans Flex Medium"/>
                <a:cs typeface="Google Sans Flex Medium"/>
                <a:sym typeface="Google Sans Flex Medium"/>
              </a:rPr>
              <a:t>Cloud Run request time</a:t>
            </a:r>
          </a:p>
          <a:p>
            <a:pPr marL="285750" lvl="6" indent="-285750">
              <a:lnSpc>
                <a:spcPct val="150000"/>
              </a:lnSpc>
              <a:buFont typeface="Arial" panose="020B0604020202020204" pitchFamily="34" charset="0"/>
              <a:buChar char="•"/>
            </a:pPr>
            <a:r>
              <a:rPr lang="en-US" dirty="0" err="1">
                <a:latin typeface="Google Sans Flex Medium"/>
                <a:ea typeface="Google Sans Flex Medium"/>
                <a:cs typeface="Google Sans Flex Medium"/>
                <a:sym typeface="Google Sans Flex Medium"/>
              </a:rPr>
              <a:t>Firestore</a:t>
            </a:r>
            <a:r>
              <a:rPr lang="en-US" dirty="0">
                <a:latin typeface="Google Sans Flex Medium"/>
                <a:ea typeface="Google Sans Flex Medium"/>
                <a:cs typeface="Google Sans Flex Medium"/>
                <a:sym typeface="Google Sans Flex Medium"/>
              </a:rPr>
              <a:t> reads and writes</a:t>
            </a:r>
          </a:p>
          <a:p>
            <a:pPr marL="285750" lvl="6" indent="-285750">
              <a:lnSpc>
                <a:spcPct val="150000"/>
              </a:lnSpc>
              <a:buFont typeface="Arial" panose="020B0604020202020204" pitchFamily="34" charset="0"/>
              <a:buChar char="•"/>
            </a:pPr>
            <a:r>
              <a:rPr lang="en-US" dirty="0">
                <a:latin typeface="Google Sans Flex Medium"/>
                <a:ea typeface="Google Sans Flex Medium"/>
                <a:cs typeface="Google Sans Flex Medium"/>
                <a:sym typeface="Google Sans Flex Medium"/>
              </a:rPr>
              <a:t>Licensed retailer and issuer data feeds.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Google Shape;135;p23"/>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3" name="Picture 2">
            <a:extLst>
              <a:ext uri="{FF2B5EF4-FFF2-40B4-BE49-F238E27FC236}">
                <a16:creationId xmlns:a16="http://schemas.microsoft.com/office/drawing/2014/main" id="{C529381C-11F7-61F5-F3DC-3A57CB058CE3}"/>
              </a:ext>
            </a:extLst>
          </p:cNvPr>
          <p:cNvPicPr>
            <a:picLocks noChangeAspect="1"/>
          </p:cNvPicPr>
          <p:nvPr/>
        </p:nvPicPr>
        <p:blipFill>
          <a:blip r:embed="rId5"/>
          <a:stretch>
            <a:fillRect/>
          </a:stretch>
        </p:blipFill>
        <p:spPr>
          <a:xfrm>
            <a:off x="380935" y="1093596"/>
            <a:ext cx="2207091" cy="3531345"/>
          </a:xfrm>
          <a:prstGeom prst="rect">
            <a:avLst/>
          </a:prstGeom>
        </p:spPr>
      </p:pic>
      <p:pic>
        <p:nvPicPr>
          <p:cNvPr id="5" name="Picture 4">
            <a:extLst>
              <a:ext uri="{FF2B5EF4-FFF2-40B4-BE49-F238E27FC236}">
                <a16:creationId xmlns:a16="http://schemas.microsoft.com/office/drawing/2014/main" id="{0B1D6EEB-6E90-EF9A-CD80-94E398BAD950}"/>
              </a:ext>
            </a:extLst>
          </p:cNvPr>
          <p:cNvPicPr>
            <a:picLocks noChangeAspect="1"/>
          </p:cNvPicPr>
          <p:nvPr/>
        </p:nvPicPr>
        <p:blipFill>
          <a:blip r:embed="rId6"/>
          <a:stretch>
            <a:fillRect/>
          </a:stretch>
        </p:blipFill>
        <p:spPr>
          <a:xfrm>
            <a:off x="2980055" y="1093594"/>
            <a:ext cx="2778194" cy="3531345"/>
          </a:xfrm>
          <a:prstGeom prst="rect">
            <a:avLst/>
          </a:prstGeom>
        </p:spPr>
      </p:pic>
      <p:pic>
        <p:nvPicPr>
          <p:cNvPr id="7" name="Picture 6">
            <a:extLst>
              <a:ext uri="{FF2B5EF4-FFF2-40B4-BE49-F238E27FC236}">
                <a16:creationId xmlns:a16="http://schemas.microsoft.com/office/drawing/2014/main" id="{CFA0589E-C539-90CD-E1F4-2235527F0C32}"/>
              </a:ext>
            </a:extLst>
          </p:cNvPr>
          <p:cNvPicPr>
            <a:picLocks noChangeAspect="1"/>
          </p:cNvPicPr>
          <p:nvPr/>
        </p:nvPicPr>
        <p:blipFill>
          <a:blip r:embed="rId7"/>
          <a:stretch>
            <a:fillRect/>
          </a:stretch>
        </p:blipFill>
        <p:spPr>
          <a:xfrm>
            <a:off x="6150279" y="1093595"/>
            <a:ext cx="2612786" cy="3531345"/>
          </a:xfrm>
          <a:prstGeom prst="rect">
            <a:avLst/>
          </a:prstGeom>
        </p:spPr>
      </p:pic>
      <p:sp>
        <p:nvSpPr>
          <p:cNvPr id="8" name="TextBox 7">
            <a:extLst>
              <a:ext uri="{FF2B5EF4-FFF2-40B4-BE49-F238E27FC236}">
                <a16:creationId xmlns:a16="http://schemas.microsoft.com/office/drawing/2014/main" id="{5B92B6C9-4C4B-695D-7290-FD463A8F750C}"/>
              </a:ext>
            </a:extLst>
          </p:cNvPr>
          <p:cNvSpPr txBox="1"/>
          <p:nvPr/>
        </p:nvSpPr>
        <p:spPr>
          <a:xfrm>
            <a:off x="97722" y="4714784"/>
            <a:ext cx="2802370" cy="230832"/>
          </a:xfrm>
          <a:prstGeom prst="rect">
            <a:avLst/>
          </a:prstGeom>
          <a:noFill/>
        </p:spPr>
        <p:txBody>
          <a:bodyPr wrap="none" rtlCol="0">
            <a:spAutoFit/>
          </a:bodyPr>
          <a:lstStyle/>
          <a:p>
            <a:r>
              <a:rPr lang="en-US" sz="900" b="1" dirty="0">
                <a:latin typeface="Google Sans Flex Medium" panose="020B0604020202020204" charset="0"/>
                <a:ea typeface="Google Sans Flex Medium" panose="020B0604020202020204" charset="0"/>
                <a:cs typeface="Google Sans Flex Medium" panose="020B0604020202020204" charset="0"/>
              </a:rPr>
              <a:t>Pantry</a:t>
            </a:r>
            <a:r>
              <a:rPr lang="en-US" sz="900" dirty="0">
                <a:latin typeface="Google Sans Flex Medium" panose="020B0604020202020204" charset="0"/>
                <a:ea typeface="Google Sans Flex Medium" panose="020B0604020202020204" charset="0"/>
                <a:cs typeface="Google Sans Flex Medium" panose="020B0604020202020204" charset="0"/>
              </a:rPr>
              <a:t>: what is running low, from receipt history.</a:t>
            </a:r>
          </a:p>
        </p:txBody>
      </p:sp>
      <p:sp>
        <p:nvSpPr>
          <p:cNvPr id="9" name="TextBox 8">
            <a:extLst>
              <a:ext uri="{FF2B5EF4-FFF2-40B4-BE49-F238E27FC236}">
                <a16:creationId xmlns:a16="http://schemas.microsoft.com/office/drawing/2014/main" id="{602676D7-D020-BD26-5C7D-96621966A96F}"/>
              </a:ext>
            </a:extLst>
          </p:cNvPr>
          <p:cNvSpPr txBox="1"/>
          <p:nvPr/>
        </p:nvSpPr>
        <p:spPr>
          <a:xfrm>
            <a:off x="2980055" y="4692582"/>
            <a:ext cx="2959465" cy="230832"/>
          </a:xfrm>
          <a:prstGeom prst="rect">
            <a:avLst/>
          </a:prstGeom>
          <a:noFill/>
        </p:spPr>
        <p:txBody>
          <a:bodyPr wrap="none" rtlCol="0">
            <a:spAutoFit/>
          </a:bodyPr>
          <a:lstStyle/>
          <a:p>
            <a:r>
              <a:rPr lang="en-US" sz="900" b="1" dirty="0">
                <a:latin typeface="Google Sans Flex Medium" panose="020B0604020202020204" charset="0"/>
                <a:ea typeface="Google Sans Flex Medium" panose="020B0604020202020204" charset="0"/>
                <a:cs typeface="Google Sans Flex Medium" panose="020B0604020202020204" charset="0"/>
              </a:rPr>
              <a:t>Plan</a:t>
            </a:r>
            <a:r>
              <a:rPr lang="en-US" sz="900" dirty="0">
                <a:latin typeface="Google Sans Flex Medium" panose="020B0604020202020204" charset="0"/>
                <a:ea typeface="Google Sans Flex Medium" panose="020B0604020202020204" charset="0"/>
                <a:cs typeface="Google Sans Flex Medium" panose="020B0604020202020204" charset="0"/>
              </a:rPr>
              <a:t>: every bill line by line, with the best day to shop.</a:t>
            </a:r>
          </a:p>
        </p:txBody>
      </p:sp>
      <p:sp>
        <p:nvSpPr>
          <p:cNvPr id="10" name="TextBox 9">
            <a:extLst>
              <a:ext uri="{FF2B5EF4-FFF2-40B4-BE49-F238E27FC236}">
                <a16:creationId xmlns:a16="http://schemas.microsoft.com/office/drawing/2014/main" id="{F5CEABC8-FF9B-988C-F9CB-B7B07BD52590}"/>
              </a:ext>
            </a:extLst>
          </p:cNvPr>
          <p:cNvSpPr txBox="1"/>
          <p:nvPr/>
        </p:nvSpPr>
        <p:spPr>
          <a:xfrm>
            <a:off x="6055487" y="4685621"/>
            <a:ext cx="2398413" cy="230832"/>
          </a:xfrm>
          <a:prstGeom prst="rect">
            <a:avLst/>
          </a:prstGeom>
          <a:noFill/>
        </p:spPr>
        <p:txBody>
          <a:bodyPr wrap="none" rtlCol="0">
            <a:spAutoFit/>
          </a:bodyPr>
          <a:lstStyle/>
          <a:p>
            <a:r>
              <a:rPr lang="en-US" sz="900" b="1" dirty="0">
                <a:latin typeface="Google Sans Flex Medium" panose="020B0604020202020204" charset="0"/>
                <a:ea typeface="Google Sans Flex Medium" panose="020B0604020202020204" charset="0"/>
                <a:cs typeface="Google Sans Flex Medium" panose="020B0604020202020204" charset="0"/>
              </a:rPr>
              <a:t>Why</a:t>
            </a:r>
            <a:r>
              <a:rPr lang="en-US" sz="900" dirty="0">
                <a:latin typeface="Google Sans Flex Medium" panose="020B0604020202020204" charset="0"/>
                <a:ea typeface="Google Sans Flex Medium" panose="020B0604020202020204" charset="0"/>
                <a:cs typeface="Google Sans Flex Medium" panose="020B0604020202020204" charset="0"/>
              </a:rPr>
              <a:t>: the agent's answer and its tool calls.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24"/>
          <p:cNvSpPr txBox="1"/>
          <p:nvPr/>
        </p:nvSpPr>
        <p:spPr>
          <a:xfrm>
            <a:off x="237641" y="529047"/>
            <a:ext cx="8809377" cy="452099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Prototype Performance report/Benchmarking</a:t>
            </a:r>
            <a:br>
              <a:rPr lang="en-GB" sz="1600" dirty="0">
                <a:latin typeface="Google Sans Flex Medium"/>
                <a:ea typeface="Google Sans Flex Medium"/>
                <a:cs typeface="Google Sans Flex Medium"/>
                <a:sym typeface="Google Sans Flex Medium"/>
              </a:rPr>
            </a:br>
            <a:endParaRPr lang="en-GB" sz="1600"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120 automated tests pass, covering pricing, offer eligibility, and guardrails</a:t>
            </a:r>
          </a:p>
          <a:p>
            <a:pPr lvl="0" algn="l" rtl="0">
              <a:spcBef>
                <a:spcPts val="0"/>
              </a:spcBef>
              <a:spcAft>
                <a:spcPts val="0"/>
              </a:spcAft>
            </a:pPr>
            <a:endParaRPr lang="en-US"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Live Gemini latency (18 Oct 2026): reading a bank offer takes about 5–7 s, and the agent's answer takes 15–50 s. Almost all of that is the agent's sequential Gemini calls (3 to 7 per question); the optimizer and tools return in milliseconds. The shopper doesn't wait on it: the Why step opens in under 2 s with the engine's own explanation, and the agent runs only when the shopper presses Ask</a:t>
            </a:r>
          </a:p>
          <a:p>
            <a:pPr lvl="0" algn="l" rtl="0">
              <a:spcBef>
                <a:spcPts val="0"/>
              </a:spcBef>
              <a:spcAft>
                <a:spcPts val="0"/>
              </a:spcAft>
            </a:pPr>
            <a:endParaRPr lang="en-US"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Worked example (simulated): the planning day is Thursday 22 Oct. Adding the sample </a:t>
            </a:r>
            <a:r>
              <a:rPr lang="en-US" dirty="0" err="1">
                <a:latin typeface="Google Sans Flex Medium"/>
                <a:ea typeface="Google Sans Flex Medium"/>
                <a:cs typeface="Google Sans Flex Medium"/>
                <a:sym typeface="Google Sans Flex Medium"/>
              </a:rPr>
              <a:t>Keells</a:t>
            </a:r>
            <a:r>
              <a:rPr lang="en-US" dirty="0">
                <a:latin typeface="Google Sans Flex Medium"/>
                <a:ea typeface="Google Sans Flex Medium"/>
                <a:cs typeface="Google Sans Flex Medium"/>
                <a:sym typeface="Google Sans Flex Medium"/>
              </a:rPr>
              <a:t> receipt drops the due list from 12 items to 9. With tea bun left unchecked, 8 items go into the plan. The engine plans one </a:t>
            </a:r>
            <a:r>
              <a:rPr lang="en-US" dirty="0" err="1">
                <a:latin typeface="Google Sans Flex Medium"/>
                <a:ea typeface="Google Sans Flex Medium"/>
                <a:cs typeface="Google Sans Flex Medium"/>
                <a:sym typeface="Google Sans Flex Medium"/>
              </a:rPr>
              <a:t>Keells</a:t>
            </a:r>
            <a:r>
              <a:rPr lang="en-US" dirty="0">
                <a:latin typeface="Google Sans Flex Medium"/>
                <a:ea typeface="Google Sans Flex Medium"/>
                <a:cs typeface="Google Sans Flex Medium"/>
                <a:sym typeface="Google Sans Flex Medium"/>
              </a:rPr>
              <a:t> trip for LKR 2,190, which is LKR 407 below </a:t>
            </a:r>
            <a:r>
              <a:rPr lang="en-US" dirty="0" err="1">
                <a:latin typeface="Google Sans Flex Medium"/>
                <a:ea typeface="Google Sans Flex Medium"/>
                <a:cs typeface="Google Sans Flex Medium"/>
                <a:sym typeface="Google Sans Flex Medium"/>
              </a:rPr>
              <a:t>Keells</a:t>
            </a:r>
            <a:r>
              <a:rPr lang="en-US" dirty="0">
                <a:latin typeface="Google Sans Flex Medium"/>
                <a:ea typeface="Google Sans Flex Medium"/>
                <a:cs typeface="Google Sans Flex Medium"/>
                <a:sym typeface="Google Sans Flex Medium"/>
              </a:rPr>
              <a:t> shelf price (LKR 2,597); all of that comes from store promotions. Two stores were allowed, but </a:t>
            </a:r>
            <a:r>
              <a:rPr lang="en-US" dirty="0" err="1">
                <a:latin typeface="Google Sans Flex Medium"/>
                <a:ea typeface="Google Sans Flex Medium"/>
                <a:cs typeface="Google Sans Flex Medium"/>
                <a:sym typeface="Google Sans Flex Medium"/>
              </a:rPr>
              <a:t>Keells</a:t>
            </a:r>
            <a:r>
              <a:rPr lang="en-US" dirty="0">
                <a:latin typeface="Google Sans Flex Medium"/>
                <a:ea typeface="Google Sans Flex Medium"/>
                <a:cs typeface="Google Sans Flex Medium"/>
                <a:sym typeface="Google Sans Flex Medium"/>
              </a:rPr>
              <a:t> alone is the cheapest option. No card offer applies, and asking the agent, "What if I only use my Commercial Bank card?" confirms the plan doesn't change</a:t>
            </a:r>
          </a:p>
          <a:p>
            <a:pPr lvl="0" algn="l" rtl="0">
              <a:spcBef>
                <a:spcPts val="0"/>
              </a:spcBef>
              <a:spcAft>
                <a:spcPts val="0"/>
              </a:spcAft>
            </a:pPr>
            <a:endParaRPr lang="en-US"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Offer Reality Check: </a:t>
            </a:r>
            <a:r>
              <a:rPr lang="en-US" dirty="0" err="1">
                <a:latin typeface="Google Sans Flex Medium"/>
                <a:ea typeface="Google Sans Flex Medium"/>
                <a:cs typeface="Google Sans Flex Medium"/>
                <a:sym typeface="Google Sans Flex Medium"/>
              </a:rPr>
              <a:t>Seylan</a:t>
            </a:r>
            <a:r>
              <a:rPr lang="en-US" dirty="0">
                <a:latin typeface="Google Sans Flex Medium"/>
                <a:ea typeface="Google Sans Flex Medium"/>
                <a:cs typeface="Google Sans Flex Medium"/>
                <a:sym typeface="Google Sans Flex Medium"/>
              </a:rPr>
              <a:t> Bank's published "10% off every Saturday" suggests LKR 259 (10% of LKR 2,597) but pays LKR 0. The bill is LKR 2,190, which is LKR 5,810 short of the LKR 8,000 minimum</a:t>
            </a:r>
          </a:p>
          <a:p>
            <a:pPr lvl="0" algn="l" rtl="0">
              <a:spcBef>
                <a:spcPts val="0"/>
              </a:spcBef>
              <a:spcAft>
                <a:spcPts val="0"/>
              </a:spcAft>
            </a:pPr>
            <a:endParaRPr lang="en-US"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All savings are simulated on labeled sample data</a:t>
            </a: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5"/>
          <p:cNvSpPr txBox="1"/>
          <p:nvPr/>
        </p:nvSpPr>
        <p:spPr>
          <a:xfrm>
            <a:off x="265350" y="601477"/>
            <a:ext cx="8740105" cy="432381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Additional Details/Future Development</a:t>
            </a:r>
            <a:br>
              <a:rPr lang="en-GB" dirty="0">
                <a:latin typeface="Google Sans Flex Medium"/>
                <a:ea typeface="Google Sans Flex Medium"/>
                <a:cs typeface="Google Sans Flex Medium"/>
                <a:sym typeface="Google Sans Flex Medium"/>
              </a:rPr>
            </a:br>
            <a:endParaRPr lang="en-GB" dirty="0">
              <a:latin typeface="Google Sans Flex Medium"/>
              <a:ea typeface="Google Sans Flex Medium"/>
              <a:cs typeface="Google Sans Flex Medium"/>
              <a:sym typeface="Google Sans Flex Medium"/>
            </a:endParaRPr>
          </a:p>
          <a:p>
            <a:pPr marL="0" lvl="0" indent="0" algn="l" rtl="0">
              <a:spcBef>
                <a:spcPts val="0"/>
              </a:spcBef>
              <a:spcAft>
                <a:spcPts val="0"/>
              </a:spcAft>
              <a:buNone/>
            </a:pPr>
            <a:endParaRPr lang="en-GB" dirty="0">
              <a:latin typeface="Google Sans Flex Medium"/>
              <a:ea typeface="Google Sans Flex Medium"/>
              <a:cs typeface="Google Sans Flex Medium"/>
              <a:sym typeface="Google Sans Flex Medium"/>
            </a:endParaRPr>
          </a:p>
          <a:p>
            <a:pPr marL="0" lvl="0" indent="0" algn="l" rtl="0">
              <a:spcBef>
                <a:spcPts val="0"/>
              </a:spcBef>
              <a:spcAft>
                <a:spcPts val="0"/>
              </a:spcAft>
              <a:buNone/>
            </a:pPr>
            <a:r>
              <a:rPr lang="en-US" dirty="0">
                <a:latin typeface="Google Sans Flex Medium"/>
                <a:ea typeface="Google Sans Flex Medium"/>
                <a:cs typeface="Google Sans Flex Medium"/>
                <a:sym typeface="Google Sans Flex Medium"/>
              </a:rPr>
              <a:t>Roadmap:</a:t>
            </a:r>
          </a:p>
          <a:p>
            <a:pPr marL="0" lvl="0" indent="0" algn="l" rtl="0">
              <a:spcBef>
                <a:spcPts val="0"/>
              </a:spcBef>
              <a:spcAft>
                <a:spcPts val="0"/>
              </a:spcAft>
              <a:buNone/>
            </a:pPr>
            <a:endParaRPr lang="en-US"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A pilot with Colombo households</a:t>
            </a:r>
          </a:p>
          <a:p>
            <a:pPr lvl="0" algn="l" rtl="0">
              <a:spcBef>
                <a:spcPts val="0"/>
              </a:spcBef>
              <a:spcAft>
                <a:spcPts val="0"/>
              </a:spcAft>
            </a:pPr>
            <a:endParaRPr lang="en-US"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Faster agent answers: stop the model re-sending the whole plan to </a:t>
            </a:r>
            <a:r>
              <a:rPr lang="en-US" dirty="0" err="1">
                <a:latin typeface="Google Sans Flex Medium"/>
                <a:ea typeface="Google Sans Flex Medium"/>
                <a:cs typeface="Google Sans Flex Medium"/>
                <a:sym typeface="Google Sans Flex Medium"/>
              </a:rPr>
              <a:t>explain_plan_numbers</a:t>
            </a:r>
            <a:r>
              <a:rPr lang="en-US" dirty="0">
                <a:latin typeface="Google Sans Flex Medium"/>
                <a:ea typeface="Google Sans Flex Medium"/>
                <a:cs typeface="Google Sans Flex Medium"/>
                <a:sym typeface="Google Sans Flex Medium"/>
              </a:rPr>
              <a:t> (it reads it from the session instead), lower its thinking budget, and limit tool rounds. Our traces suggest this roughly halves answer time.</a:t>
            </a:r>
          </a:p>
          <a:p>
            <a:pPr lvl="0" algn="l" rtl="0">
              <a:spcBef>
                <a:spcPts val="0"/>
              </a:spcBef>
              <a:spcAft>
                <a:spcPts val="0"/>
              </a:spcAft>
            </a:pPr>
            <a:endParaRPr lang="en-US"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Authorized retailer and issuer data feeds: versioned prices and real card terms, stored in </a:t>
            </a:r>
            <a:r>
              <a:rPr lang="en-US" dirty="0" err="1">
                <a:latin typeface="Google Sans Flex Medium"/>
                <a:ea typeface="Google Sans Flex Medium"/>
                <a:cs typeface="Google Sans Flex Medium"/>
                <a:sym typeface="Google Sans Flex Medium"/>
              </a:rPr>
              <a:t>Firestore</a:t>
            </a:r>
            <a:endParaRPr lang="en-US" dirty="0">
              <a:latin typeface="Google Sans Flex Medium"/>
              <a:ea typeface="Google Sans Flex Medium"/>
              <a:cs typeface="Google Sans Flex Medium"/>
              <a:sym typeface="Google Sans Flex Medium"/>
            </a:endParaRPr>
          </a:p>
          <a:p>
            <a:pPr lvl="0" algn="l" rtl="0">
              <a:spcBef>
                <a:spcPts val="0"/>
              </a:spcBef>
              <a:spcAft>
                <a:spcPts val="0"/>
              </a:spcAft>
            </a:pPr>
            <a:endParaRPr lang="en-US"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Adapting the rules to other JAPAC markets: currencies, rounding, and local card offers</a:t>
            </a:r>
          </a:p>
          <a:p>
            <a:pPr lvl="0" algn="l" rtl="0">
              <a:spcBef>
                <a:spcPts val="0"/>
              </a:spcBef>
              <a:spcAft>
                <a:spcPts val="0"/>
              </a:spcAft>
            </a:pPr>
            <a:endParaRPr lang="en-US"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Business model: free for households. Later, issuers or retailers pay for referrals the shopper has consented to and that are disclosed. Shopper data is never sold</a:t>
            </a:r>
          </a:p>
          <a:p>
            <a:pPr lvl="0" algn="l" rtl="0">
              <a:spcBef>
                <a:spcPts val="0"/>
              </a:spcBef>
              <a:spcAft>
                <a:spcPts val="0"/>
              </a:spcAft>
            </a:pPr>
            <a:endParaRPr lang="en-US" dirty="0">
              <a:latin typeface="Google Sans Flex Medium"/>
              <a:ea typeface="Google Sans Flex Medium"/>
              <a:cs typeface="Google Sans Flex Medium"/>
              <a:sym typeface="Google Sans Flex Medium"/>
            </a:endParaRPr>
          </a:p>
          <a:p>
            <a:pPr marL="285750" lvl="0" indent="-285750" algn="l" rtl="0">
              <a:spcBef>
                <a:spcPts val="0"/>
              </a:spcBef>
              <a:spcAft>
                <a:spcPts val="0"/>
              </a:spcAft>
              <a:buFont typeface="Arial" panose="020B0604020202020204" pitchFamily="34" charset="0"/>
              <a:buChar char="•"/>
            </a:pPr>
            <a:r>
              <a:rPr lang="en-US" dirty="0">
                <a:latin typeface="Google Sans Flex Medium"/>
                <a:ea typeface="Google Sans Flex Medium"/>
                <a:cs typeface="Google Sans Flex Medium"/>
                <a:sym typeface="Google Sans Flex Medium"/>
              </a:rPr>
              <a:t>Out of scope for the prototype: live prices, real orders and payments, and partner checkout.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26"/>
          <p:cNvSpPr txBox="1"/>
          <p:nvPr/>
        </p:nvSpPr>
        <p:spPr>
          <a:xfrm>
            <a:off x="201255" y="566024"/>
            <a:ext cx="8852690" cy="40605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Provide links to your:</a:t>
            </a:r>
            <a:endParaRPr sz="1600" dirty="0">
              <a:latin typeface="Google Sans Flex Medium"/>
              <a:ea typeface="Google Sans Flex Medium"/>
              <a:cs typeface="Google Sans Flex Medium"/>
              <a:sym typeface="Google Sans Flex Medium"/>
            </a:endParaRP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a:p>
            <a:pPr marL="139700" lvl="0" algn="l" rtl="0">
              <a:spcBef>
                <a:spcPts val="0"/>
              </a:spcBef>
              <a:spcAft>
                <a:spcPts val="0"/>
              </a:spcAft>
              <a:buSzPts val="1400"/>
            </a:pPr>
            <a:endParaRPr lang="en-GB" dirty="0">
              <a:latin typeface="Google Sans Flex Medium"/>
              <a:ea typeface="Google Sans Flex Medium"/>
              <a:cs typeface="Google Sans Flex Medium"/>
              <a:sym typeface="Google Sans Flex Medium"/>
            </a:endParaRPr>
          </a:p>
          <a:p>
            <a:pPr marL="425450" lvl="0" indent="-285750">
              <a:buSzPts val="1400"/>
              <a:buFont typeface="Arial" panose="020B0604020202020204" pitchFamily="34" charset="0"/>
              <a:buChar char="•"/>
            </a:pPr>
            <a:r>
              <a:rPr lang="en-GB" dirty="0">
                <a:latin typeface="Google Sans Flex Medium"/>
                <a:ea typeface="Google Sans Flex Medium"/>
                <a:cs typeface="Google Sans Flex Medium"/>
                <a:sym typeface="Google Sans Flex Medium"/>
              </a:rPr>
              <a:t>GitHub Public Repository</a:t>
            </a:r>
            <a:r>
              <a:rPr lang="en-US" dirty="0">
                <a:latin typeface="Google Sans Flex Medium"/>
                <a:ea typeface="Google Sans Flex Medium"/>
                <a:cs typeface="Google Sans Flex Medium"/>
                <a:sym typeface="Google Sans Flex Medium"/>
              </a:rPr>
              <a:t>:  </a:t>
            </a:r>
            <a:r>
              <a:rPr lang="en-US" dirty="0">
                <a:latin typeface="Google Sans Flex Medium"/>
                <a:ea typeface="Google Sans Flex Medium"/>
                <a:cs typeface="Google Sans Flex Medium"/>
                <a:sym typeface="Google Sans Flex Medium"/>
                <a:hlinkClick r:id="rId5"/>
              </a:rPr>
              <a:t>savvy-cart-</a:t>
            </a:r>
            <a:r>
              <a:rPr lang="en-US" dirty="0" err="1">
                <a:latin typeface="Google Sans Flex Medium"/>
                <a:ea typeface="Google Sans Flex Medium"/>
                <a:cs typeface="Google Sans Flex Medium"/>
                <a:sym typeface="Google Sans Flex Medium"/>
                <a:hlinkClick r:id="rId5"/>
              </a:rPr>
              <a:t>github</a:t>
            </a:r>
            <a:r>
              <a:rPr lang="en-US" dirty="0">
                <a:latin typeface="Google Sans Flex Medium"/>
                <a:ea typeface="Google Sans Flex Medium"/>
                <a:cs typeface="Google Sans Flex Medium"/>
                <a:sym typeface="Google Sans Flex Medium"/>
                <a:hlinkClick r:id="rId5"/>
              </a:rPr>
              <a:t>-repo</a:t>
            </a:r>
            <a:endParaRPr lang="en-US" dirty="0">
              <a:latin typeface="Google Sans Flex Medium"/>
              <a:ea typeface="Google Sans Flex Medium"/>
              <a:cs typeface="Google Sans Flex Medium"/>
              <a:sym typeface="Google Sans Flex Medium"/>
            </a:endParaRPr>
          </a:p>
          <a:p>
            <a:pPr marL="425450" lvl="0" indent="-285750" algn="l" rtl="0">
              <a:spcBef>
                <a:spcPts val="0"/>
              </a:spcBef>
              <a:spcAft>
                <a:spcPts val="0"/>
              </a:spcAft>
              <a:buSzPts val="1400"/>
              <a:buFont typeface="Arial" panose="020B0604020202020204" pitchFamily="34" charset="0"/>
              <a:buChar char="•"/>
            </a:pPr>
            <a:endParaRPr lang="en-US" dirty="0">
              <a:latin typeface="Google Sans Flex Medium"/>
              <a:ea typeface="Google Sans Flex Medium"/>
              <a:cs typeface="Google Sans Flex Medium"/>
              <a:sym typeface="Google Sans Flex Medium"/>
            </a:endParaRPr>
          </a:p>
          <a:p>
            <a:pPr marL="425450" lvl="0" indent="-285750">
              <a:buSzPts val="1400"/>
              <a:buFont typeface="Arial" panose="020B0604020202020204" pitchFamily="34" charset="0"/>
              <a:buChar char="•"/>
            </a:pPr>
            <a:r>
              <a:rPr lang="en-GB" dirty="0">
                <a:latin typeface="Google Sans Flex Medium"/>
                <a:ea typeface="Google Sans Flex Medium"/>
                <a:cs typeface="Google Sans Flex Medium"/>
                <a:sym typeface="Google Sans Flex Medium"/>
              </a:rPr>
              <a:t>Demo Video Link </a:t>
            </a:r>
            <a:r>
              <a:rPr lang="en-US" dirty="0">
                <a:latin typeface="Google Sans Flex Medium"/>
                <a:ea typeface="Google Sans Flex Medium"/>
                <a:cs typeface="Google Sans Flex Medium"/>
                <a:sym typeface="Google Sans Flex Medium"/>
              </a:rPr>
              <a:t>: </a:t>
            </a:r>
            <a:r>
              <a:rPr lang="en-US" dirty="0">
                <a:latin typeface="Google Sans Flex Medium"/>
                <a:ea typeface="Google Sans Flex Medium"/>
                <a:cs typeface="Google Sans Flex Medium"/>
                <a:sym typeface="Google Sans Flex Medium"/>
                <a:hlinkClick r:id="rId6"/>
              </a:rPr>
              <a:t>savvy-cart-demo-video</a:t>
            </a:r>
            <a:endParaRPr lang="en-US" dirty="0">
              <a:latin typeface="Google Sans Flex Medium"/>
              <a:ea typeface="Google Sans Flex Medium"/>
              <a:cs typeface="Google Sans Flex Medium"/>
              <a:sym typeface="Google Sans Flex Medium"/>
            </a:endParaRPr>
          </a:p>
          <a:p>
            <a:pPr marL="425450" lvl="0" indent="-285750">
              <a:buSzPts val="1400"/>
              <a:buFont typeface="Arial" panose="020B0604020202020204" pitchFamily="34" charset="0"/>
              <a:buChar char="•"/>
            </a:pPr>
            <a:endParaRPr lang="en-US" dirty="0">
              <a:latin typeface="Google Sans Flex Medium"/>
              <a:ea typeface="Google Sans Flex Medium"/>
              <a:cs typeface="Google Sans Flex Medium"/>
              <a:sym typeface="Google Sans Flex Medium"/>
            </a:endParaRPr>
          </a:p>
          <a:p>
            <a:pPr marL="425450" lvl="0" indent="-285750">
              <a:buSzPts val="1400"/>
              <a:buFont typeface="Arial" panose="020B0604020202020204" pitchFamily="34" charset="0"/>
              <a:buChar char="•"/>
            </a:pPr>
            <a:r>
              <a:rPr lang="en-US" dirty="0">
                <a:latin typeface="Google Sans Flex Medium"/>
                <a:ea typeface="Google Sans Flex Medium"/>
                <a:cs typeface="Google Sans Flex Medium"/>
                <a:sym typeface="Google Sans Flex Medium"/>
              </a:rPr>
              <a:t>Final Product Link: </a:t>
            </a:r>
            <a:r>
              <a:rPr lang="en-US" dirty="0">
                <a:latin typeface="Google Sans Flex Medium"/>
                <a:ea typeface="Google Sans Flex Medium"/>
                <a:cs typeface="Google Sans Flex Medium"/>
                <a:sym typeface="Google Sans Flex Medium"/>
                <a:hlinkClick r:id="rId7"/>
              </a:rPr>
              <a:t>savvy-cart-product-link</a:t>
            </a:r>
            <a:endParaRPr lang="en-US" dirty="0">
              <a:latin typeface="Google Sans Flex Medium"/>
              <a:ea typeface="Google Sans Flex Medium"/>
              <a:cs typeface="Google Sans Flex Medium"/>
              <a:sym typeface="Google Sans Flex Medium"/>
            </a:endParaRPr>
          </a:p>
          <a:p>
            <a:pPr marL="139700" lvl="0" algn="l" rtl="0">
              <a:spcBef>
                <a:spcPts val="0"/>
              </a:spcBef>
              <a:spcAft>
                <a:spcPts val="0"/>
              </a:spcAft>
              <a:buSzPts val="1400"/>
            </a:pPr>
            <a:endParaRPr dirty="0">
              <a:latin typeface="Google Sans Flex Medium"/>
              <a:ea typeface="Google Sans Flex Medium"/>
              <a:cs typeface="Google Sans Flex Medium"/>
              <a:sym typeface="Google Sans Flex Medium"/>
            </a:endParaRP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1394</Words>
  <Application>Microsoft Office PowerPoint</Application>
  <PresentationFormat>On-screen Show (16:9)</PresentationFormat>
  <Paragraphs>115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Google Sans Flex SemiBold</vt:lpstr>
      <vt:lpstr>Google Sans Flex</vt:lpstr>
      <vt:lpstr>Google Sans Flex Medium</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Yogendran Nadaraja</cp:lastModifiedBy>
  <cp:revision>44</cp:revision>
  <dcterms:modified xsi:type="dcterms:W3CDTF">2026-10-18T16:34:20Z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2219072-b3d1-4d50-8de9-1d0abe0abf0d_Enabled">
    <vt:lpwstr>true</vt:lpwstr>
  </property>
  <property fmtid="{D5CDD505-2E9C-101B-9397-08002B2CF9AE}" pid="3" name="MSIP_Label_e2219072-b3d1-4d50-8de9-1d0abe0abf0d_SetDate">
    <vt:lpwstr>2026-10-18T12:46:38Z</vt:lpwstr>
  </property>
  <property fmtid="{D5CDD505-2E9C-101B-9397-08002B2CF9AE}" pid="4" name="MSIP_Label_e2219072-b3d1-4d50-8de9-1d0abe0abf0d_Method">
    <vt:lpwstr>Privileged</vt:lpwstr>
  </property>
  <property fmtid="{D5CDD505-2E9C-101B-9397-08002B2CF9AE}" pid="5" name="MSIP_Label_e2219072-b3d1-4d50-8de9-1d0abe0abf0d_Name">
    <vt:lpwstr>Public</vt:lpwstr>
  </property>
  <property fmtid="{D5CDD505-2E9C-101B-9397-08002B2CF9AE}" pid="6" name="MSIP_Label_e2219072-b3d1-4d50-8de9-1d0abe0abf0d_SiteId">
    <vt:lpwstr>77ab64d0-48c5-4723-9a64-eb43ae84e773</vt:lpwstr>
  </property>
  <property fmtid="{D5CDD505-2E9C-101B-9397-08002B2CF9AE}" pid="7" name="MSIP_Label_e2219072-b3d1-4d50-8de9-1d0abe0abf0d_ActionId">
    <vt:lpwstr>7d11534c-ddba-414d-b404-0624f0a6679e</vt:lpwstr>
  </property>
  <property fmtid="{D5CDD505-2E9C-101B-9397-08002B2CF9AE}" pid="8" name="MSIP_Label_e2219072-b3d1-4d50-8de9-1d0abe0abf0d_ContentBits">
    <vt:lpwstr>0</vt:lpwstr>
  </property>
  <property fmtid="{D5CDD505-2E9C-101B-9397-08002B2CF9AE}" pid="9" name="MSIP_Label_e2219072-b3d1-4d50-8de9-1d0abe0abf0d_Tag">
    <vt:lpwstr>10, 0, 1, 1</vt:lpwstr>
  </property>
</Properties>
</file>