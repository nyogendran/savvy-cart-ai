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697480"/>
            <a:ext cx="8760000" cy="237744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a:solidFill>
                  <a:srgbClr val="202020"/>
                </a:solidFill>
                <a:latin typeface="Google Sans Flex"/>
              </a:rPr>
              <a:t> gTaprobane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a:solidFill>
                  <a:srgbClr val="202020"/>
                </a:solidFill>
                <a:latin typeface="Google Sans Flex"/>
              </a:rPr>
              <a:t> Yogendran Nadaraja</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a:solidFill>
                  <a:srgbClr val="202020"/>
                </a:solidFill>
                <a:latin typeface="Google Sans Flex"/>
              </a:rPr>
              <a:t> A supermarket card’s headline “% off” rarely covers the whole basket, so Sri Lankan shoppers cannot tell what an offer truly saves after its exclusions, minimum bill, and cap.</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5092475" y="1968750"/>
            <a:ext cx="3311400" cy="1206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
            </a:r>
            <a:r>
              <a:rPr lang="en-GB" sz="1100">
                <a:solidFill>
                  <a:schemeClr val="lt1"/>
                </a:solidFill>
                <a:latin typeface="Google Sans Flex"/>
                <a:ea typeface="Google Sans Flex"/>
                <a:cs typeface="Google Sans Flex"/>
                <a:sym typeface="Google Sans Flex"/>
              </a:rPr>
              <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
            </a:r>
            <a:endParaRPr sz="1100">
              <a:solidFill>
                <a:schemeClr val="lt1"/>
              </a:solidFill>
              <a:latin typeface="Google Sans Flex"/>
              <a:ea typeface="Google Sans Flex"/>
              <a:cs typeface="Google Sans Flex"/>
              <a:sym typeface="Google Sans Flex"/>
            </a:endParaRPr>
          </a:p>
          <a:p>
            <a:pPr indent="0" lvl="0" marL="0" rtl="0" algn="l">
              <a:spcBef>
                <a:spcPts val="0"/>
              </a:spcBef>
              <a:spcAft>
                <a:spcPts val="0"/>
              </a:spcAft>
              <a:buNone/>
            </a:pPr>
            <a:r>
              <a:t/>
            </a: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rotWithShape="0" algn="bl" dir="5400000" dist="1905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457200" y="1325880"/>
            <a:ext cx="8229600" cy="3474720"/>
          </a:xfrm>
          <a:prstGeom prst="rect">
            <a:avLst/>
          </a:prstGeom>
          <a:noFill/>
        </p:spPr>
        <p:txBody>
          <a:bodyPr wrap="square" anchor="t">
            <a:spAutoFit/>
          </a:bodyPr>
          <a:lstStyle/>
          <a:p>
            <a:pPr>
              <a:spcBef>
                <a:spcPts val="0"/>
              </a:spcBef>
              <a:spcAft>
                <a:spcPts val="1300"/>
              </a:spcAft>
            </a:pPr>
            <a:r>
              <a:rPr sz="1600" b="0">
                <a:solidFill>
                  <a:srgbClr val="202020"/>
                </a:solidFill>
                <a:latin typeface="Arial"/>
              </a:rPr>
              <a:t>Savvy Cart AI is a condition-aware grocery basket optimizer for Sri Lankan households. Gemini reads a shopper’s receipts and bank offers; deterministic code then plans the cheapest </a:t>
            </a:r>
            <a:r>
              <a:rPr sz="1600" b="1">
                <a:solidFill>
                  <a:srgbClr val="202020"/>
                </a:solidFill>
                <a:latin typeface="Arial"/>
              </a:rPr>
              <a:t>legal</a:t>
            </a:r>
            <a:r>
              <a:rPr sz="1600" b="0">
                <a:solidFill>
                  <a:srgbClr val="202020"/>
                </a:solidFill>
                <a:latin typeface="Arial"/>
              </a:rPr>
              <a:t> way to buy what they need on a chosen day — across up to four stores, one card per bill — applying every exclusion, minimum bill, cap, and store or card rule in code, never guessing with a model.</a:t>
            </a:r>
          </a:p>
          <a:p>
            <a:pPr>
              <a:spcBef>
                <a:spcPts val="0"/>
              </a:spcBef>
              <a:spcAft>
                <a:spcPts val="600"/>
              </a:spcAft>
            </a:pPr>
            <a:r>
              <a:rPr sz="1600" b="0">
                <a:solidFill>
                  <a:srgbClr val="202020"/>
                </a:solidFill>
                <a:latin typeface="Arial"/>
              </a:rPr>
              <a:t>Its </a:t>
            </a:r>
            <a:r>
              <a:rPr sz="1600" b="1">
                <a:solidFill>
                  <a:srgbClr val="202020"/>
                </a:solidFill>
                <a:latin typeface="Arial"/>
              </a:rPr>
              <a:t>Offer Reality Check</a:t>
            </a:r>
            <a:r>
              <a:rPr sz="1600" b="0">
                <a:solidFill>
                  <a:srgbClr val="202020"/>
                </a:solidFill>
                <a:latin typeface="Arial"/>
              </a:rPr>
              <a:t> turns a pasted bank offer into what the headline promises versus what the terms actually pay on this shopper’s basket. The app is live on Cloud Run, built with Gemini and the Agent Development Kit: a guest, no-login, five-step flow that ends in a MOCK approval — no order is ever sent.</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different is it from any of the other existing ideas?</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will it be able to solve the problem?</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USP of the proposed solution</a:t>
            </a:r>
            <a:endParaRPr sz="1300">
              <a:latin typeface="Google Sans Flex"/>
              <a:ea typeface="Google Sans Flex"/>
              <a:cs typeface="Google Sans Flex"/>
              <a:sym typeface="Google Sans Flex"/>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80" name="TextBox 79"/>
          <p:cNvSpPr txBox="1"/>
          <p:nvPr/>
        </p:nvSpPr>
        <p:spPr>
          <a:xfrm>
            <a:off x="457200" y="2148840"/>
            <a:ext cx="8229600" cy="2743200"/>
          </a:xfrm>
          <a:prstGeom prst="rect">
            <a:avLst/>
          </a:prstGeom>
          <a:noFill/>
        </p:spPr>
        <p:txBody>
          <a:bodyPr wrap="square" anchor="t">
            <a:spAutoFit/>
          </a:bodyPr>
          <a:lstStyle/>
          <a:p>
            <a:pPr>
              <a:spcBef>
                <a:spcPts val="0"/>
              </a:spcBef>
              <a:spcAft>
                <a:spcPts val="1100"/>
              </a:spcAft>
            </a:pPr>
            <a:r>
              <a:rPr sz="1500">
                <a:solidFill>
                  <a:srgbClr val="202020"/>
                </a:solidFill>
                <a:latin typeface="Arial"/>
              </a:rPr>
              <a:t>•  </a:t>
            </a:r>
            <a:r>
              <a:rPr sz="1500" b="1">
                <a:solidFill>
                  <a:srgbClr val="202020"/>
                </a:solidFill>
                <a:latin typeface="Arial"/>
              </a:rPr>
              <a:t>How different: </a:t>
            </a:r>
            <a:r>
              <a:rPr sz="1500" b="0">
                <a:solidFill>
                  <a:srgbClr val="202020"/>
                </a:solidFill>
                <a:latin typeface="Arial"/>
              </a:rPr>
              <a:t>price-comparison apps find the cheapest store per item. Savvy Cart prices the whole basket after card-offer exclusions, minimums, caps, and cannot-combine rules — and shows, line by line, when a famous “25% off” actually pays LKR 0.</a:t>
            </a:r>
          </a:p>
          <a:p>
            <a:pPr>
              <a:spcBef>
                <a:spcPts val="0"/>
              </a:spcBef>
              <a:spcAft>
                <a:spcPts val="1100"/>
              </a:spcAft>
            </a:pPr>
            <a:r>
              <a:rPr sz="1500">
                <a:solidFill>
                  <a:srgbClr val="202020"/>
                </a:solidFill>
                <a:latin typeface="Arial"/>
              </a:rPr>
              <a:t>•  </a:t>
            </a:r>
            <a:r>
              <a:rPr sz="1500" b="1">
                <a:solidFill>
                  <a:srgbClr val="202020"/>
                </a:solidFill>
                <a:latin typeface="Arial"/>
              </a:rPr>
              <a:t>How it solves the problem: </a:t>
            </a:r>
            <a:r>
              <a:rPr sz="1500" b="0">
                <a:solidFill>
                  <a:srgbClr val="202020"/>
                </a:solidFill>
                <a:latin typeface="Arial"/>
              </a:rPr>
              <a:t>Gemini turns receipts and offer text into structured data; an exact OR-Tools optimizer assigns each item to a store and applies every rule; the shopper compares baseline vs optimized, sees the best day, and approves. Nothing is auto-ordered.</a:t>
            </a:r>
          </a:p>
          <a:p>
            <a:pPr>
              <a:spcBef>
                <a:spcPts val="0"/>
              </a:spcBef>
              <a:spcAft>
                <a:spcPts val="1100"/>
              </a:spcAft>
            </a:pPr>
            <a:r>
              <a:rPr sz="1500">
                <a:solidFill>
                  <a:srgbClr val="202020"/>
                </a:solidFill>
                <a:latin typeface="Arial"/>
              </a:rPr>
              <a:t>•  </a:t>
            </a:r>
            <a:r>
              <a:rPr sz="1500" b="1">
                <a:solidFill>
                  <a:srgbClr val="202020"/>
                </a:solidFill>
                <a:latin typeface="Arial"/>
              </a:rPr>
              <a:t>USP: </a:t>
            </a:r>
            <a:r>
              <a:rPr sz="1500" b="0">
                <a:solidFill>
                  <a:srgbClr val="202020"/>
                </a:solidFill>
                <a:latin typeface="Arial"/>
              </a:rPr>
              <a:t>the model reads documents; deterministic code owns every rupee, so the plan is auditable, not a guess. Two grounding layers stop the model inventing a price, discount, or total.</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TextBox 87"/>
          <p:cNvSpPr txBox="1"/>
          <p:nvPr/>
        </p:nvSpPr>
        <p:spPr>
          <a:xfrm>
            <a:off x="457200" y="1325880"/>
            <a:ext cx="8229600" cy="3474720"/>
          </a:xfrm>
          <a:prstGeom prst="rect">
            <a:avLst/>
          </a:prstGeom>
          <a:noFill/>
        </p:spPr>
        <p:txBody>
          <a:bodyPr wrap="square" anchor="t">
            <a:spAutoFit/>
          </a:bodyPr>
          <a:lstStyle/>
          <a:p>
            <a:pPr>
              <a:spcBef>
                <a:spcPts val="0"/>
              </a:spcBef>
              <a:spcAft>
                <a:spcPts val="1000"/>
              </a:spcAft>
            </a:pPr>
            <a:r>
              <a:rPr sz="1500">
                <a:solidFill>
                  <a:srgbClr val="202020"/>
                </a:solidFill>
                <a:latin typeface="Arial"/>
              </a:rPr>
              <a:t>•  </a:t>
            </a:r>
            <a:r>
              <a:rPr sz="1500" b="0">
                <a:solidFill>
                  <a:srgbClr val="202020"/>
                </a:solidFill>
                <a:latin typeface="Arial"/>
              </a:rPr>
              <a:t>Receipt-driven pantry — due dates from real purchase history (median gap), not a forecasting model.</a:t>
            </a:r>
          </a:p>
          <a:p>
            <a:pPr>
              <a:spcBef>
                <a:spcPts val="0"/>
              </a:spcBef>
              <a:spcAft>
                <a:spcPts val="1000"/>
              </a:spcAft>
            </a:pPr>
            <a:r>
              <a:rPr sz="1500">
                <a:solidFill>
                  <a:srgbClr val="202020"/>
                </a:solidFill>
                <a:latin typeface="Arial"/>
              </a:rPr>
              <a:t>•  </a:t>
            </a:r>
            <a:r>
              <a:rPr sz="1500" b="0">
                <a:solidFill>
                  <a:srgbClr val="202020"/>
                </a:solidFill>
                <a:latin typeface="Arial"/>
              </a:rPr>
              <a:t>Gemini receipt extraction — a photo becomes catalog-matched lines, each with a confidence score.</a:t>
            </a:r>
          </a:p>
          <a:p>
            <a:pPr>
              <a:spcBef>
                <a:spcPts val="0"/>
              </a:spcBef>
              <a:spcAft>
                <a:spcPts val="1000"/>
              </a:spcAft>
            </a:pPr>
            <a:r>
              <a:rPr sz="1500">
                <a:solidFill>
                  <a:srgbClr val="202020"/>
                </a:solidFill>
                <a:latin typeface="Arial"/>
              </a:rPr>
              <a:t>•  </a:t>
            </a:r>
            <a:r>
              <a:rPr sz="1500" b="0">
                <a:solidFill>
                  <a:srgbClr val="202020"/>
                </a:solidFill>
                <a:latin typeface="Arial"/>
              </a:rPr>
              <a:t>Offer Reality Check — Gemini reads a bank offer’s text or screenshot into validated, editable terms.</a:t>
            </a:r>
          </a:p>
          <a:p>
            <a:pPr>
              <a:spcBef>
                <a:spcPts val="0"/>
              </a:spcBef>
              <a:spcAft>
                <a:spcPts val="1000"/>
              </a:spcAft>
            </a:pPr>
            <a:r>
              <a:rPr sz="1500">
                <a:solidFill>
                  <a:srgbClr val="202020"/>
                </a:solidFill>
                <a:latin typeface="Arial"/>
              </a:rPr>
              <a:t>•  </a:t>
            </a:r>
            <a:r>
              <a:rPr sz="1500" b="0">
                <a:solidFill>
                  <a:srgbClr val="202020"/>
                </a:solidFill>
                <a:latin typeface="Arial"/>
              </a:rPr>
              <a:t>Exact multi-store optimizer (OR-Tools CP-SAT) — up to four stores, store promotions, one card offer per bill, and the cost of an extra trip.</a:t>
            </a:r>
          </a:p>
          <a:p>
            <a:pPr>
              <a:spcBef>
                <a:spcPts val="0"/>
              </a:spcBef>
              <a:spcAft>
                <a:spcPts val="1000"/>
              </a:spcAft>
            </a:pPr>
            <a:r>
              <a:rPr sz="1500">
                <a:solidFill>
                  <a:srgbClr val="202020"/>
                </a:solidFill>
                <a:latin typeface="Arial"/>
              </a:rPr>
              <a:t>•  </a:t>
            </a:r>
            <a:r>
              <a:rPr sz="1500" b="0">
                <a:solidFill>
                  <a:srgbClr val="202020"/>
                </a:solidFill>
                <a:latin typeface="Arial"/>
              </a:rPr>
              <a:t>Ask the agent (ADK) — natural-language questions, on-demand re-planning, and a visible tool trace.</a:t>
            </a:r>
          </a:p>
          <a:p>
            <a:pPr>
              <a:spcBef>
                <a:spcPts val="0"/>
              </a:spcBef>
              <a:spcAft>
                <a:spcPts val="1000"/>
              </a:spcAft>
            </a:pPr>
            <a:r>
              <a:rPr sz="1500">
                <a:solidFill>
                  <a:srgbClr val="202020"/>
                </a:solidFill>
                <a:latin typeface="Arial"/>
              </a:rPr>
              <a:t>•  </a:t>
            </a:r>
            <a:r>
              <a:rPr sz="1500" b="0">
                <a:solidFill>
                  <a:srgbClr val="202020"/>
                </a:solidFill>
                <a:latin typeface="Arial"/>
              </a:rPr>
              <a:t>Honest by design — it says “this offer pays LKR 0”, invents no numbers, previews a MOCK order, and never touches a card number.</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457200" y="1325880"/>
            <a:ext cx="8229600" cy="3474720"/>
          </a:xfrm>
          <a:prstGeom prst="rect">
            <a:avLst/>
          </a:prstGeom>
          <a:noFill/>
        </p:spPr>
        <p:txBody>
          <a:bodyPr wrap="square" anchor="t">
            <a:spAutoFit/>
          </a:bodyPr>
          <a:lstStyle/>
          <a:p>
            <a:pPr>
              <a:spcBef>
                <a:spcPts val="0"/>
              </a:spcBef>
              <a:spcAft>
                <a:spcPts val="1200"/>
              </a:spcAft>
            </a:pPr>
            <a:r>
              <a:rPr sz="1500" b="0">
                <a:solidFill>
                  <a:srgbClr val="202020"/>
                </a:solidFill>
                <a:latin typeface="Arial"/>
              </a:rPr>
              <a:t>A guest opens the Cloud Run URL — no login — and moves through a five-step wizard:</a:t>
            </a:r>
          </a:p>
          <a:p>
            <a:pPr>
              <a:spcBef>
                <a:spcPts val="0"/>
              </a:spcBef>
              <a:spcAft>
                <a:spcPts val="800"/>
              </a:spcAft>
            </a:pPr>
            <a:r>
              <a:rPr sz="1500">
                <a:solidFill>
                  <a:srgbClr val="202020"/>
                </a:solidFill>
                <a:latin typeface="Arial"/>
              </a:rPr>
              <a:t>•  </a:t>
            </a:r>
            <a:r>
              <a:rPr sz="1500" b="1">
                <a:solidFill>
                  <a:srgbClr val="202020"/>
                </a:solidFill>
                <a:latin typeface="Arial"/>
              </a:rPr>
              <a:t>1  Pantry — </a:t>
            </a:r>
            <a:r>
              <a:rPr sz="1500" b="0">
                <a:solidFill>
                  <a:srgbClr val="202020"/>
                </a:solidFill>
                <a:latin typeface="Arial"/>
              </a:rPr>
              <a:t>receipt history shows what is running low; add a receipt (the sample, or a photo read by Gemini).</a:t>
            </a:r>
          </a:p>
          <a:p>
            <a:pPr>
              <a:spcBef>
                <a:spcPts val="0"/>
              </a:spcBef>
              <a:spcAft>
                <a:spcPts val="800"/>
              </a:spcAft>
            </a:pPr>
            <a:r>
              <a:rPr sz="1500">
                <a:solidFill>
                  <a:srgbClr val="202020"/>
                </a:solidFill>
                <a:latin typeface="Arial"/>
              </a:rPr>
              <a:t>•  </a:t>
            </a:r>
            <a:r>
              <a:rPr sz="1500" b="1">
                <a:solidFill>
                  <a:srgbClr val="202020"/>
                </a:solidFill>
                <a:latin typeface="Arial"/>
              </a:rPr>
              <a:t>2  Wallet — </a:t>
            </a:r>
            <a:r>
              <a:rPr sz="1500" b="0">
                <a:solidFill>
                  <a:srgbClr val="202020"/>
                </a:solidFill>
                <a:latin typeface="Arial"/>
              </a:rPr>
              <a:t>choose cards, stores, and trip cost; run Offer Reality Check on any bank offer.</a:t>
            </a:r>
          </a:p>
          <a:p>
            <a:pPr>
              <a:spcBef>
                <a:spcPts val="0"/>
              </a:spcBef>
              <a:spcAft>
                <a:spcPts val="800"/>
              </a:spcAft>
            </a:pPr>
            <a:r>
              <a:rPr sz="1500">
                <a:solidFill>
                  <a:srgbClr val="202020"/>
                </a:solidFill>
                <a:latin typeface="Arial"/>
              </a:rPr>
              <a:t>•  </a:t>
            </a:r>
            <a:r>
              <a:rPr sz="1500" b="1">
                <a:solidFill>
                  <a:srgbClr val="202020"/>
                </a:solidFill>
                <a:latin typeface="Arial"/>
              </a:rPr>
              <a:t>3  Plan — </a:t>
            </a:r>
            <a:r>
              <a:rPr sz="1500" b="0">
                <a:solidFill>
                  <a:srgbClr val="202020"/>
                </a:solidFill>
                <a:latin typeface="Arial"/>
              </a:rPr>
              <a:t>the OR-Tools optimizer picks the stores, store promotions, best card offer, and best day.</a:t>
            </a:r>
          </a:p>
          <a:p>
            <a:pPr>
              <a:spcBef>
                <a:spcPts val="0"/>
              </a:spcBef>
              <a:spcAft>
                <a:spcPts val="800"/>
              </a:spcAft>
            </a:pPr>
            <a:r>
              <a:rPr sz="1500">
                <a:solidFill>
                  <a:srgbClr val="202020"/>
                </a:solidFill>
                <a:latin typeface="Arial"/>
              </a:rPr>
              <a:t>•  </a:t>
            </a:r>
            <a:r>
              <a:rPr sz="1500" b="1">
                <a:solidFill>
                  <a:srgbClr val="202020"/>
                </a:solidFill>
                <a:latin typeface="Arial"/>
              </a:rPr>
              <a:t>4  Why — </a:t>
            </a:r>
            <a:r>
              <a:rPr sz="1500" b="0">
                <a:solidFill>
                  <a:srgbClr val="202020"/>
                </a:solidFill>
                <a:latin typeface="Arial"/>
              </a:rPr>
              <a:t>the ADK agent explains the plan, re-plans on request, and shows every tool call it made.</a:t>
            </a:r>
          </a:p>
          <a:p>
            <a:pPr>
              <a:spcBef>
                <a:spcPts val="0"/>
              </a:spcBef>
              <a:spcAft>
                <a:spcPts val="800"/>
              </a:spcAft>
            </a:pPr>
            <a:r>
              <a:rPr sz="1500">
                <a:solidFill>
                  <a:srgbClr val="202020"/>
                </a:solidFill>
                <a:latin typeface="Arial"/>
              </a:rPr>
              <a:t>•  </a:t>
            </a:r>
            <a:r>
              <a:rPr sz="1500" b="1">
                <a:solidFill>
                  <a:srgbClr val="202020"/>
                </a:solidFill>
                <a:latin typeface="Arial"/>
              </a:rPr>
              <a:t>5  Approve — </a:t>
            </a:r>
            <a:r>
              <a:rPr sz="1500" b="0">
                <a:solidFill>
                  <a:srgbClr val="202020"/>
                </a:solidFill>
                <a:latin typeface="Arial"/>
              </a:rPr>
              <a:t>a MOCK order preview. No order is sent.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104" name="Picture 103" descr="06-why.png"/>
          <p:cNvPicPr>
            <a:picLocks noChangeAspect="1"/>
          </p:cNvPicPr>
          <p:nvPr/>
        </p:nvPicPr>
        <p:blipFill>
          <a:blip r:embed="rId5"/>
          <a:stretch>
            <a:fillRect/>
          </a:stretch>
        </p:blipFill>
        <p:spPr>
          <a:xfrm>
            <a:off x="502920" y="1371600"/>
            <a:ext cx="2503236" cy="3383280"/>
          </a:xfrm>
          <a:prstGeom prst="rect">
            <a:avLst/>
          </a:prstGeom>
        </p:spPr>
      </p:pic>
      <p:sp>
        <p:nvSpPr>
          <p:cNvPr id="105" name="TextBox 104"/>
          <p:cNvSpPr txBox="1"/>
          <p:nvPr/>
        </p:nvSpPr>
        <p:spPr>
          <a:xfrm>
            <a:off x="3417636" y="1737360"/>
            <a:ext cx="5360603" cy="2743200"/>
          </a:xfrm>
          <a:prstGeom prst="rect">
            <a:avLst/>
          </a:prstGeom>
          <a:noFill/>
        </p:spPr>
        <p:txBody>
          <a:bodyPr wrap="square" anchor="t">
            <a:spAutoFit/>
          </a:bodyPr>
          <a:lstStyle/>
          <a:p>
            <a:pPr>
              <a:spcBef>
                <a:spcPts val="0"/>
              </a:spcBef>
              <a:spcAft>
                <a:spcPts val="800"/>
              </a:spcAft>
            </a:pPr>
            <a:r>
              <a:rPr sz="1400" b="0">
                <a:solidFill>
                  <a:srgbClr val="202020"/>
                </a:solidFill>
                <a:latin typeface="Arial"/>
              </a:rPr>
              <a:t>The deployed guest UI is the working prototype — these are live screens, not mockups. Shown: the </a:t>
            </a:r>
            <a:r>
              <a:rPr sz="1400" b="1">
                <a:solidFill>
                  <a:srgbClr val="202020"/>
                </a:solidFill>
                <a:latin typeface="Arial"/>
              </a:rPr>
              <a:t>Why</a:t>
            </a:r>
            <a:r>
              <a:rPr sz="1400" b="0">
                <a:solidFill>
                  <a:srgbClr val="202020"/>
                </a:solidFill>
                <a:latin typeface="Arial"/>
              </a:rPr>
              <a:t> step, where the ADK agent answers the shopper’s question in plain language and reveals every tool call it made (plan_day, explain_plan_numbers). Every figure is checked against the engine before it appears.</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Picture 111" descr="arch.png"/>
          <p:cNvPicPr>
            <a:picLocks noChangeAspect="1"/>
          </p:cNvPicPr>
          <p:nvPr/>
        </p:nvPicPr>
        <p:blipFill>
          <a:blip r:embed="rId5"/>
          <a:stretch>
            <a:fillRect/>
          </a:stretch>
        </p:blipFill>
        <p:spPr>
          <a:xfrm>
            <a:off x="1285694" y="1325880"/>
            <a:ext cx="6572610" cy="2743200"/>
          </a:xfrm>
          <a:prstGeom prst="rect">
            <a:avLst/>
          </a:prstGeom>
        </p:spPr>
      </p:pic>
      <p:sp>
        <p:nvSpPr>
          <p:cNvPr id="113" name="TextBox 112"/>
          <p:cNvSpPr txBox="1"/>
          <p:nvPr/>
        </p:nvSpPr>
        <p:spPr>
          <a:xfrm>
            <a:off x="457200" y="4178808"/>
            <a:ext cx="8229600" cy="667511"/>
          </a:xfrm>
          <a:prstGeom prst="rect">
            <a:avLst/>
          </a:prstGeom>
          <a:noFill/>
        </p:spPr>
        <p:txBody>
          <a:bodyPr wrap="square" anchor="t">
            <a:spAutoFit/>
          </a:bodyPr>
          <a:lstStyle/>
          <a:p>
            <a:pPr>
              <a:spcBef>
                <a:spcPts val="0"/>
              </a:spcBef>
              <a:spcAft>
                <a:spcPts val="400"/>
              </a:spcAft>
            </a:pPr>
            <a:r>
              <a:rPr sz="1200" b="0">
                <a:solidFill>
                  <a:srgbClr val="202020"/>
                </a:solidFill>
                <a:latin typeface="Arial"/>
              </a:rPr>
              <a:t>Cloud Run (FastAPI, scale-to-zero) hosts the guest UI, the one ADK agent, and the OR-Tools engine in a single container. Gemini (gemini-3.8-flash on the Agent Platform) reads receipts and offers and explains plans. Secret Manager holds the model id; the runtime uses keyless Application Default Credentials. Data is packaged fixtures.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xtBox 119"/>
          <p:cNvSpPr txBox="1"/>
          <p:nvPr/>
        </p:nvSpPr>
        <p:spPr>
          <a:xfrm>
            <a:off x="457200" y="1325880"/>
            <a:ext cx="8229600" cy="3474720"/>
          </a:xfrm>
          <a:prstGeom prst="rect">
            <a:avLst/>
          </a:prstGeom>
          <a:noFill/>
        </p:spPr>
        <p:txBody>
          <a:bodyPr wrap="square" anchor="t">
            <a:spAutoFit/>
          </a:bodyPr>
          <a:lstStyle/>
          <a:p>
            <a:pPr>
              <a:spcBef>
                <a:spcPts val="0"/>
              </a:spcBef>
              <a:spcAft>
                <a:spcPts val="900"/>
              </a:spcAft>
            </a:pPr>
            <a:r>
              <a:rPr sz="1500">
                <a:solidFill>
                  <a:srgbClr val="202020"/>
                </a:solidFill>
                <a:latin typeface="Arial"/>
              </a:rPr>
              <a:t>•  </a:t>
            </a:r>
            <a:r>
              <a:rPr sz="1500" b="1">
                <a:solidFill>
                  <a:srgbClr val="202020"/>
                </a:solidFill>
                <a:latin typeface="Arial"/>
              </a:rPr>
              <a:t>Google Cloud — </a:t>
            </a:r>
            <a:r>
              <a:rPr sz="1500" b="0">
                <a:solidFill>
                  <a:srgbClr val="202020"/>
                </a:solidFill>
                <a:latin typeface="Arial"/>
              </a:rPr>
              <a:t>Cloud Run (asia-southeast1, scale-to-zero); Gemini gemini-3.8-flash on the Gemini Enterprise Agent Platform; Secret Manager.</a:t>
            </a:r>
          </a:p>
          <a:p>
            <a:pPr>
              <a:spcBef>
                <a:spcPts val="0"/>
              </a:spcBef>
              <a:spcAft>
                <a:spcPts val="900"/>
              </a:spcAft>
            </a:pPr>
            <a:r>
              <a:rPr sz="1500">
                <a:solidFill>
                  <a:srgbClr val="202020"/>
                </a:solidFill>
                <a:latin typeface="Arial"/>
              </a:rPr>
              <a:t>•  </a:t>
            </a:r>
            <a:r>
              <a:rPr sz="1500" b="1">
                <a:solidFill>
                  <a:srgbClr val="202020"/>
                </a:solidFill>
                <a:latin typeface="Arial"/>
              </a:rPr>
              <a:t>GenAI &amp; agents — </a:t>
            </a:r>
            <a:r>
              <a:rPr sz="1500" b="0">
                <a:solidFill>
                  <a:srgbClr val="202020"/>
                </a:solidFill>
                <a:latin typeface="Arial"/>
              </a:rPr>
              <a:t>Agent Development Kit (google-adk 2.x) and google-genai.</a:t>
            </a:r>
          </a:p>
          <a:p>
            <a:pPr>
              <a:spcBef>
                <a:spcPts val="0"/>
              </a:spcBef>
              <a:spcAft>
                <a:spcPts val="900"/>
              </a:spcAft>
            </a:pPr>
            <a:r>
              <a:rPr sz="1500">
                <a:solidFill>
                  <a:srgbClr val="202020"/>
                </a:solidFill>
                <a:latin typeface="Arial"/>
              </a:rPr>
              <a:t>•  </a:t>
            </a:r>
            <a:r>
              <a:rPr sz="1500" b="1">
                <a:solidFill>
                  <a:srgbClr val="202020"/>
                </a:solidFill>
                <a:latin typeface="Arial"/>
              </a:rPr>
              <a:t>Optimization — </a:t>
            </a:r>
            <a:r>
              <a:rPr sz="1500" b="0">
                <a:solidFill>
                  <a:srgbClr val="202020"/>
                </a:solidFill>
                <a:latin typeface="Arial"/>
              </a:rPr>
              <a:t>Google OR-Tools (CP-SAT) exact solver.</a:t>
            </a:r>
          </a:p>
          <a:p>
            <a:pPr>
              <a:spcBef>
                <a:spcPts val="0"/>
              </a:spcBef>
              <a:spcAft>
                <a:spcPts val="900"/>
              </a:spcAft>
            </a:pPr>
            <a:r>
              <a:rPr sz="1500">
                <a:solidFill>
                  <a:srgbClr val="202020"/>
                </a:solidFill>
                <a:latin typeface="Arial"/>
              </a:rPr>
              <a:t>•  </a:t>
            </a:r>
            <a:r>
              <a:rPr sz="1500" b="1">
                <a:solidFill>
                  <a:srgbClr val="202020"/>
                </a:solidFill>
                <a:latin typeface="Arial"/>
              </a:rPr>
              <a:t>Application — </a:t>
            </a:r>
            <a:r>
              <a:rPr sz="1500" b="0">
                <a:solidFill>
                  <a:srgbClr val="202020"/>
                </a:solidFill>
                <a:latin typeface="Arial"/>
              </a:rPr>
              <a:t>Python 3.12, FastAPI, uvicorn; server-rendered HTML with a lightweight vanilla JS/CSS frontend; httpx.</a:t>
            </a:r>
          </a:p>
          <a:p>
            <a:pPr>
              <a:spcBef>
                <a:spcPts val="0"/>
              </a:spcBef>
              <a:spcAft>
                <a:spcPts val="900"/>
              </a:spcAft>
            </a:pPr>
            <a:r>
              <a:rPr sz="1500">
                <a:solidFill>
                  <a:srgbClr val="202020"/>
                </a:solidFill>
                <a:latin typeface="Arial"/>
              </a:rPr>
              <a:t>•  </a:t>
            </a:r>
            <a:r>
              <a:rPr sz="1500" b="1">
                <a:solidFill>
                  <a:srgbClr val="202020"/>
                </a:solidFill>
                <a:latin typeface="Arial"/>
              </a:rPr>
              <a:t>Build &amp; test — </a:t>
            </a:r>
            <a:r>
              <a:rPr sz="1500" b="0">
                <a:solidFill>
                  <a:srgbClr val="202020"/>
                </a:solidFill>
                <a:latin typeface="Arial"/>
              </a:rPr>
              <a:t>Docker (python:3.12-slim, non-root); pytest — 120 tests passing.</a:t>
            </a:r>
          </a:p>
          <a:p>
            <a:pPr>
              <a:spcBef>
                <a:spcPts val="0"/>
              </a:spcBef>
              <a:spcAft>
                <a:spcPts val="900"/>
              </a:spcAft>
            </a:pPr>
            <a:r>
              <a:rPr sz="1500">
                <a:solidFill>
                  <a:srgbClr val="202020"/>
                </a:solidFill>
                <a:latin typeface="Arial"/>
              </a:rPr>
              <a:t>•  </a:t>
            </a:r>
            <a:r>
              <a:rPr sz="1500" b="1">
                <a:solidFill>
                  <a:srgbClr val="202020"/>
                </a:solidFill>
                <a:latin typeface="Arial"/>
              </a:rPr>
              <a:t>Not used in the prototype — </a:t>
            </a:r>
            <a:r>
              <a:rPr sz="1500" b="0">
                <a:solidFill>
                  <a:srgbClr val="202020"/>
                </a:solidFill>
                <a:latin typeface="Arial"/>
              </a:rPr>
              <a:t>Firebase and Firestore; the demo runs on committed fixtures, with Firestore as the documented path to production scale.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457200" y="1325880"/>
            <a:ext cx="8229600" cy="3474720"/>
          </a:xfrm>
          <a:prstGeom prst="rect">
            <a:avLst/>
          </a:prstGeom>
          <a:noFill/>
        </p:spPr>
        <p:txBody>
          <a:bodyPr wrap="square" anchor="t">
            <a:spAutoFit/>
          </a:bodyPr>
          <a:lstStyle/>
          <a:p>
            <a:pPr>
              <a:spcBef>
                <a:spcPts val="0"/>
              </a:spcBef>
              <a:spcAft>
                <a:spcPts val="600"/>
              </a:spcAft>
            </a:pPr>
            <a:r>
              <a:rPr sz="1500" b="1">
                <a:solidFill>
                  <a:srgbClr val="202020"/>
                </a:solidFill>
                <a:latin typeface="Arial"/>
              </a:rPr>
              <a:t>Prototype (evaluation window):</a:t>
            </a:r>
          </a:p>
          <a:p>
            <a:pPr>
              <a:spcBef>
                <a:spcPts val="0"/>
              </a:spcBef>
              <a:spcAft>
                <a:spcPts val="600"/>
              </a:spcAft>
            </a:pPr>
            <a:r>
              <a:rPr sz="1400">
                <a:solidFill>
                  <a:srgbClr val="202020"/>
                </a:solidFill>
                <a:latin typeface="Arial"/>
              </a:rPr>
              <a:t>•  </a:t>
            </a:r>
            <a:r>
              <a:rPr sz="1400" b="0">
                <a:solidFill>
                  <a:srgbClr val="202020"/>
                </a:solidFill>
                <a:latin typeface="Arial"/>
              </a:rPr>
              <a:t>Cloud Run scales to zero (min 0, max 3) — no paid warm instances.</a:t>
            </a:r>
          </a:p>
          <a:p>
            <a:pPr>
              <a:spcBef>
                <a:spcPts val="0"/>
              </a:spcBef>
              <a:spcAft>
                <a:spcPts val="600"/>
              </a:spcAft>
            </a:pPr>
            <a:r>
              <a:rPr sz="1400">
                <a:solidFill>
                  <a:srgbClr val="202020"/>
                </a:solidFill>
                <a:latin typeface="Arial"/>
              </a:rPr>
              <a:t>•  </a:t>
            </a:r>
            <a:r>
              <a:rPr sz="1400" b="0">
                <a:solidFill>
                  <a:srgbClr val="202020"/>
                </a:solidFill>
                <a:latin typeface="Arial"/>
              </a:rPr>
              <a:t>Gemini Flash traffic is judge-only; no managed-database cost (committed fixtures).</a:t>
            </a:r>
          </a:p>
          <a:p>
            <a:pPr>
              <a:spcBef>
                <a:spcPts val="0"/>
              </a:spcBef>
              <a:spcAft>
                <a:spcPts val="600"/>
              </a:spcAft>
            </a:pPr>
            <a:r>
              <a:rPr sz="1400">
                <a:solidFill>
                  <a:srgbClr val="202020"/>
                </a:solidFill>
                <a:latin typeface="Arial"/>
              </a:rPr>
              <a:t>•  </a:t>
            </a:r>
            <a:r>
              <a:rPr sz="1400" b="0">
                <a:solidFill>
                  <a:srgbClr val="202020"/>
                </a:solidFill>
                <a:latin typeface="Arial"/>
              </a:rPr>
              <a:t>Estimated spend: single-digit to low-tens of USD, typically within trial credits.</a:t>
            </a:r>
          </a:p>
          <a:p>
            <a:pPr>
              <a:spcBef>
                <a:spcPts val="0"/>
              </a:spcBef>
              <a:spcAft>
                <a:spcPts val="600"/>
              </a:spcAft>
            </a:pPr>
            <a:r>
              <a:rPr sz="1500" b="1">
                <a:solidFill>
                  <a:srgbClr val="202020"/>
                </a:solidFill>
                <a:latin typeface="Arial"/>
              </a:rPr>
              <a:t>At production scale (indicative):</a:t>
            </a:r>
          </a:p>
          <a:p>
            <a:pPr>
              <a:spcBef>
                <a:spcPts val="0"/>
              </a:spcBef>
              <a:spcAft>
                <a:spcPts val="600"/>
              </a:spcAft>
            </a:pPr>
            <a:r>
              <a:rPr sz="1400">
                <a:solidFill>
                  <a:srgbClr val="202020"/>
                </a:solidFill>
                <a:latin typeface="Arial"/>
              </a:rPr>
              <a:t>•  </a:t>
            </a:r>
            <a:r>
              <a:rPr sz="1400" b="0">
                <a:solidFill>
                  <a:srgbClr val="202020"/>
                </a:solidFill>
                <a:latin typeface="Arial"/>
              </a:rPr>
              <a:t>Cost tracks active households: roughly one Gemini vision call and one explanation per planning session, plus scale-to-zero Cloud Run.</a:t>
            </a:r>
          </a:p>
          <a:p>
            <a:pPr>
              <a:spcBef>
                <a:spcPts val="0"/>
              </a:spcBef>
              <a:spcAft>
                <a:spcPts val="600"/>
              </a:spcAft>
            </a:pPr>
            <a:r>
              <a:rPr sz="1400">
                <a:solidFill>
                  <a:srgbClr val="202020"/>
                </a:solidFill>
                <a:latin typeface="Arial"/>
              </a:rPr>
              <a:t>•  </a:t>
            </a:r>
            <a:r>
              <a:rPr sz="1400" b="0">
                <a:solidFill>
                  <a:srgbClr val="202020"/>
                </a:solidFill>
                <a:latin typeface="Arial"/>
              </a:rPr>
              <a:t>Add Firestore (sessions, catalog/offer snapshots) and Cloud Storage (receipts): low-tens to low-hundreds of USD per month for an early pilot, before any retailer-data licensing.</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01-pantry.png"/>
          <p:cNvPicPr>
            <a:picLocks noChangeAspect="1"/>
          </p:cNvPicPr>
          <p:nvPr/>
        </p:nvPicPr>
        <p:blipFill>
          <a:blip r:embed="rId5"/>
          <a:stretch>
            <a:fillRect/>
          </a:stretch>
        </p:blipFill>
        <p:spPr>
          <a:xfrm>
            <a:off x="868307" y="1325880"/>
            <a:ext cx="1857375" cy="2971800"/>
          </a:xfrm>
          <a:prstGeom prst="rect">
            <a:avLst/>
          </a:prstGeom>
        </p:spPr>
      </p:pic>
      <p:pic>
        <p:nvPicPr>
          <p:cNvPr id="137" name="Picture 136" descr="05-plan.png"/>
          <p:cNvPicPr>
            <a:picLocks noChangeAspect="1"/>
          </p:cNvPicPr>
          <p:nvPr/>
        </p:nvPicPr>
        <p:blipFill>
          <a:blip r:embed="rId6"/>
          <a:stretch>
            <a:fillRect/>
          </a:stretch>
        </p:blipFill>
        <p:spPr>
          <a:xfrm>
            <a:off x="3045722" y="1325880"/>
            <a:ext cx="2337986" cy="2971800"/>
          </a:xfrm>
          <a:prstGeom prst="rect">
            <a:avLst/>
          </a:prstGeom>
        </p:spPr>
      </p:pic>
      <p:pic>
        <p:nvPicPr>
          <p:cNvPr id="138" name="Picture 137" descr="04-offer-refuses.png"/>
          <p:cNvPicPr>
            <a:picLocks noChangeAspect="1"/>
          </p:cNvPicPr>
          <p:nvPr/>
        </p:nvPicPr>
        <p:blipFill>
          <a:blip r:embed="rId7"/>
          <a:stretch>
            <a:fillRect/>
          </a:stretch>
        </p:blipFill>
        <p:spPr>
          <a:xfrm>
            <a:off x="5703749" y="1325880"/>
            <a:ext cx="2571943" cy="2971800"/>
          </a:xfrm>
          <a:prstGeom prst="rect">
            <a:avLst/>
          </a:prstGeom>
        </p:spPr>
      </p:pic>
      <p:sp>
        <p:nvSpPr>
          <p:cNvPr id="139" name="TextBox 138"/>
          <p:cNvSpPr txBox="1"/>
          <p:nvPr/>
        </p:nvSpPr>
        <p:spPr>
          <a:xfrm>
            <a:off x="457200" y="4434840"/>
            <a:ext cx="8229600" cy="640080"/>
          </a:xfrm>
          <a:prstGeom prst="rect">
            <a:avLst/>
          </a:prstGeom>
          <a:noFill/>
        </p:spPr>
        <p:txBody>
          <a:bodyPr wrap="square" anchor="t">
            <a:spAutoFit/>
          </a:bodyPr>
          <a:lstStyle/>
          <a:p>
            <a:pPr>
              <a:spcBef>
                <a:spcPts val="0"/>
              </a:spcBef>
              <a:spcAft>
                <a:spcPts val="0"/>
              </a:spcAft>
            </a:pPr>
            <a:r>
              <a:rPr sz="1100" b="0">
                <a:solidFill>
                  <a:srgbClr val="202020"/>
                </a:solidFill>
                <a:latin typeface="Arial"/>
              </a:rPr>
              <a:t>Live screens: the receipt-driven pantry; the optimized plan line by line; and the honest case where a card offer’s minimum is not met and it pays LKR 0. Sample data — savings are simulated.</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457200" y="1325880"/>
            <a:ext cx="8229600" cy="3474720"/>
          </a:xfrm>
          <a:prstGeom prst="rect">
            <a:avLst/>
          </a:prstGeom>
          <a:noFill/>
        </p:spPr>
        <p:txBody>
          <a:bodyPr wrap="square" anchor="t">
            <a:spAutoFit/>
          </a:bodyPr>
          <a:lstStyle/>
          <a:p>
            <a:pPr>
              <a:spcBef>
                <a:spcPts val="0"/>
              </a:spcBef>
              <a:spcAft>
                <a:spcPts val="900"/>
              </a:spcAft>
            </a:pPr>
            <a:r>
              <a:rPr sz="1400">
                <a:solidFill>
                  <a:srgbClr val="202020"/>
                </a:solidFill>
                <a:latin typeface="Arial"/>
              </a:rPr>
              <a:t>•  </a:t>
            </a:r>
            <a:r>
              <a:rPr sz="1400" b="0">
                <a:solidFill>
                  <a:srgbClr val="202020"/>
                </a:solidFill>
                <a:latin typeface="Arial"/>
              </a:rPr>
              <a:t>120 automated tests pass — covering deterministic pricing, offer eligibility, and the grounding guardrails.</a:t>
            </a:r>
          </a:p>
          <a:p>
            <a:pPr>
              <a:spcBef>
                <a:spcPts val="0"/>
              </a:spcBef>
              <a:spcAft>
                <a:spcPts val="900"/>
              </a:spcAft>
            </a:pPr>
            <a:r>
              <a:rPr sz="1400">
                <a:solidFill>
                  <a:srgbClr val="202020"/>
                </a:solidFill>
                <a:latin typeface="Arial"/>
              </a:rPr>
              <a:t>•  </a:t>
            </a:r>
            <a:r>
              <a:rPr sz="1400" b="0">
                <a:solidFill>
                  <a:srgbClr val="202020"/>
                </a:solidFill>
                <a:latin typeface="Arial"/>
              </a:rPr>
              <a:t>Live Gemini (checked 18 Oct 2026): the agent’s Why answer about 30 seconds; reading a bank offer about 7 seconds.</a:t>
            </a:r>
          </a:p>
          <a:p>
            <a:pPr>
              <a:spcBef>
                <a:spcPts val="0"/>
              </a:spcBef>
              <a:spcAft>
                <a:spcPts val="900"/>
              </a:spcAft>
            </a:pPr>
            <a:r>
              <a:rPr sz="1400">
                <a:solidFill>
                  <a:srgbClr val="202020"/>
                </a:solidFill>
                <a:latin typeface="Arial"/>
              </a:rPr>
              <a:t>•  </a:t>
            </a:r>
            <a:r>
              <a:rPr sz="1400" b="0">
                <a:solidFill>
                  <a:srgbClr val="202020"/>
                </a:solidFill>
                <a:latin typeface="Arial"/>
              </a:rPr>
              <a:t>Worked example (simulated): a default basket costs LKR 4,604 across Keells and Cargills — LKR 1,328 below buying everything at Keells shelf price. The two-store split beats the best single store by only LKR 63, and at a LKR 320 trip cost the optimizer drops to one store.</a:t>
            </a:r>
          </a:p>
          <a:p>
            <a:pPr>
              <a:spcBef>
                <a:spcPts val="0"/>
              </a:spcBef>
              <a:spcAft>
                <a:spcPts val="900"/>
              </a:spcAft>
            </a:pPr>
            <a:r>
              <a:rPr sz="1400">
                <a:solidFill>
                  <a:srgbClr val="202020"/>
                </a:solidFill>
                <a:latin typeface="Arial"/>
              </a:rPr>
              <a:t>•  </a:t>
            </a:r>
            <a:r>
              <a:rPr sz="1400" b="0">
                <a:solidFill>
                  <a:srgbClr val="202020"/>
                </a:solidFill>
                <a:latin typeface="Arial"/>
              </a:rPr>
              <a:t>Offer Reality Check: a “10% off Saturday” headline worth LKR 593 on paper pays LKR 0 — the basket is LKR 2,475 short of the LKR 8,000 minimum.</a:t>
            </a:r>
          </a:p>
          <a:p>
            <a:pPr>
              <a:spcBef>
                <a:spcPts val="0"/>
              </a:spcBef>
              <a:spcAft>
                <a:spcPts val="900"/>
              </a:spcAft>
            </a:pPr>
            <a:r>
              <a:rPr sz="1400">
                <a:solidFill>
                  <a:srgbClr val="202020"/>
                </a:solidFill>
                <a:latin typeface="Arial"/>
              </a:rPr>
              <a:t>•  </a:t>
            </a:r>
            <a:r>
              <a:rPr sz="1400" b="0">
                <a:solidFill>
                  <a:srgbClr val="202020"/>
                </a:solidFill>
                <a:latin typeface="Arial"/>
              </a:rPr>
              <a:t>Every saving is simulated on labeled sample data.</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457200" y="1325880"/>
            <a:ext cx="8229600" cy="3474720"/>
          </a:xfrm>
          <a:prstGeom prst="rect">
            <a:avLst/>
          </a:prstGeom>
          <a:noFill/>
        </p:spPr>
        <p:txBody>
          <a:bodyPr wrap="square" anchor="t">
            <a:spAutoFit/>
          </a:bodyPr>
          <a:lstStyle/>
          <a:p>
            <a:pPr>
              <a:spcBef>
                <a:spcPts val="0"/>
              </a:spcBef>
              <a:spcAft>
                <a:spcPts val="1100"/>
              </a:spcAft>
            </a:pPr>
            <a:r>
              <a:rPr sz="1500">
                <a:solidFill>
                  <a:srgbClr val="202020"/>
                </a:solidFill>
                <a:latin typeface="Arial"/>
              </a:rPr>
              <a:t>•  </a:t>
            </a:r>
            <a:r>
              <a:rPr sz="1500" b="1">
                <a:solidFill>
                  <a:srgbClr val="202020"/>
                </a:solidFill>
                <a:latin typeface="Arial"/>
              </a:rPr>
              <a:t>Roadmap — </a:t>
            </a:r>
            <a:r>
              <a:rPr sz="1500" b="0">
                <a:solidFill>
                  <a:srgbClr val="202020"/>
                </a:solidFill>
                <a:latin typeface="Arial"/>
              </a:rPr>
              <a:t>a Colombo household pilot; then authorized retailer and issuer data feeds (versioned prices, real card terms); then adapting the rule engine to other JAPAC markets (currencies, rounding, local card offers).</a:t>
            </a:r>
          </a:p>
          <a:p>
            <a:pPr>
              <a:spcBef>
                <a:spcPts val="0"/>
              </a:spcBef>
              <a:spcAft>
                <a:spcPts val="1100"/>
              </a:spcAft>
            </a:pPr>
            <a:r>
              <a:rPr sz="1500">
                <a:solidFill>
                  <a:srgbClr val="202020"/>
                </a:solidFill>
                <a:latin typeface="Arial"/>
              </a:rPr>
              <a:t>•  </a:t>
            </a:r>
            <a:r>
              <a:rPr sz="1500" b="1">
                <a:solidFill>
                  <a:srgbClr val="202020"/>
                </a:solidFill>
                <a:latin typeface="Arial"/>
              </a:rPr>
              <a:t>Business model — </a:t>
            </a:r>
            <a:r>
              <a:rPr sz="1500" b="0">
                <a:solidFill>
                  <a:srgbClr val="202020"/>
                </a:solidFill>
                <a:latin typeface="Arial"/>
              </a:rPr>
              <a:t>free for households; later, issuers or retailers pay for consented, disclosed referrals. We never sell the shopper’s data.</a:t>
            </a:r>
          </a:p>
          <a:p>
            <a:pPr>
              <a:spcBef>
                <a:spcPts val="0"/>
              </a:spcBef>
              <a:spcAft>
                <a:spcPts val="1100"/>
              </a:spcAft>
            </a:pPr>
            <a:r>
              <a:rPr sz="1500">
                <a:solidFill>
                  <a:srgbClr val="202020"/>
                </a:solidFill>
                <a:latin typeface="Arial"/>
              </a:rPr>
              <a:t>•  </a:t>
            </a:r>
            <a:r>
              <a:rPr sz="1500" b="1">
                <a:solidFill>
                  <a:srgbClr val="202020"/>
                </a:solidFill>
                <a:latin typeface="Arial"/>
              </a:rPr>
              <a:t>Beyond the prototype — </a:t>
            </a:r>
            <a:r>
              <a:rPr sz="1500" b="0">
                <a:solidFill>
                  <a:srgbClr val="202020"/>
                </a:solidFill>
                <a:latin typeface="Arial"/>
              </a:rPr>
              <a:t>live prices, real orders and payments, Firestore persistence, and partner checkout are all post-Cup.</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sz="1600">
                <a:solidFill>
                  <a:srgbClr val="202020"/>
                </a:solidFill>
                <a:latin typeface="Google Sans Flex Medium"/>
              </a:rPr>
              <a:t> https://github.com/nyogendran/savvy-cart-ai</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r>
              <a:rPr sz="1600">
                <a:solidFill>
                  <a:srgbClr val="202020"/>
                </a:solidFill>
                <a:latin typeface="Google Sans Flex Medium"/>
              </a:rPr>
              <a:t> (to be added before submission)</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sz="1600">
                <a:solidFill>
                  <a:srgbClr val="202020"/>
                </a:solidFill>
                <a:latin typeface="Google Sans Flex Medium"/>
              </a:rPr>
              <a:t> https://savvy-cart-890425261137.asia-southeast1.run.app</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