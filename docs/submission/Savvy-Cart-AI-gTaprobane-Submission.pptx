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697480"/>
            <a:ext cx="8760000" cy="23774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sz="1800">
                <a:solidFill>
                  <a:srgbClr val="202020"/>
                </a:solidFill>
                <a:latin typeface="Google Sans Flex"/>
              </a:rPr>
              <a:t> gTaprobane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sz="1800">
                <a:solidFill>
                  <a:srgbClr val="202020"/>
                </a:solidFill>
                <a:latin typeface="Google Sans Flex"/>
              </a:rPr>
              <a:t> Yogendran Nadaraja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sz="1800">
                <a:solidFill>
                  <a:srgbClr val="202020"/>
                </a:solidFill>
                <a:latin typeface="Google Sans Flex"/>
              </a:rPr>
              <a:t> A bank’s headline percent rarely covers the whole basket; the real saving is the basket total after each offer’s exclusions, minimum bill, and cap.</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
            </a:r>
            <a:r>
              <a:rPr lang="en-GB" sz="1100">
                <a:solidFill>
                  <a:schemeClr val="lt1"/>
                </a:solidFill>
                <a:latin typeface="Google Sans Flex"/>
                <a:ea typeface="Google Sans Flex"/>
                <a:cs typeface="Google Sans Flex"/>
                <a:sym typeface="Google Sans Flex"/>
              </a:rPr>
              <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457200" y="1325880"/>
            <a:ext cx="8229600" cy="3474720"/>
          </a:xfrm>
          <a:prstGeom prst="rect">
            <a:avLst/>
          </a:prstGeom>
          <a:noFill/>
        </p:spPr>
        <p:txBody>
          <a:bodyPr wrap="square" anchor="t">
            <a:spAutoFit/>
          </a:bodyPr>
          <a:lstStyle/>
          <a:p>
            <a:pPr>
              <a:spcBef>
                <a:spcPts val="0"/>
              </a:spcBef>
              <a:spcAft>
                <a:spcPts val="1200"/>
              </a:spcAft>
            </a:pPr>
            <a:r>
              <a:rPr sz="1600" b="0">
                <a:solidFill>
                  <a:srgbClr val="202020"/>
                </a:solidFill>
                <a:latin typeface="Arial"/>
              </a:rPr>
              <a:t>Savvy Cart AI is a condition-aware grocery basket optimizer for Sri Lankan households. It reads a shopper’s receipts with Gemini, works out what they are running low on, and plans the cheapest </a:t>
            </a:r>
            <a:r>
              <a:rPr sz="1600" b="1">
                <a:solidFill>
                  <a:srgbClr val="202020"/>
                </a:solidFill>
                <a:latin typeface="Arial"/>
              </a:rPr>
              <a:t>legal</a:t>
            </a:r>
            <a:r>
              <a:rPr sz="1600" b="0">
                <a:solidFill>
                  <a:srgbClr val="202020"/>
                </a:solidFill>
                <a:latin typeface="Arial"/>
              </a:rPr>
              <a:t> way to buy it on a chosen day — across up to four stores, one card per bill — applying every exclusion, minimum bill, cap, and store or card rule in deterministic code, not guessing with a model.</a:t>
            </a:r>
          </a:p>
          <a:p>
            <a:pPr>
              <a:spcBef>
                <a:spcPts val="0"/>
              </a:spcBef>
              <a:spcAft>
                <a:spcPts val="600"/>
              </a:spcAft>
            </a:pPr>
            <a:r>
              <a:rPr sz="1600" b="0">
                <a:solidFill>
                  <a:srgbClr val="202020"/>
                </a:solidFill>
                <a:latin typeface="Arial"/>
              </a:rPr>
              <a:t>Its </a:t>
            </a:r>
            <a:r>
              <a:rPr sz="1600" b="1">
                <a:solidFill>
                  <a:srgbClr val="202020"/>
                </a:solidFill>
                <a:latin typeface="Arial"/>
              </a:rPr>
              <a:t>Offer Reality Check</a:t>
            </a:r>
            <a:r>
              <a:rPr sz="1600" b="0">
                <a:solidFill>
                  <a:srgbClr val="202020"/>
                </a:solidFill>
                <a:latin typeface="Arial"/>
              </a:rPr>
              <a:t> lets a shopper paste a bank offer and see what the headline promises against what the terms actually pay on their own basket. The app is live on Cloud Run with Gemini and the Agent Development Kit — a guest, no-login, five-step flow that ends in a MOCK approval (no order is sent).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80" name="TextBox 79"/>
          <p:cNvSpPr txBox="1"/>
          <p:nvPr/>
        </p:nvSpPr>
        <p:spPr>
          <a:xfrm>
            <a:off x="457200" y="2148840"/>
            <a:ext cx="8229600" cy="2743200"/>
          </a:xfrm>
          <a:prstGeom prst="rect">
            <a:avLst/>
          </a:prstGeom>
          <a:noFill/>
        </p:spPr>
        <p:txBody>
          <a:bodyPr wrap="square" anchor="t">
            <a:spAutoFit/>
          </a:bodyPr>
          <a:lstStyle/>
          <a:p>
            <a:pPr>
              <a:spcBef>
                <a:spcPts val="0"/>
              </a:spcBef>
              <a:spcAft>
                <a:spcPts val="1100"/>
              </a:spcAft>
            </a:pPr>
            <a:r>
              <a:rPr sz="1500">
                <a:solidFill>
                  <a:srgbClr val="202020"/>
                </a:solidFill>
                <a:latin typeface="Arial"/>
              </a:rPr>
              <a:t>•  </a:t>
            </a:r>
            <a:r>
              <a:rPr sz="1500" b="1">
                <a:solidFill>
                  <a:srgbClr val="202020"/>
                </a:solidFill>
                <a:latin typeface="Arial"/>
              </a:rPr>
              <a:t>How different: </a:t>
            </a:r>
            <a:r>
              <a:rPr sz="1500" b="0">
                <a:solidFill>
                  <a:srgbClr val="202020"/>
                </a:solidFill>
                <a:latin typeface="Arial"/>
              </a:rPr>
              <a:t>price-comparison apps show the cheapest store per item. Savvy Cart prices the full basket after card-offer exclusions, minimums, caps, and cannot-combine rules — and shows, line by line, when a famous “25% off” actually pays LKR 0.</a:t>
            </a:r>
          </a:p>
          <a:p>
            <a:pPr>
              <a:spcBef>
                <a:spcPts val="0"/>
              </a:spcBef>
              <a:spcAft>
                <a:spcPts val="1100"/>
              </a:spcAft>
            </a:pPr>
            <a:r>
              <a:rPr sz="1500">
                <a:solidFill>
                  <a:srgbClr val="202020"/>
                </a:solidFill>
                <a:latin typeface="Arial"/>
              </a:rPr>
              <a:t>•  </a:t>
            </a:r>
            <a:r>
              <a:rPr sz="1500" b="1">
                <a:solidFill>
                  <a:srgbClr val="202020"/>
                </a:solidFill>
                <a:latin typeface="Arial"/>
              </a:rPr>
              <a:t>How it solves the problem: </a:t>
            </a:r>
            <a:r>
              <a:rPr sz="1500" b="0">
                <a:solidFill>
                  <a:srgbClr val="202020"/>
                </a:solidFill>
                <a:latin typeface="Arial"/>
              </a:rPr>
              <a:t>Gemini turns receipts and offer text into structured data; an exact OR-Tools optimizer assigns items to stores and applies every rule; the shopper sees baseline vs optimized and the best day, then approves. Nothing is auto-ordered.</a:t>
            </a:r>
          </a:p>
          <a:p>
            <a:pPr>
              <a:spcBef>
                <a:spcPts val="0"/>
              </a:spcBef>
              <a:spcAft>
                <a:spcPts val="1100"/>
              </a:spcAft>
            </a:pPr>
            <a:r>
              <a:rPr sz="1500">
                <a:solidFill>
                  <a:srgbClr val="202020"/>
                </a:solidFill>
                <a:latin typeface="Arial"/>
              </a:rPr>
              <a:t>•  </a:t>
            </a:r>
            <a:r>
              <a:rPr sz="1500" b="1">
                <a:solidFill>
                  <a:srgbClr val="202020"/>
                </a:solidFill>
                <a:latin typeface="Arial"/>
              </a:rPr>
              <a:t>USP: </a:t>
            </a:r>
            <a:r>
              <a:rPr sz="1500" b="0">
                <a:solidFill>
                  <a:srgbClr val="202020"/>
                </a:solidFill>
                <a:latin typeface="Arial"/>
              </a:rPr>
              <a:t>the AI reads documents; deterministic code owns every rupee, so the plan can be trusted. Two grounding layers stop the model inventing a price, discount, or total.</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extBox 87"/>
          <p:cNvSpPr txBox="1"/>
          <p:nvPr/>
        </p:nvSpPr>
        <p:spPr>
          <a:xfrm>
            <a:off x="457200" y="1325880"/>
            <a:ext cx="8229600" cy="3474720"/>
          </a:xfrm>
          <a:prstGeom prst="rect">
            <a:avLst/>
          </a:prstGeom>
          <a:noFill/>
        </p:spPr>
        <p:txBody>
          <a:bodyPr wrap="square" anchor="t">
            <a:spAutoFit/>
          </a:bodyPr>
          <a:lstStyle/>
          <a:p>
            <a:pPr>
              <a:spcBef>
                <a:spcPts val="0"/>
              </a:spcBef>
              <a:spcAft>
                <a:spcPts val="1000"/>
              </a:spcAft>
            </a:pPr>
            <a:r>
              <a:rPr sz="1500">
                <a:solidFill>
                  <a:srgbClr val="202020"/>
                </a:solidFill>
                <a:latin typeface="Arial"/>
              </a:rPr>
              <a:t>•  </a:t>
            </a:r>
            <a:r>
              <a:rPr sz="1500" b="0">
                <a:solidFill>
                  <a:srgbClr val="202020"/>
                </a:solidFill>
                <a:latin typeface="Arial"/>
              </a:rPr>
              <a:t>Receipt-driven pantry: due dates from real purchase history (median gap) — no forecasting model.</a:t>
            </a:r>
          </a:p>
          <a:p>
            <a:pPr>
              <a:spcBef>
                <a:spcPts val="0"/>
              </a:spcBef>
              <a:spcAft>
                <a:spcPts val="1000"/>
              </a:spcAft>
            </a:pPr>
            <a:r>
              <a:rPr sz="1500">
                <a:solidFill>
                  <a:srgbClr val="202020"/>
                </a:solidFill>
                <a:latin typeface="Arial"/>
              </a:rPr>
              <a:t>•  </a:t>
            </a:r>
            <a:r>
              <a:rPr sz="1500" b="0">
                <a:solidFill>
                  <a:srgbClr val="202020"/>
                </a:solidFill>
                <a:latin typeface="Arial"/>
              </a:rPr>
              <a:t>Gemini receipt extraction: a photo becomes catalog-matched lines with a confidence per line.</a:t>
            </a:r>
          </a:p>
          <a:p>
            <a:pPr>
              <a:spcBef>
                <a:spcPts val="0"/>
              </a:spcBef>
              <a:spcAft>
                <a:spcPts val="1000"/>
              </a:spcAft>
            </a:pPr>
            <a:r>
              <a:rPr sz="1500">
                <a:solidFill>
                  <a:srgbClr val="202020"/>
                </a:solidFill>
                <a:latin typeface="Arial"/>
              </a:rPr>
              <a:t>•  </a:t>
            </a:r>
            <a:r>
              <a:rPr sz="1500" b="0">
                <a:solidFill>
                  <a:srgbClr val="202020"/>
                </a:solidFill>
                <a:latin typeface="Arial"/>
              </a:rPr>
              <a:t>Offer Reality Check: Gemini reads a bank offer’s text or screenshot into validated terms.</a:t>
            </a:r>
          </a:p>
          <a:p>
            <a:pPr>
              <a:spcBef>
                <a:spcPts val="0"/>
              </a:spcBef>
              <a:spcAft>
                <a:spcPts val="1000"/>
              </a:spcAft>
            </a:pPr>
            <a:r>
              <a:rPr sz="1500">
                <a:solidFill>
                  <a:srgbClr val="202020"/>
                </a:solidFill>
                <a:latin typeface="Arial"/>
              </a:rPr>
              <a:t>•  </a:t>
            </a:r>
            <a:r>
              <a:rPr sz="1500" b="0">
                <a:solidFill>
                  <a:srgbClr val="202020"/>
                </a:solidFill>
                <a:latin typeface="Arial"/>
              </a:rPr>
              <a:t>Exact multi-store optimizer (OR-Tools CP-SAT): up to four stores, store promotions, one card offer per bill, trip-cost aware.</a:t>
            </a:r>
          </a:p>
          <a:p>
            <a:pPr>
              <a:spcBef>
                <a:spcPts val="0"/>
              </a:spcBef>
              <a:spcAft>
                <a:spcPts val="1000"/>
              </a:spcAft>
            </a:pPr>
            <a:r>
              <a:rPr sz="1500">
                <a:solidFill>
                  <a:srgbClr val="202020"/>
                </a:solidFill>
                <a:latin typeface="Arial"/>
              </a:rPr>
              <a:t>•  </a:t>
            </a:r>
            <a:r>
              <a:rPr sz="1500" b="0">
                <a:solidFill>
                  <a:srgbClr val="202020"/>
                </a:solidFill>
                <a:latin typeface="Arial"/>
              </a:rPr>
              <a:t>Ask the agent (ADK): natural-language questions, on-demand re-planning, and a visible tool trace.</a:t>
            </a:r>
          </a:p>
          <a:p>
            <a:pPr>
              <a:spcBef>
                <a:spcPts val="0"/>
              </a:spcBef>
              <a:spcAft>
                <a:spcPts val="1000"/>
              </a:spcAft>
            </a:pPr>
            <a:r>
              <a:rPr sz="1500">
                <a:solidFill>
                  <a:srgbClr val="202020"/>
                </a:solidFill>
                <a:latin typeface="Arial"/>
              </a:rPr>
              <a:t>•  </a:t>
            </a:r>
            <a:r>
              <a:rPr sz="1500" b="0">
                <a:solidFill>
                  <a:srgbClr val="202020"/>
                </a:solidFill>
                <a:latin typeface="Arial"/>
              </a:rPr>
              <a:t>Honest by design: “this offer refuses your basket” (LKR 0), no invented numbers, MOCK approval, and no card numbers ever.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457200" y="1325880"/>
            <a:ext cx="8229600" cy="3474720"/>
          </a:xfrm>
          <a:prstGeom prst="rect">
            <a:avLst/>
          </a:prstGeom>
          <a:noFill/>
        </p:spPr>
        <p:txBody>
          <a:bodyPr wrap="square" anchor="t">
            <a:spAutoFit/>
          </a:bodyPr>
          <a:lstStyle/>
          <a:p>
            <a:pPr>
              <a:spcBef>
                <a:spcPts val="0"/>
              </a:spcBef>
              <a:spcAft>
                <a:spcPts val="1200"/>
              </a:spcAft>
            </a:pPr>
            <a:r>
              <a:rPr sz="1500" b="0">
                <a:solidFill>
                  <a:srgbClr val="202020"/>
                </a:solidFill>
                <a:latin typeface="Arial"/>
              </a:rPr>
              <a:t>Guest opens the Cloud Run URL — no login — and moves through a five-step wizard:</a:t>
            </a:r>
          </a:p>
          <a:p>
            <a:pPr>
              <a:spcBef>
                <a:spcPts val="0"/>
              </a:spcBef>
              <a:spcAft>
                <a:spcPts val="800"/>
              </a:spcAft>
            </a:pPr>
            <a:r>
              <a:rPr sz="1500">
                <a:solidFill>
                  <a:srgbClr val="202020"/>
                </a:solidFill>
                <a:latin typeface="Arial"/>
              </a:rPr>
              <a:t>•  </a:t>
            </a:r>
            <a:r>
              <a:rPr sz="1500" b="1">
                <a:solidFill>
                  <a:srgbClr val="202020"/>
                </a:solidFill>
                <a:latin typeface="Arial"/>
              </a:rPr>
              <a:t>1  Pantry — </a:t>
            </a:r>
            <a:r>
              <a:rPr sz="1500" b="0">
                <a:solidFill>
                  <a:srgbClr val="202020"/>
                </a:solidFill>
                <a:latin typeface="Arial"/>
              </a:rPr>
              <a:t>receipt history shows what is running low; add a receipt (sample, or a photo read by Gemini).</a:t>
            </a:r>
          </a:p>
          <a:p>
            <a:pPr>
              <a:spcBef>
                <a:spcPts val="0"/>
              </a:spcBef>
              <a:spcAft>
                <a:spcPts val="800"/>
              </a:spcAft>
            </a:pPr>
            <a:r>
              <a:rPr sz="1500">
                <a:solidFill>
                  <a:srgbClr val="202020"/>
                </a:solidFill>
                <a:latin typeface="Arial"/>
              </a:rPr>
              <a:t>•  </a:t>
            </a:r>
            <a:r>
              <a:rPr sz="1500" b="1">
                <a:solidFill>
                  <a:srgbClr val="202020"/>
                </a:solidFill>
                <a:latin typeface="Arial"/>
              </a:rPr>
              <a:t>2  Wallet — </a:t>
            </a:r>
            <a:r>
              <a:rPr sz="1500" b="0">
                <a:solidFill>
                  <a:srgbClr val="202020"/>
                </a:solidFill>
                <a:latin typeface="Arial"/>
              </a:rPr>
              <a:t>choose cards, stores, and trip cost; run Offer Reality Check on a bank offer.</a:t>
            </a:r>
          </a:p>
          <a:p>
            <a:pPr>
              <a:spcBef>
                <a:spcPts val="0"/>
              </a:spcBef>
              <a:spcAft>
                <a:spcPts val="800"/>
              </a:spcAft>
            </a:pPr>
            <a:r>
              <a:rPr sz="1500">
                <a:solidFill>
                  <a:srgbClr val="202020"/>
                </a:solidFill>
                <a:latin typeface="Arial"/>
              </a:rPr>
              <a:t>•  </a:t>
            </a:r>
            <a:r>
              <a:rPr sz="1500" b="1">
                <a:solidFill>
                  <a:srgbClr val="202020"/>
                </a:solidFill>
                <a:latin typeface="Arial"/>
              </a:rPr>
              <a:t>3  Plan — </a:t>
            </a:r>
            <a:r>
              <a:rPr sz="1500" b="0">
                <a:solidFill>
                  <a:srgbClr val="202020"/>
                </a:solidFill>
                <a:latin typeface="Arial"/>
              </a:rPr>
              <a:t>the OR-Tools optimizer picks stores, store promotions, the best card offer, and the best day.</a:t>
            </a:r>
          </a:p>
          <a:p>
            <a:pPr>
              <a:spcBef>
                <a:spcPts val="0"/>
              </a:spcBef>
              <a:spcAft>
                <a:spcPts val="800"/>
              </a:spcAft>
            </a:pPr>
            <a:r>
              <a:rPr sz="1500">
                <a:solidFill>
                  <a:srgbClr val="202020"/>
                </a:solidFill>
                <a:latin typeface="Arial"/>
              </a:rPr>
              <a:t>•  </a:t>
            </a:r>
            <a:r>
              <a:rPr sz="1500" b="1">
                <a:solidFill>
                  <a:srgbClr val="202020"/>
                </a:solidFill>
                <a:latin typeface="Arial"/>
              </a:rPr>
              <a:t>4  Why — </a:t>
            </a:r>
            <a:r>
              <a:rPr sz="1500" b="0">
                <a:solidFill>
                  <a:srgbClr val="202020"/>
                </a:solidFill>
                <a:latin typeface="Arial"/>
              </a:rPr>
              <a:t>the ADK agent explains the plan, can re-plan, and shows every tool call it made.</a:t>
            </a:r>
          </a:p>
          <a:p>
            <a:pPr>
              <a:spcBef>
                <a:spcPts val="0"/>
              </a:spcBef>
              <a:spcAft>
                <a:spcPts val="800"/>
              </a:spcAft>
            </a:pPr>
            <a:r>
              <a:rPr sz="1500">
                <a:solidFill>
                  <a:srgbClr val="202020"/>
                </a:solidFill>
                <a:latin typeface="Arial"/>
              </a:rPr>
              <a:t>•  </a:t>
            </a:r>
            <a:r>
              <a:rPr sz="1500" b="1">
                <a:solidFill>
                  <a:srgbClr val="202020"/>
                </a:solidFill>
                <a:latin typeface="Arial"/>
              </a:rPr>
              <a:t>5  Approve — </a:t>
            </a:r>
            <a:r>
              <a:rPr sz="1500" b="0">
                <a:solidFill>
                  <a:srgbClr val="202020"/>
                </a:solidFill>
                <a:latin typeface="Arial"/>
              </a:rPr>
              <a:t>a MOCK order preview. No order is sent.</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104" name="Picture 103" descr="06-why.png"/>
          <p:cNvPicPr>
            <a:picLocks noChangeAspect="1"/>
          </p:cNvPicPr>
          <p:nvPr/>
        </p:nvPicPr>
        <p:blipFill>
          <a:blip r:embed="rId5"/>
          <a:stretch>
            <a:fillRect/>
          </a:stretch>
        </p:blipFill>
        <p:spPr>
          <a:xfrm>
            <a:off x="502920" y="1371600"/>
            <a:ext cx="2503236" cy="3383280"/>
          </a:xfrm>
          <a:prstGeom prst="rect">
            <a:avLst/>
          </a:prstGeom>
        </p:spPr>
      </p:pic>
      <p:sp>
        <p:nvSpPr>
          <p:cNvPr id="105" name="TextBox 104"/>
          <p:cNvSpPr txBox="1"/>
          <p:nvPr/>
        </p:nvSpPr>
        <p:spPr>
          <a:xfrm>
            <a:off x="3417636" y="1737360"/>
            <a:ext cx="5360603" cy="2743200"/>
          </a:xfrm>
          <a:prstGeom prst="rect">
            <a:avLst/>
          </a:prstGeom>
          <a:noFill/>
        </p:spPr>
        <p:txBody>
          <a:bodyPr wrap="square" anchor="t">
            <a:spAutoFit/>
          </a:bodyPr>
          <a:lstStyle/>
          <a:p>
            <a:pPr>
              <a:spcBef>
                <a:spcPts val="0"/>
              </a:spcBef>
              <a:spcAft>
                <a:spcPts val="800"/>
              </a:spcAft>
            </a:pPr>
            <a:r>
              <a:rPr sz="1400" b="0">
                <a:solidFill>
                  <a:srgbClr val="202020"/>
                </a:solidFill>
                <a:latin typeface="Arial"/>
              </a:rPr>
              <a:t>The deployed guest UI is the working prototype. Shown: the </a:t>
            </a:r>
            <a:r>
              <a:rPr sz="1400" b="1">
                <a:solidFill>
                  <a:srgbClr val="202020"/>
                </a:solidFill>
                <a:latin typeface="Arial"/>
              </a:rPr>
              <a:t>Why</a:t>
            </a:r>
            <a:r>
              <a:rPr sz="1400" b="0">
                <a:solidFill>
                  <a:srgbClr val="202020"/>
                </a:solidFill>
                <a:latin typeface="Arial"/>
              </a:rPr>
              <a:t> step, where the ADK agent answers the shopper’s question in natural language and shows every tool call it made (plan_day, explain_plan_numbers). Every number is checked against the engine before it is displayed.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Picture 111" descr="arch.png"/>
          <p:cNvPicPr>
            <a:picLocks noChangeAspect="1"/>
          </p:cNvPicPr>
          <p:nvPr/>
        </p:nvPicPr>
        <p:blipFill>
          <a:blip r:embed="rId5"/>
          <a:stretch>
            <a:fillRect/>
          </a:stretch>
        </p:blipFill>
        <p:spPr>
          <a:xfrm>
            <a:off x="1285694" y="1325880"/>
            <a:ext cx="6572610" cy="2743200"/>
          </a:xfrm>
          <a:prstGeom prst="rect">
            <a:avLst/>
          </a:prstGeom>
        </p:spPr>
      </p:pic>
      <p:sp>
        <p:nvSpPr>
          <p:cNvPr id="113" name="TextBox 112"/>
          <p:cNvSpPr txBox="1"/>
          <p:nvPr/>
        </p:nvSpPr>
        <p:spPr>
          <a:xfrm>
            <a:off x="457200" y="4178808"/>
            <a:ext cx="8229600" cy="667511"/>
          </a:xfrm>
          <a:prstGeom prst="rect">
            <a:avLst/>
          </a:prstGeom>
          <a:noFill/>
        </p:spPr>
        <p:txBody>
          <a:bodyPr wrap="square" anchor="t">
            <a:spAutoFit/>
          </a:bodyPr>
          <a:lstStyle/>
          <a:p>
            <a:pPr>
              <a:spcBef>
                <a:spcPts val="0"/>
              </a:spcBef>
              <a:spcAft>
                <a:spcPts val="400"/>
              </a:spcAft>
            </a:pPr>
            <a:r>
              <a:rPr sz="1200" b="0">
                <a:solidFill>
                  <a:srgbClr val="202020"/>
                </a:solidFill>
                <a:latin typeface="Arial"/>
              </a:rPr>
              <a:t>Cloud Run (FastAPI, scale-to-zero) hosts the guest UI, the one ADK agent, and the OR-Tools engine in a single container. Gemini (gemini-3.8-flash on the Agent Platform) reads receipts and offers and explains plans. Secret Manager holds the model id; the runtime uses keyless Application Default Credentials. Data is packaged fixtures.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extBox 119"/>
          <p:cNvSpPr txBox="1"/>
          <p:nvPr/>
        </p:nvSpPr>
        <p:spPr>
          <a:xfrm>
            <a:off x="457200" y="1325880"/>
            <a:ext cx="8229600" cy="3474720"/>
          </a:xfrm>
          <a:prstGeom prst="rect">
            <a:avLst/>
          </a:prstGeom>
          <a:noFill/>
        </p:spPr>
        <p:txBody>
          <a:bodyPr wrap="square" anchor="t">
            <a:spAutoFit/>
          </a:bodyPr>
          <a:lstStyle/>
          <a:p>
            <a:pPr>
              <a:spcBef>
                <a:spcPts val="0"/>
              </a:spcBef>
              <a:spcAft>
                <a:spcPts val="900"/>
              </a:spcAft>
            </a:pPr>
            <a:r>
              <a:rPr sz="1500">
                <a:solidFill>
                  <a:srgbClr val="202020"/>
                </a:solidFill>
                <a:latin typeface="Arial"/>
              </a:rPr>
              <a:t>•  </a:t>
            </a:r>
            <a:r>
              <a:rPr sz="1500" b="1">
                <a:solidFill>
                  <a:srgbClr val="202020"/>
                </a:solidFill>
                <a:latin typeface="Arial"/>
              </a:rPr>
              <a:t>Google Cloud: </a:t>
            </a:r>
            <a:r>
              <a:rPr sz="1500" b="0">
                <a:solidFill>
                  <a:srgbClr val="202020"/>
                </a:solidFill>
                <a:latin typeface="Arial"/>
              </a:rPr>
              <a:t>Cloud Run (asia-southeast1, scale to zero), Gemini gemini-3.8-flash on the Gemini Enterprise Agent Platform, Secret Manager.</a:t>
            </a:r>
          </a:p>
          <a:p>
            <a:pPr>
              <a:spcBef>
                <a:spcPts val="0"/>
              </a:spcBef>
              <a:spcAft>
                <a:spcPts val="900"/>
              </a:spcAft>
            </a:pPr>
            <a:r>
              <a:rPr sz="1500">
                <a:solidFill>
                  <a:srgbClr val="202020"/>
                </a:solidFill>
                <a:latin typeface="Arial"/>
              </a:rPr>
              <a:t>•  </a:t>
            </a:r>
            <a:r>
              <a:rPr sz="1500" b="1">
                <a:solidFill>
                  <a:srgbClr val="202020"/>
                </a:solidFill>
                <a:latin typeface="Arial"/>
              </a:rPr>
              <a:t>GenAI &amp; agents: </a:t>
            </a:r>
            <a:r>
              <a:rPr sz="1500" b="0">
                <a:solidFill>
                  <a:srgbClr val="202020"/>
                </a:solidFill>
                <a:latin typeface="Arial"/>
              </a:rPr>
              <a:t>Agent Development Kit (google-adk 2.x) and google-genai.</a:t>
            </a:r>
          </a:p>
          <a:p>
            <a:pPr>
              <a:spcBef>
                <a:spcPts val="0"/>
              </a:spcBef>
              <a:spcAft>
                <a:spcPts val="900"/>
              </a:spcAft>
            </a:pPr>
            <a:r>
              <a:rPr sz="1500">
                <a:solidFill>
                  <a:srgbClr val="202020"/>
                </a:solidFill>
                <a:latin typeface="Arial"/>
              </a:rPr>
              <a:t>•  </a:t>
            </a:r>
            <a:r>
              <a:rPr sz="1500" b="1">
                <a:solidFill>
                  <a:srgbClr val="202020"/>
                </a:solidFill>
                <a:latin typeface="Arial"/>
              </a:rPr>
              <a:t>Optimization: </a:t>
            </a:r>
            <a:r>
              <a:rPr sz="1500" b="0">
                <a:solidFill>
                  <a:srgbClr val="202020"/>
                </a:solidFill>
                <a:latin typeface="Arial"/>
              </a:rPr>
              <a:t>Google OR-Tools (CP-SAT) exact solver.</a:t>
            </a:r>
          </a:p>
          <a:p>
            <a:pPr>
              <a:spcBef>
                <a:spcPts val="0"/>
              </a:spcBef>
              <a:spcAft>
                <a:spcPts val="900"/>
              </a:spcAft>
            </a:pPr>
            <a:r>
              <a:rPr sz="1500">
                <a:solidFill>
                  <a:srgbClr val="202020"/>
                </a:solidFill>
                <a:latin typeface="Arial"/>
              </a:rPr>
              <a:t>•  </a:t>
            </a:r>
            <a:r>
              <a:rPr sz="1500" b="1">
                <a:solidFill>
                  <a:srgbClr val="202020"/>
                </a:solidFill>
                <a:latin typeface="Arial"/>
              </a:rPr>
              <a:t>Application: </a:t>
            </a:r>
            <a:r>
              <a:rPr sz="1500" b="0">
                <a:solidFill>
                  <a:srgbClr val="202020"/>
                </a:solidFill>
                <a:latin typeface="Arial"/>
              </a:rPr>
              <a:t>Python 3.12, FastAPI, uvicorn; server-rendered HTML with a small vanilla JS/CSS frontend; httpx.</a:t>
            </a:r>
          </a:p>
          <a:p>
            <a:pPr>
              <a:spcBef>
                <a:spcPts val="0"/>
              </a:spcBef>
              <a:spcAft>
                <a:spcPts val="900"/>
              </a:spcAft>
            </a:pPr>
            <a:r>
              <a:rPr sz="1500">
                <a:solidFill>
                  <a:srgbClr val="202020"/>
                </a:solidFill>
                <a:latin typeface="Arial"/>
              </a:rPr>
              <a:t>•  </a:t>
            </a:r>
            <a:r>
              <a:rPr sz="1500" b="1">
                <a:solidFill>
                  <a:srgbClr val="202020"/>
                </a:solidFill>
                <a:latin typeface="Arial"/>
              </a:rPr>
              <a:t>Build &amp; test: </a:t>
            </a:r>
            <a:r>
              <a:rPr sz="1500" b="0">
                <a:solidFill>
                  <a:srgbClr val="202020"/>
                </a:solidFill>
                <a:latin typeface="Arial"/>
              </a:rPr>
              <a:t>Docker (python:3.12-slim, non-root); pytest — 120 passing.</a:t>
            </a:r>
          </a:p>
          <a:p>
            <a:pPr>
              <a:spcBef>
                <a:spcPts val="0"/>
              </a:spcBef>
              <a:spcAft>
                <a:spcPts val="900"/>
              </a:spcAft>
            </a:pPr>
            <a:r>
              <a:rPr sz="1500">
                <a:solidFill>
                  <a:srgbClr val="202020"/>
                </a:solidFill>
                <a:latin typeface="Arial"/>
              </a:rPr>
              <a:t>•  </a:t>
            </a:r>
            <a:r>
              <a:rPr sz="1500" b="1">
                <a:solidFill>
                  <a:srgbClr val="202020"/>
                </a:solidFill>
                <a:latin typeface="Arial"/>
              </a:rPr>
              <a:t>Not used in the prototype: </a:t>
            </a:r>
            <a:r>
              <a:rPr sz="1500" b="0">
                <a:solidFill>
                  <a:srgbClr val="202020"/>
                </a:solidFill>
                <a:latin typeface="Arial"/>
              </a:rPr>
              <a:t>Firebase and Firestore — data is committed fixtures; Firestore is the documented path for production scale.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457200" y="1325880"/>
            <a:ext cx="8229600" cy="3474720"/>
          </a:xfrm>
          <a:prstGeom prst="rect">
            <a:avLst/>
          </a:prstGeom>
          <a:noFill/>
        </p:spPr>
        <p:txBody>
          <a:bodyPr wrap="square" anchor="t">
            <a:spAutoFit/>
          </a:bodyPr>
          <a:lstStyle/>
          <a:p>
            <a:pPr>
              <a:spcBef>
                <a:spcPts val="0"/>
              </a:spcBef>
              <a:spcAft>
                <a:spcPts val="1100"/>
              </a:spcAft>
            </a:pPr>
            <a:r>
              <a:rPr sz="1600">
                <a:solidFill>
                  <a:srgbClr val="202020"/>
                </a:solidFill>
                <a:latin typeface="Arial"/>
              </a:rPr>
              <a:t>•  </a:t>
            </a:r>
            <a:r>
              <a:rPr sz="1600" b="0">
                <a:solidFill>
                  <a:srgbClr val="202020"/>
                </a:solidFill>
                <a:latin typeface="Arial"/>
              </a:rPr>
              <a:t>Cloud Run scales to zero (min instances 0, max 3): no paid warm instances.</a:t>
            </a:r>
          </a:p>
          <a:p>
            <a:pPr>
              <a:spcBef>
                <a:spcPts val="0"/>
              </a:spcBef>
              <a:spcAft>
                <a:spcPts val="1100"/>
              </a:spcAft>
            </a:pPr>
            <a:r>
              <a:rPr sz="1600">
                <a:solidFill>
                  <a:srgbClr val="202020"/>
                </a:solidFill>
                <a:latin typeface="Arial"/>
              </a:rPr>
              <a:t>•  </a:t>
            </a:r>
            <a:r>
              <a:rPr sz="1600" b="0">
                <a:solidFill>
                  <a:srgbClr val="202020"/>
                </a:solidFill>
                <a:latin typeface="Arial"/>
              </a:rPr>
              <a:t>Gemini Flash traffic is judge-only during evaluation.</a:t>
            </a:r>
          </a:p>
          <a:p>
            <a:pPr>
              <a:spcBef>
                <a:spcPts val="0"/>
              </a:spcBef>
              <a:spcAft>
                <a:spcPts val="1100"/>
              </a:spcAft>
            </a:pPr>
            <a:r>
              <a:rPr sz="1600">
                <a:solidFill>
                  <a:srgbClr val="202020"/>
                </a:solidFill>
                <a:latin typeface="Arial"/>
              </a:rPr>
              <a:t>•  </a:t>
            </a:r>
            <a:r>
              <a:rPr sz="1600" b="0">
                <a:solidFill>
                  <a:srgbClr val="202020"/>
                </a:solidFill>
                <a:latin typeface="Arial"/>
              </a:rPr>
              <a:t>No managed database cost — the prototype runs on committed fixtures.</a:t>
            </a:r>
          </a:p>
          <a:p>
            <a:pPr>
              <a:spcBef>
                <a:spcPts val="0"/>
              </a:spcBef>
              <a:spcAft>
                <a:spcPts val="1100"/>
              </a:spcAft>
            </a:pPr>
            <a:r>
              <a:rPr sz="1600">
                <a:solidFill>
                  <a:srgbClr val="202020"/>
                </a:solidFill>
                <a:latin typeface="Arial"/>
              </a:rPr>
              <a:t>•  </a:t>
            </a:r>
            <a:r>
              <a:rPr sz="1600" b="0">
                <a:solidFill>
                  <a:srgbClr val="202020"/>
                </a:solidFill>
                <a:latin typeface="Arial"/>
              </a:rPr>
              <a:t>Estimated spend over the evaluation window: single-digit to low-tens of USD, typically covered by trial credits.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01-pantry.png"/>
          <p:cNvPicPr>
            <a:picLocks noChangeAspect="1"/>
          </p:cNvPicPr>
          <p:nvPr/>
        </p:nvPicPr>
        <p:blipFill>
          <a:blip r:embed="rId5"/>
          <a:stretch>
            <a:fillRect/>
          </a:stretch>
        </p:blipFill>
        <p:spPr>
          <a:xfrm>
            <a:off x="868307" y="1325880"/>
            <a:ext cx="1857375" cy="2971800"/>
          </a:xfrm>
          <a:prstGeom prst="rect">
            <a:avLst/>
          </a:prstGeom>
        </p:spPr>
      </p:pic>
      <p:pic>
        <p:nvPicPr>
          <p:cNvPr id="137" name="Picture 136" descr="05-plan.png"/>
          <p:cNvPicPr>
            <a:picLocks noChangeAspect="1"/>
          </p:cNvPicPr>
          <p:nvPr/>
        </p:nvPicPr>
        <p:blipFill>
          <a:blip r:embed="rId6"/>
          <a:stretch>
            <a:fillRect/>
          </a:stretch>
        </p:blipFill>
        <p:spPr>
          <a:xfrm>
            <a:off x="3045722" y="1325880"/>
            <a:ext cx="2337986" cy="2971800"/>
          </a:xfrm>
          <a:prstGeom prst="rect">
            <a:avLst/>
          </a:prstGeom>
        </p:spPr>
      </p:pic>
      <p:pic>
        <p:nvPicPr>
          <p:cNvPr id="138" name="Picture 137" descr="04-offer-refuses.png"/>
          <p:cNvPicPr>
            <a:picLocks noChangeAspect="1"/>
          </p:cNvPicPr>
          <p:nvPr/>
        </p:nvPicPr>
        <p:blipFill>
          <a:blip r:embed="rId7"/>
          <a:stretch>
            <a:fillRect/>
          </a:stretch>
        </p:blipFill>
        <p:spPr>
          <a:xfrm>
            <a:off x="5703749" y="1325880"/>
            <a:ext cx="2571943" cy="2971800"/>
          </a:xfrm>
          <a:prstGeom prst="rect">
            <a:avLst/>
          </a:prstGeom>
        </p:spPr>
      </p:pic>
      <p:sp>
        <p:nvSpPr>
          <p:cNvPr id="139" name="TextBox 138"/>
          <p:cNvSpPr txBox="1"/>
          <p:nvPr/>
        </p:nvSpPr>
        <p:spPr>
          <a:xfrm>
            <a:off x="457200" y="4434840"/>
            <a:ext cx="8229600" cy="640080"/>
          </a:xfrm>
          <a:prstGeom prst="rect">
            <a:avLst/>
          </a:prstGeom>
          <a:noFill/>
        </p:spPr>
        <p:txBody>
          <a:bodyPr wrap="square" anchor="t">
            <a:spAutoFit/>
          </a:bodyPr>
          <a:lstStyle/>
          <a:p>
            <a:pPr>
              <a:spcBef>
                <a:spcPts val="0"/>
              </a:spcBef>
              <a:spcAft>
                <a:spcPts val="0"/>
              </a:spcAft>
            </a:pPr>
            <a:r>
              <a:rPr sz="1100" b="0">
                <a:solidFill>
                  <a:srgbClr val="202020"/>
                </a:solidFill>
                <a:latin typeface="Arial"/>
              </a:rPr>
              <a:t>Live screens: the receipt-driven pantry; the optimized plan line by line; and the honest case where a card offer’s minimum is not met and it pays LKR 0. Sample data — savings are simulated.</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457200" y="1325880"/>
            <a:ext cx="8229600" cy="3474720"/>
          </a:xfrm>
          <a:prstGeom prst="rect">
            <a:avLst/>
          </a:prstGeom>
          <a:noFill/>
        </p:spPr>
        <p:txBody>
          <a:bodyPr wrap="square" anchor="t">
            <a:spAutoFit/>
          </a:bodyPr>
          <a:lstStyle/>
          <a:p>
            <a:pPr>
              <a:spcBef>
                <a:spcPts val="0"/>
              </a:spcBef>
              <a:spcAft>
                <a:spcPts val="900"/>
              </a:spcAft>
            </a:pPr>
            <a:r>
              <a:rPr sz="1400">
                <a:solidFill>
                  <a:srgbClr val="202020"/>
                </a:solidFill>
                <a:latin typeface="Arial"/>
              </a:rPr>
              <a:t>•  </a:t>
            </a:r>
            <a:r>
              <a:rPr sz="1400" b="0">
                <a:solidFill>
                  <a:srgbClr val="202020"/>
                </a:solidFill>
                <a:latin typeface="Arial"/>
              </a:rPr>
              <a:t>120 automated tests pass — deterministic pricing, offer eligibility, and guardrails.</a:t>
            </a:r>
          </a:p>
          <a:p>
            <a:pPr>
              <a:spcBef>
                <a:spcPts val="0"/>
              </a:spcBef>
              <a:spcAft>
                <a:spcPts val="900"/>
              </a:spcAft>
            </a:pPr>
            <a:r>
              <a:rPr sz="1400">
                <a:solidFill>
                  <a:srgbClr val="202020"/>
                </a:solidFill>
                <a:latin typeface="Arial"/>
              </a:rPr>
              <a:t>•  </a:t>
            </a:r>
            <a:r>
              <a:rPr sz="1400" b="0">
                <a:solidFill>
                  <a:srgbClr val="202020"/>
                </a:solidFill>
                <a:latin typeface="Arial"/>
              </a:rPr>
              <a:t>Live Gemini (18 Oct 2026): the Why answer about 30 seconds; reading a bank offer about 7 seconds.</a:t>
            </a:r>
          </a:p>
          <a:p>
            <a:pPr>
              <a:spcBef>
                <a:spcPts val="0"/>
              </a:spcBef>
              <a:spcAft>
                <a:spcPts val="900"/>
              </a:spcAft>
            </a:pPr>
            <a:r>
              <a:rPr sz="1400">
                <a:solidFill>
                  <a:srgbClr val="202020"/>
                </a:solidFill>
                <a:latin typeface="Arial"/>
              </a:rPr>
              <a:t>•  </a:t>
            </a:r>
            <a:r>
              <a:rPr sz="1400" b="0">
                <a:solidFill>
                  <a:srgbClr val="202020"/>
                </a:solidFill>
                <a:latin typeface="Arial"/>
              </a:rPr>
              <a:t>Worked example (simulated): a default basket costs LKR 4,604 across Keells and Cargills — LKR 1,328 below buying everything at Keells shelf price; the two-store split beats the best single store by LKR 63 (at a LKR 320 trip cost, one store wins).</a:t>
            </a:r>
          </a:p>
          <a:p>
            <a:pPr>
              <a:spcBef>
                <a:spcPts val="0"/>
              </a:spcBef>
              <a:spcAft>
                <a:spcPts val="900"/>
              </a:spcAft>
            </a:pPr>
            <a:r>
              <a:rPr sz="1400">
                <a:solidFill>
                  <a:srgbClr val="202020"/>
                </a:solidFill>
                <a:latin typeface="Arial"/>
              </a:rPr>
              <a:t>•  </a:t>
            </a:r>
            <a:r>
              <a:rPr sz="1400" b="0">
                <a:solidFill>
                  <a:srgbClr val="202020"/>
                </a:solidFill>
                <a:latin typeface="Arial"/>
              </a:rPr>
              <a:t>Offer Reality Check: a “10% off Saturday” headline that suggests LKR 593 pays LKR 0 — the basket is LKR 2,475 under the LKR 8,000 minimum.</a:t>
            </a:r>
          </a:p>
          <a:p>
            <a:pPr>
              <a:spcBef>
                <a:spcPts val="0"/>
              </a:spcBef>
              <a:spcAft>
                <a:spcPts val="900"/>
              </a:spcAft>
            </a:pPr>
            <a:r>
              <a:rPr sz="1400">
                <a:solidFill>
                  <a:srgbClr val="202020"/>
                </a:solidFill>
                <a:latin typeface="Arial"/>
              </a:rPr>
              <a:t>•  </a:t>
            </a:r>
            <a:r>
              <a:rPr sz="1400" b="0">
                <a:solidFill>
                  <a:srgbClr val="202020"/>
                </a:solidFill>
                <a:latin typeface="Arial"/>
              </a:rPr>
              <a:t>All savings are simulated on labeled sample data.</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TextBox 151"/>
          <p:cNvSpPr txBox="1"/>
          <p:nvPr/>
        </p:nvSpPr>
        <p:spPr>
          <a:xfrm>
            <a:off x="457200" y="1325880"/>
            <a:ext cx="8229600" cy="3474720"/>
          </a:xfrm>
          <a:prstGeom prst="rect">
            <a:avLst/>
          </a:prstGeom>
          <a:noFill/>
        </p:spPr>
        <p:txBody>
          <a:bodyPr wrap="square" anchor="t">
            <a:spAutoFit/>
          </a:bodyPr>
          <a:lstStyle/>
          <a:p>
            <a:pPr>
              <a:spcBef>
                <a:spcPts val="0"/>
              </a:spcBef>
              <a:spcAft>
                <a:spcPts val="1100"/>
              </a:spcAft>
            </a:pPr>
            <a:r>
              <a:rPr sz="1500">
                <a:solidFill>
                  <a:srgbClr val="202020"/>
                </a:solidFill>
                <a:latin typeface="Arial"/>
              </a:rPr>
              <a:t>•  </a:t>
            </a:r>
            <a:r>
              <a:rPr sz="1500" b="1">
                <a:solidFill>
                  <a:srgbClr val="202020"/>
                </a:solidFill>
                <a:latin typeface="Arial"/>
              </a:rPr>
              <a:t>Roadmap: </a:t>
            </a:r>
            <a:r>
              <a:rPr sz="1500" b="0">
                <a:solidFill>
                  <a:srgbClr val="202020"/>
                </a:solidFill>
                <a:latin typeface="Arial"/>
              </a:rPr>
              <a:t>a Colombo household pilot, then authorized retailer/issuer data feeds (versioned prices, real card terms), then adapting the rules to other JAPAC markets (currencies, rounding, local card offers).</a:t>
            </a:r>
          </a:p>
          <a:p>
            <a:pPr>
              <a:spcBef>
                <a:spcPts val="0"/>
              </a:spcBef>
              <a:spcAft>
                <a:spcPts val="1100"/>
              </a:spcAft>
            </a:pPr>
            <a:r>
              <a:rPr sz="1500">
                <a:solidFill>
                  <a:srgbClr val="202020"/>
                </a:solidFill>
                <a:latin typeface="Arial"/>
              </a:rPr>
              <a:t>•  </a:t>
            </a:r>
            <a:r>
              <a:rPr sz="1500" b="1">
                <a:solidFill>
                  <a:srgbClr val="202020"/>
                </a:solidFill>
                <a:latin typeface="Arial"/>
              </a:rPr>
              <a:t>Business model: </a:t>
            </a:r>
            <a:r>
              <a:rPr sz="1500" b="0">
                <a:solidFill>
                  <a:srgbClr val="202020"/>
                </a:solidFill>
                <a:latin typeface="Arial"/>
              </a:rPr>
              <a:t>a free household tool; later, issuers or retailers pay for consented, disclosed referrals — never selling the shopper’s data.</a:t>
            </a:r>
          </a:p>
          <a:p>
            <a:pPr>
              <a:spcBef>
                <a:spcPts val="0"/>
              </a:spcBef>
              <a:spcAft>
                <a:spcPts val="1100"/>
              </a:spcAft>
            </a:pPr>
            <a:r>
              <a:rPr sz="1500">
                <a:solidFill>
                  <a:srgbClr val="202020"/>
                </a:solidFill>
                <a:latin typeface="Arial"/>
              </a:rPr>
              <a:t>•  </a:t>
            </a:r>
            <a:r>
              <a:rPr sz="1500" b="1">
                <a:solidFill>
                  <a:srgbClr val="202020"/>
                </a:solidFill>
                <a:latin typeface="Arial"/>
              </a:rPr>
              <a:t>Beyond the prototype: </a:t>
            </a:r>
            <a:r>
              <a:rPr sz="1500" b="0">
                <a:solidFill>
                  <a:srgbClr val="202020"/>
                </a:solidFill>
                <a:latin typeface="Arial"/>
              </a:rPr>
              <a:t>live prices, real orders and payments, Firestore persistence, and partner checkout are all post-Cup.</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r>
              <a:rPr sz="1600">
                <a:solidFill>
                  <a:srgbClr val="202020"/>
                </a:solidFill>
                <a:latin typeface="Google Sans Flex Medium"/>
              </a:rPr>
              <a:t> https://github.com/nyogendran/savvy-cart-ai</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r>
              <a:rPr sz="1600">
                <a:solidFill>
                  <a:srgbClr val="202020"/>
                </a:solidFill>
                <a:latin typeface="Google Sans Flex Medium"/>
              </a:rPr>
              <a:t> (to be added before submission)</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r>
              <a:rPr sz="1600">
                <a:solidFill>
                  <a:srgbClr val="202020"/>
                </a:solidFill>
                <a:latin typeface="Google Sans Flex Medium"/>
              </a:rPr>
              <a:t> https://savvy-cart-890425261137.asia-southeast1.run.app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